
<file path=[Content_Types].xml><?xml version="1.0" encoding="utf-8"?>
<Types xmlns="http://schemas.openxmlformats.org/package/2006/content-types">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embeddedFontLst>
    <p:embeddedFont>
      <p:font typeface="Clash Display Medium" pitchFamily="2" charset="0"/>
      <p:regular r:id="rId10"/>
    </p:embeddedFont>
    <p:embeddedFont>
      <p:font typeface="Clash Display Semibold" pitchFamily="2" charset="0"/>
      <p:bold r:id="rId11"/>
    </p:embeddedFont>
    <p:embeddedFont>
      <p:font typeface="JetBrains Mono" panose="02000009000000000000" pitchFamily="49" charset="0"/>
      <p:regular r:id="rId12"/>
    </p:embeddedFont>
    <p:embeddedFont>
      <p:font typeface="Satoshi" pitchFamily="2" charset="0"/>
      <p:regular r:id="rId13"/>
      <p:bold r:id="rId14"/>
    </p:embeddedFont>
    <p:embeddedFont>
      <p:font typeface="Satoshi Medium" pitchFamily="2" charset="0"/>
      <p:regular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169752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promise: every cancelled appointment, filled again. The dial is the product's own view of a day: one ring per staff member, one arc per appointment; the amber arc is a cancelled slot waiting to be refilled. Introduce Team C29: B.Tech, led by Vedanth (team lead), with Dhruv, Parth K. and Chirag; MBA: Parth S. and Tushar.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Refill does one narrow job: when a booking is cancelled, it fills the freed slot with someone who fits and has opted in, and it never overbooks. Walk the five Ws on the left, then the four Ps on the right.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personas, not three, because Refill works for any appointment business, not only salons. P1 is the business side: the owner who pays and the front desk who uses it every day. P2 is the client side: the opted-in customer who receives offers. Keep the psychographic insight, STP and beachhead as the core of the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features that are built and live today, each with its proof. 1) Who-fits matching: the desk sees who fits and who is skipped, with a reason for every skip (in the demo, 6 fit and 11 are skipped). 2) Consent gate: only clients who said yes are ever messaged, checked twice; STOP withdraws everything. 3) One slot, one booking: decided in the database; 8 simultaneous taps give exactly 1 booking. 4) Offer rules: 15-minute hold, max 3 offers a day, late flag, undo; the owner controls the limits. 5) Staff out and rescheduling. The three case checks all pass live on the Proof page.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Onboarding is done inside the app: create an account, set up the business (services, staff, hours), share three links (front desk, staff, client booking page with QR), and set the rules. A day: the desk opens Today on the Day Dial; a client cancels and the gap turns amber; Refill shows who fits and who is skipped and why; one tap sends offers; the first client to tap Book gets it; the slot turns lime and the owner sees the money recovered. If a staff member is out, their clients are flagged and moved by the desk. Every step is logged and exportable.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₹699 is an anchor for owner interviews, not a list price; we test ₹499, ₹699 and ₹999, and only a paid-pilot decision counts as validation. Unit economics in plain terms: the cost to serve one location is small (hosting and messages), so contribution per location is high, like most software; acquisition is cheap early because the founders demo in person; and the business breaks even at a few hundred active locations. The value formula shows why an owner pays: about two recovered bookings a month cover the subscription.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GTM: four weeks, one gate each: prove the three rules, test with five consenting role-players, capture one owner's baseline, then a supervised one-calendar pilot.
FINANCIAL PROJECTIONS (illustrative; full reasoning in the presenter brief):
• Revenue = average active locations × ₹699 × 12. Y1 50 × 699 × 12 = ₹4.19 L; Y2 250 → ₹20.97 L; Y3 800 → ₹67.10 L.
• Average locations are an average across the year, net of churn. Y1 ≈ 8 net new locations a month (founder-led demos in one Hyderabad cluster, ending near 100); Y2 adds a second cluster and referral partners (≈ 25 a month); Y3 is channel-led (salon software consultants, associations).
• Market room: published estimates put India's beauty-salon market around USD 12.6 bn (2025) with roughly 3 lakh players and 13,000+ organised outlets. 800 locations is under 0.3% of all players, or about 6% of organised outlets.
• Variable COGS ₹100 per location per month covers its share of hosting, client messages (about 90 a month at roughly ₹0.12–0.25 each) and payment collection (about 2%). Gross margin ≈ 86%, in line with software.
• OpEx: Y1 ₹15 L for a lean team (founders on stipends, part-time engineering, demos, local marketing, compliance like DLT/GST); Y2 ₹27 L adds onboarding/support and sales; Y3 ₹49 L adds a second city team.
• Break-even: each location contributes ₹599 a month (₹7,188 a year); ₹49 L of Y3 OpEx needs about 682 average locations, so Y3 at 800 turns EBITDA positive (+₹8.50 L).
• Why an owner pays: an owner-reported industry survey (Fresha) found hair and beauty businesses lose about 7% of monthly revenue to cancellations; recovering two bookings a month covers ₹699.
• Biggest sensitivities: price (₹499 keeps Y3 negative at about -₹10.7 L; ₹999 makes it about +₹37 L) and churn (SMB software commonly loses 3–7% of customers a month; onboarding is the lever).
RISK MITIGATION: the three star features and how we keep them safe: wrong setup data (database re-checks fit twice, reasons shown); bookings made outside Refill (desk records all, lock + unique index, daily export); consent withdrawn elsewhere (client controls it, STOP clears all offers, logged with time and source).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Users\dhruv\AppData\Local\Temp\claude\Z--claude\2a3ee505-7da2-4081-9e72-585b4758f7b1\scratchpad\deck\art\DeckMark.png"/>
          <p:cNvPicPr>
            <a:picLocks noChangeAspect="1"/>
          </p:cNvPicPr>
          <p:nvPr/>
        </p:nvPicPr>
        <p:blipFill>
          <a:blip r:embed="rId3"/>
          <a:stretch>
            <a:fillRect/>
          </a:stretch>
        </p:blipFill>
        <p:spPr>
          <a:xfrm>
            <a:off x="8165592" y="246888"/>
            <a:ext cx="457200" cy="142646"/>
          </a:xfrm>
          <a:prstGeom prst="rect">
            <a:avLst/>
          </a:prstGeom>
        </p:spPr>
      </p:pic>
      <p:sp>
        <p:nvSpPr>
          <p:cNvPr id="25" name="Slide Number Placeholder 0"/>
          <p:cNvSpPr>
            <a:spLocks noGrp="1"/>
          </p:cNvSpPr>
          <p:nvPr>
            <p:ph type="sldNum" sz="quarter" idx="4294967295"/>
          </p:nvPr>
        </p:nvSpPr>
        <p:spPr>
          <a:xfrm>
            <a:off x="8577072" y="182880"/>
            <a:ext cx="274320" cy="274320"/>
          </a:xfrm>
          <a:prstGeom prst="rect">
            <a:avLst/>
          </a:prstGeom>
          <a:extLst>
            <a:ext uri="{C572A759-6A51-4108-AA02-DFA0A04FC94B}">
              <ma14:wrappingTextBoxFlag xmlns:ma14="http://schemas.microsoft.com/office/mac/drawingml/2011/main" xmlns="" val="0"/>
            </a:ext>
          </a:extLst>
        </p:spPr>
        <p:txBody>
          <a:bodyPr/>
          <a:lstStyle>
            <a:lvl1pPr>
              <a:defRPr sz="700">
                <a:solidFill>
                  <a:srgbClr val="76736C"/>
                </a:solidFill>
                <a:latin typeface="JetBrains Mono"/>
                <a:ea typeface="JetBrains Mono"/>
                <a:cs typeface="JetBrains Mono"/>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577072" y="182880"/>
            <a:ext cx="274320" cy="274320"/>
          </a:xfrm>
          <a:prstGeom prst="rect">
            <a:avLst/>
          </a:prstGeom>
          <a:extLst>
            <a:ext uri="{C572A759-6A51-4108-AA02-DFA0A04FC94B}">
              <ma14:wrappingTextBoxFlag xmlns:ma14="http://schemas.microsoft.com/office/mac/drawingml/2011/main" xmlns="" val="0"/>
            </a:ext>
          </a:extLst>
        </p:spPr>
        <p:txBody>
          <a:bodyPr/>
          <a:lstStyle>
            <a:lvl1pPr>
              <a:defRPr sz="700">
                <a:solidFill>
                  <a:srgbClr val="76736C"/>
                </a:solidFill>
                <a:latin typeface="JetBrains Mono"/>
                <a:ea typeface="JetBrains Mono"/>
                <a:cs typeface="JetBrains Mono"/>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dhruv\AppData\Local\Temp\claude\Z--claude\2a3ee505-7da2-4081-9e72-585b4758f7b1\scratchpad\deck\art\DeckMark.png"/>
          <p:cNvPicPr>
            <a:picLocks noChangeAspect="1"/>
          </p:cNvPicPr>
          <p:nvPr/>
        </p:nvPicPr>
        <p:blipFill>
          <a:blip r:embed="rId3"/>
          <a:stretch>
            <a:fillRect/>
          </a:stretch>
        </p:blipFill>
        <p:spPr>
          <a:xfrm>
            <a:off x="411480" y="384048"/>
            <a:ext cx="566928" cy="177394"/>
          </a:xfrm>
          <a:prstGeom prst="rect">
            <a:avLst/>
          </a:prstGeom>
        </p:spPr>
      </p:pic>
      <p:sp>
        <p:nvSpPr>
          <p:cNvPr id="3" name="Text 0"/>
          <p:cNvSpPr txBox="1"/>
          <p:nvPr/>
        </p:nvSpPr>
        <p:spPr>
          <a:xfrm>
            <a:off x="1051560" y="338328"/>
            <a:ext cx="1371600" cy="274320"/>
          </a:xfrm>
          <a:prstGeom prst="rect">
            <a:avLst/>
          </a:prstGeom>
          <a:noFill/>
          <a:ln/>
        </p:spPr>
        <p:txBody>
          <a:bodyPr wrap="square" lIns="0" tIns="0" rIns="0" bIns="0" rtlCol="0" anchor="ctr"/>
          <a:lstStyle/>
          <a:p>
            <a:pPr marL="0" indent="0">
              <a:buNone/>
            </a:pPr>
            <a:r>
              <a:rPr lang="en-US" sz="1400" dirty="0">
                <a:solidFill>
                  <a:srgbClr val="F4F1EA"/>
                </a:solidFill>
                <a:latin typeface="Clash Display Semibold" pitchFamily="34" charset="0"/>
                <a:ea typeface="Clash Display Semibold" pitchFamily="34" charset="-122"/>
                <a:cs typeface="Clash Display Semibold" pitchFamily="34" charset="-120"/>
              </a:rPr>
              <a:t>Refill</a:t>
            </a:r>
            <a:endParaRPr lang="en-US" sz="1400" dirty="0"/>
          </a:p>
        </p:txBody>
      </p:sp>
      <p:sp>
        <p:nvSpPr>
          <p:cNvPr id="4" name="Text 1"/>
          <p:cNvSpPr txBox="1"/>
          <p:nvPr/>
        </p:nvSpPr>
        <p:spPr>
          <a:xfrm>
            <a:off x="6035040" y="338328"/>
            <a:ext cx="2743200" cy="274320"/>
          </a:xfrm>
          <a:prstGeom prst="rect">
            <a:avLst/>
          </a:prstGeom>
          <a:noFill/>
          <a:ln/>
        </p:spPr>
        <p:txBody>
          <a:bodyPr wrap="square" lIns="0" tIns="0" rIns="0" bIns="0" rtlCol="0" anchor="ctr"/>
          <a:lstStyle/>
          <a:p>
            <a:pPr marL="0" indent="0" algn="r">
              <a:buNone/>
            </a:pPr>
            <a:r>
              <a:rPr lang="en-US" sz="750" dirty="0">
                <a:solidFill>
                  <a:srgbClr val="76736C"/>
                </a:solidFill>
                <a:latin typeface="JetBrains Mono" pitchFamily="34" charset="0"/>
                <a:ea typeface="JetBrains Mono" pitchFamily="34" charset="-122"/>
                <a:cs typeface="JetBrains Mono" pitchFamily="34" charset="-120"/>
              </a:rPr>
              <a:t>fillthechair.vercel.app</a:t>
            </a:r>
            <a:endParaRPr lang="en-US" sz="750" dirty="0"/>
          </a:p>
        </p:txBody>
      </p:sp>
      <p:sp>
        <p:nvSpPr>
          <p:cNvPr id="5" name="Text 2"/>
          <p:cNvSpPr txBox="1"/>
          <p:nvPr/>
        </p:nvSpPr>
        <p:spPr>
          <a:xfrm>
            <a:off x="411480" y="1115568"/>
            <a:ext cx="4572000" cy="182880"/>
          </a:xfrm>
          <a:prstGeom prst="rect">
            <a:avLst/>
          </a:prstGeom>
          <a:noFill/>
          <a:ln/>
        </p:spPr>
        <p:txBody>
          <a:bodyPr wrap="square" lIns="0" tIns="0" rIns="0" bIns="0" rtlCol="0" anchor="t"/>
          <a:lstStyle/>
          <a:p>
            <a:pPr marL="0" indent="0">
              <a:buNone/>
            </a:pPr>
            <a:r>
              <a:rPr lang="en-US" sz="750" kern="0" spc="110" dirty="0">
                <a:solidFill>
                  <a:srgbClr val="A9A59C"/>
                </a:solidFill>
                <a:latin typeface="JetBrains Mono" pitchFamily="34" charset="0"/>
                <a:ea typeface="JetBrains Mono" pitchFamily="34" charset="-122"/>
                <a:cs typeface="JetBrains Mono" pitchFamily="34" charset="-120"/>
              </a:rPr>
              <a:t>REFILL · APPOINTMENT RECOVERY DESK</a:t>
            </a:r>
            <a:endParaRPr lang="en-US" sz="750" dirty="0"/>
          </a:p>
        </p:txBody>
      </p:sp>
      <p:sp>
        <p:nvSpPr>
          <p:cNvPr id="6" name="Text 3"/>
          <p:cNvSpPr txBox="1"/>
          <p:nvPr/>
        </p:nvSpPr>
        <p:spPr>
          <a:xfrm>
            <a:off x="411480" y="1353312"/>
            <a:ext cx="4754880" cy="1572768"/>
          </a:xfrm>
          <a:prstGeom prst="rect">
            <a:avLst/>
          </a:prstGeom>
          <a:noFill/>
          <a:ln/>
        </p:spPr>
        <p:txBody>
          <a:bodyPr wrap="square" lIns="0" tIns="0" rIns="0" bIns="0" rtlCol="0" anchor="t"/>
          <a:lstStyle/>
          <a:p>
            <a:pPr marL="0" indent="0">
              <a:lnSpc>
                <a:spcPts val="3900"/>
              </a:lnSpc>
              <a:buNone/>
            </a:pPr>
            <a:r>
              <a:rPr lang="en-US" sz="3700" dirty="0">
                <a:solidFill>
                  <a:srgbClr val="F4F1EA"/>
                </a:solidFill>
                <a:latin typeface="Clash Display Semibold" pitchFamily="34" charset="0"/>
                <a:ea typeface="Clash Display Semibold" pitchFamily="34" charset="-122"/>
                <a:cs typeface="Clash Display Semibold" pitchFamily="34" charset="-120"/>
              </a:rPr>
              <a:t>Every cancelled</a:t>
            </a:r>
            <a:endParaRPr lang="en-US" sz="3700" dirty="0"/>
          </a:p>
          <a:p>
            <a:pPr marL="0" indent="0">
              <a:lnSpc>
                <a:spcPts val="3900"/>
              </a:lnSpc>
              <a:buNone/>
            </a:pPr>
            <a:r>
              <a:rPr lang="en-US" sz="3700" dirty="0">
                <a:solidFill>
                  <a:srgbClr val="F4F1EA"/>
                </a:solidFill>
                <a:latin typeface="Clash Display Semibold" pitchFamily="34" charset="0"/>
                <a:ea typeface="Clash Display Semibold" pitchFamily="34" charset="-122"/>
                <a:cs typeface="Clash Display Semibold" pitchFamily="34" charset="-120"/>
              </a:rPr>
              <a:t>appointment,</a:t>
            </a:r>
            <a:endParaRPr lang="en-US" sz="3700" dirty="0"/>
          </a:p>
          <a:p>
            <a:pPr marL="0" indent="0">
              <a:lnSpc>
                <a:spcPts val="3900"/>
              </a:lnSpc>
              <a:buNone/>
            </a:pPr>
            <a:r>
              <a:rPr lang="en-US" sz="3700" dirty="0">
                <a:solidFill>
                  <a:srgbClr val="C6F24E"/>
                </a:solidFill>
                <a:latin typeface="Clash Display Semibold" pitchFamily="34" charset="0"/>
                <a:ea typeface="Clash Display Semibold" pitchFamily="34" charset="-122"/>
                <a:cs typeface="Clash Display Semibold" pitchFamily="34" charset="-120"/>
              </a:rPr>
              <a:t>filled again.</a:t>
            </a:r>
            <a:endParaRPr lang="en-US" sz="3700" dirty="0"/>
          </a:p>
        </p:txBody>
      </p:sp>
      <p:sp>
        <p:nvSpPr>
          <p:cNvPr id="7" name="Text 4"/>
          <p:cNvSpPr txBox="1"/>
          <p:nvPr/>
        </p:nvSpPr>
        <p:spPr>
          <a:xfrm>
            <a:off x="411480" y="2990088"/>
            <a:ext cx="4297680" cy="502920"/>
          </a:xfrm>
          <a:prstGeom prst="rect">
            <a:avLst/>
          </a:prstGeom>
          <a:noFill/>
          <a:ln/>
        </p:spPr>
        <p:txBody>
          <a:bodyPr wrap="square" lIns="0" tIns="0" rIns="0" bIns="0" rtlCol="0" anchor="t"/>
          <a:lstStyle/>
          <a:p>
            <a:pPr marL="0" indent="0">
              <a:lnSpc>
                <a:spcPct val="115000"/>
              </a:lnSpc>
              <a:buNone/>
            </a:pPr>
            <a:r>
              <a:rPr lang="en-US" sz="1050" dirty="0">
                <a:solidFill>
                  <a:srgbClr val="A9A59C"/>
                </a:solidFill>
                <a:latin typeface="Satoshi" pitchFamily="34" charset="0"/>
                <a:ea typeface="Satoshi" pitchFamily="34" charset="-122"/>
                <a:cs typeface="Satoshi" pitchFamily="34" charset="-120"/>
              </a:rPr>
              <a:t>When a client cancels, Refill offers the time to the next person on the waitlist who fits it and said yes to messages. The first to accept gets it.</a:t>
            </a:r>
            <a:endParaRPr lang="en-US" sz="1050" dirty="0"/>
          </a:p>
        </p:txBody>
      </p:sp>
      <p:sp>
        <p:nvSpPr>
          <p:cNvPr id="8" name="Shape 5"/>
          <p:cNvSpPr/>
          <p:nvPr/>
        </p:nvSpPr>
        <p:spPr>
          <a:xfrm>
            <a:off x="411480" y="3675888"/>
            <a:ext cx="4480560" cy="0"/>
          </a:xfrm>
          <a:prstGeom prst="line">
            <a:avLst/>
          </a:prstGeom>
          <a:noFill/>
          <a:ln w="9525">
            <a:solidFill>
              <a:srgbClr val="2A2A2F"/>
            </a:solidFill>
            <a:prstDash val="solid"/>
          </a:ln>
        </p:spPr>
      </p:sp>
      <p:sp>
        <p:nvSpPr>
          <p:cNvPr id="9" name="Text 6"/>
          <p:cNvSpPr txBox="1"/>
          <p:nvPr/>
        </p:nvSpPr>
        <p:spPr>
          <a:xfrm>
            <a:off x="411480" y="3785616"/>
            <a:ext cx="1828800" cy="164592"/>
          </a:xfrm>
          <a:prstGeom prst="rect">
            <a:avLst/>
          </a:prstGeom>
          <a:noFill/>
          <a:ln/>
        </p:spPr>
        <p:txBody>
          <a:bodyPr wrap="square" lIns="0" tIns="0" rIns="0" bIns="0" rtlCol="0" anchor="t"/>
          <a:lstStyle/>
          <a:p>
            <a:pPr marL="0" indent="0">
              <a:buNone/>
            </a:pPr>
            <a:r>
              <a:rPr lang="en-US" sz="750" kern="0" spc="110" dirty="0">
                <a:solidFill>
                  <a:srgbClr val="C6F24E"/>
                </a:solidFill>
                <a:latin typeface="JetBrains Mono" pitchFamily="34" charset="0"/>
                <a:ea typeface="JetBrains Mono" pitchFamily="34" charset="-122"/>
                <a:cs typeface="JetBrains Mono" pitchFamily="34" charset="-120"/>
              </a:rPr>
              <a:t>TEAM C29</a:t>
            </a:r>
            <a:endParaRPr lang="en-US" sz="750" dirty="0"/>
          </a:p>
        </p:txBody>
      </p:sp>
      <p:sp>
        <p:nvSpPr>
          <p:cNvPr id="10" name="Text 7"/>
          <p:cNvSpPr txBox="1"/>
          <p:nvPr/>
        </p:nvSpPr>
        <p:spPr>
          <a:xfrm>
            <a:off x="411480" y="3986784"/>
            <a:ext cx="548640" cy="201168"/>
          </a:xfrm>
          <a:prstGeom prst="rect">
            <a:avLst/>
          </a:prstGeom>
          <a:noFill/>
          <a:ln/>
        </p:spPr>
        <p:txBody>
          <a:bodyPr wrap="square" lIns="0" tIns="0" rIns="0" bIns="0" rtlCol="0" anchor="ctr"/>
          <a:lstStyle/>
          <a:p>
            <a:pPr marL="0" indent="0">
              <a:buNone/>
            </a:pPr>
            <a:r>
              <a:rPr lang="en-US" sz="700" dirty="0">
                <a:solidFill>
                  <a:srgbClr val="76736C"/>
                </a:solidFill>
                <a:latin typeface="JetBrains Mono" pitchFamily="34" charset="0"/>
                <a:ea typeface="JetBrains Mono" pitchFamily="34" charset="-122"/>
                <a:cs typeface="JetBrains Mono" pitchFamily="34" charset="-120"/>
              </a:rPr>
              <a:t>B.TECH</a:t>
            </a:r>
            <a:endParaRPr lang="en-US" sz="700" dirty="0"/>
          </a:p>
        </p:txBody>
      </p:sp>
      <p:sp>
        <p:nvSpPr>
          <p:cNvPr id="11" name="Text 8"/>
          <p:cNvSpPr txBox="1"/>
          <p:nvPr/>
        </p:nvSpPr>
        <p:spPr>
          <a:xfrm>
            <a:off x="987552" y="3986784"/>
            <a:ext cx="4206240" cy="201168"/>
          </a:xfrm>
          <a:prstGeom prst="rect">
            <a:avLst/>
          </a:prstGeom>
          <a:noFill/>
          <a:ln/>
        </p:spPr>
        <p:txBody>
          <a:bodyPr wrap="square" lIns="0" tIns="0" rIns="0" bIns="0" rtlCol="0" anchor="ctr"/>
          <a:lstStyle/>
          <a:p>
            <a:pPr marL="0" indent="0">
              <a:buNone/>
            </a:pPr>
            <a:r>
              <a:rPr lang="en-US" sz="1000" dirty="0">
                <a:solidFill>
                  <a:srgbClr val="F4F1EA"/>
                </a:solidFill>
                <a:latin typeface="Satoshi Medium" pitchFamily="34" charset="0"/>
                <a:ea typeface="Satoshi Medium" pitchFamily="34" charset="-122"/>
                <a:cs typeface="Satoshi Medium" pitchFamily="34" charset="-120"/>
              </a:rPr>
              <a:t>Vedanth Raj</a:t>
            </a:r>
            <a:r>
              <a:rPr lang="en-US" sz="680" kern="0" spc="100" dirty="0">
                <a:solidFill>
                  <a:srgbClr val="C6F24E"/>
                </a:solidFill>
                <a:latin typeface="JetBrains Mono" pitchFamily="34" charset="0"/>
                <a:ea typeface="JetBrains Mono" pitchFamily="34" charset="-122"/>
                <a:cs typeface="JetBrains Mono" pitchFamily="34" charset="-120"/>
              </a:rPr>
              <a:t>   TEAM LEAD</a:t>
            </a:r>
            <a:endParaRPr lang="en-US" sz="1000" dirty="0"/>
          </a:p>
        </p:txBody>
      </p:sp>
      <p:sp>
        <p:nvSpPr>
          <p:cNvPr id="12" name="Text 9"/>
          <p:cNvSpPr txBox="1"/>
          <p:nvPr/>
        </p:nvSpPr>
        <p:spPr>
          <a:xfrm>
            <a:off x="411480" y="4187952"/>
            <a:ext cx="548640" cy="201168"/>
          </a:xfrm>
          <a:prstGeom prst="rect">
            <a:avLst/>
          </a:prstGeom>
          <a:noFill/>
          <a:ln/>
        </p:spPr>
        <p:txBody>
          <a:bodyPr wrap="square" lIns="0" tIns="0" rIns="0" bIns="0" rtlCol="0" anchor="ctr"/>
          <a:lstStyle/>
          <a:p>
            <a:pPr marL="0" indent="0">
              <a:buNone/>
            </a:pPr>
            <a:endParaRPr lang="en-US" sz="700" dirty="0"/>
          </a:p>
        </p:txBody>
      </p:sp>
      <p:sp>
        <p:nvSpPr>
          <p:cNvPr id="13" name="Text 10"/>
          <p:cNvSpPr txBox="1"/>
          <p:nvPr/>
        </p:nvSpPr>
        <p:spPr>
          <a:xfrm>
            <a:off x="987552" y="4187952"/>
            <a:ext cx="4206240" cy="201168"/>
          </a:xfrm>
          <a:prstGeom prst="rect">
            <a:avLst/>
          </a:prstGeom>
          <a:noFill/>
          <a:ln/>
        </p:spPr>
        <p:txBody>
          <a:bodyPr wrap="square" lIns="0" tIns="0" rIns="0" bIns="0" rtlCol="0" anchor="ctr"/>
          <a:lstStyle/>
          <a:p>
            <a:pPr marL="0" indent="0">
              <a:buNone/>
            </a:pPr>
            <a:r>
              <a:rPr lang="en-US" sz="1000" dirty="0">
                <a:solidFill>
                  <a:srgbClr val="F4F1EA"/>
                </a:solidFill>
                <a:latin typeface="Satoshi Medium" pitchFamily="34" charset="0"/>
                <a:ea typeface="Satoshi Medium" pitchFamily="34" charset="-122"/>
                <a:cs typeface="Satoshi Medium" pitchFamily="34" charset="-120"/>
              </a:rPr>
              <a:t>Dhruv Sonar · Parth Kachhara · Chirag Seervi</a:t>
            </a:r>
            <a:endParaRPr lang="en-US" sz="1000" dirty="0"/>
          </a:p>
        </p:txBody>
      </p:sp>
      <p:sp>
        <p:nvSpPr>
          <p:cNvPr id="14" name="Text 11"/>
          <p:cNvSpPr txBox="1"/>
          <p:nvPr/>
        </p:nvSpPr>
        <p:spPr>
          <a:xfrm>
            <a:off x="411480" y="4425696"/>
            <a:ext cx="548640" cy="201168"/>
          </a:xfrm>
          <a:prstGeom prst="rect">
            <a:avLst/>
          </a:prstGeom>
          <a:noFill/>
          <a:ln/>
        </p:spPr>
        <p:txBody>
          <a:bodyPr wrap="square" lIns="0" tIns="0" rIns="0" bIns="0" rtlCol="0" anchor="ctr"/>
          <a:lstStyle/>
          <a:p>
            <a:pPr marL="0" indent="0">
              <a:buNone/>
            </a:pPr>
            <a:r>
              <a:rPr lang="en-US" sz="700" dirty="0">
                <a:solidFill>
                  <a:srgbClr val="76736C"/>
                </a:solidFill>
                <a:latin typeface="JetBrains Mono" pitchFamily="34" charset="0"/>
                <a:ea typeface="JetBrains Mono" pitchFamily="34" charset="-122"/>
                <a:cs typeface="JetBrains Mono" pitchFamily="34" charset="-120"/>
              </a:rPr>
              <a:t>MBA</a:t>
            </a:r>
            <a:endParaRPr lang="en-US" sz="700" dirty="0"/>
          </a:p>
        </p:txBody>
      </p:sp>
      <p:sp>
        <p:nvSpPr>
          <p:cNvPr id="15" name="Text 12"/>
          <p:cNvSpPr txBox="1"/>
          <p:nvPr/>
        </p:nvSpPr>
        <p:spPr>
          <a:xfrm>
            <a:off x="987552" y="4425696"/>
            <a:ext cx="4206240" cy="201168"/>
          </a:xfrm>
          <a:prstGeom prst="rect">
            <a:avLst/>
          </a:prstGeom>
          <a:noFill/>
          <a:ln/>
        </p:spPr>
        <p:txBody>
          <a:bodyPr wrap="square" lIns="0" tIns="0" rIns="0" bIns="0" rtlCol="0" anchor="ctr"/>
          <a:lstStyle/>
          <a:p>
            <a:pPr marL="0" indent="0">
              <a:buNone/>
            </a:pPr>
            <a:r>
              <a:rPr lang="en-US" sz="1000" dirty="0">
                <a:solidFill>
                  <a:srgbClr val="F4F1EA"/>
                </a:solidFill>
                <a:latin typeface="Satoshi Medium" pitchFamily="34" charset="0"/>
                <a:ea typeface="Satoshi Medium" pitchFamily="34" charset="-122"/>
                <a:cs typeface="Satoshi Medium" pitchFamily="34" charset="-120"/>
              </a:rPr>
              <a:t>Parth Srivastava · Tushar Walia</a:t>
            </a:r>
            <a:endParaRPr lang="en-US" sz="1000" dirty="0"/>
          </a:p>
        </p:txBody>
      </p:sp>
      <p:sp>
        <p:nvSpPr>
          <p:cNvPr id="16" name="Text 13"/>
          <p:cNvSpPr txBox="1"/>
          <p:nvPr/>
        </p:nvSpPr>
        <p:spPr>
          <a:xfrm>
            <a:off x="411480" y="4736592"/>
            <a:ext cx="5486400" cy="164592"/>
          </a:xfrm>
          <a:prstGeom prst="rect">
            <a:avLst/>
          </a:prstGeom>
          <a:noFill/>
          <a:ln/>
        </p:spPr>
        <p:txBody>
          <a:bodyPr wrap="square" lIns="0" tIns="0" rIns="0" bIns="0" rtlCol="0" anchor="t"/>
          <a:lstStyle/>
          <a:p>
            <a:pPr marL="0" indent="0">
              <a:buNone/>
            </a:pPr>
            <a:r>
              <a:rPr lang="en-US" sz="650" dirty="0">
                <a:solidFill>
                  <a:srgbClr val="76736C"/>
                </a:solidFill>
                <a:latin typeface="JetBrains Mono" pitchFamily="34" charset="0"/>
                <a:ea typeface="JetBrains Mono" pitchFamily="34" charset="-122"/>
                <a:cs typeface="JetBrains Mono" pitchFamily="34" charset="-120"/>
              </a:rPr>
              <a:t>Fynd × NMIMS Hyderabad  ·  Product &amp; Business Simulation  ·  Case C29  ·  18 October 2026</a:t>
            </a:r>
            <a:endParaRPr lang="en-US" sz="650" dirty="0"/>
          </a:p>
        </p:txBody>
      </p:sp>
      <p:pic>
        <p:nvPicPr>
          <p:cNvPr id="17" name="Image 1" descr="C:\Users\dhruv\AppData\Local\Temp\claude\Z--claude\2a3ee505-7da2-4081-9e72-585b4758f7b1\scratchpad\deck\art\DeckDial.png"/>
          <p:cNvPicPr>
            <a:picLocks noChangeAspect="1"/>
          </p:cNvPicPr>
          <p:nvPr/>
        </p:nvPicPr>
        <p:blipFill>
          <a:blip r:embed="rId4"/>
          <a:stretch>
            <a:fillRect/>
          </a:stretch>
        </p:blipFill>
        <p:spPr>
          <a:xfrm>
            <a:off x="4983480" y="566928"/>
            <a:ext cx="4023360" cy="40233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11480" y="237744"/>
            <a:ext cx="6858000" cy="182880"/>
          </a:xfrm>
          <a:prstGeom prst="rect">
            <a:avLst/>
          </a:prstGeom>
          <a:noFill/>
          <a:ln/>
        </p:spPr>
        <p:txBody>
          <a:bodyPr wrap="square" lIns="0" tIns="0" rIns="0" bIns="0" rtlCol="0" anchor="t"/>
          <a:lstStyle/>
          <a:p>
            <a:pPr marL="0" indent="0">
              <a:buNone/>
            </a:pPr>
            <a:r>
              <a:rPr lang="en-US" sz="750" kern="0" spc="110" dirty="0">
                <a:solidFill>
                  <a:srgbClr val="C6F24E"/>
                </a:solidFill>
                <a:latin typeface="JetBrains Mono" pitchFamily="34" charset="0"/>
                <a:ea typeface="JetBrains Mono" pitchFamily="34" charset="-122"/>
                <a:cs typeface="JetBrains Mono" pitchFamily="34" charset="-120"/>
              </a:rPr>
              <a:t>01</a:t>
            </a:r>
            <a:r>
              <a:rPr lang="en-US" sz="750" kern="0" spc="110" dirty="0">
                <a:solidFill>
                  <a:srgbClr val="76736C"/>
                </a:solidFill>
                <a:latin typeface="JetBrains Mono" pitchFamily="34" charset="0"/>
                <a:ea typeface="JetBrains Mono" pitchFamily="34" charset="-122"/>
                <a:cs typeface="JetBrains Mono" pitchFamily="34" charset="-120"/>
              </a:rPr>
              <a:t>  ·  PRODUCT OVERVIEW</a:t>
            </a:r>
            <a:endParaRPr lang="en-US" sz="750" dirty="0"/>
          </a:p>
        </p:txBody>
      </p:sp>
      <p:sp>
        <p:nvSpPr>
          <p:cNvPr id="3" name="Text 1"/>
          <p:cNvSpPr txBox="1"/>
          <p:nvPr/>
        </p:nvSpPr>
        <p:spPr>
          <a:xfrm>
            <a:off x="411480" y="429768"/>
            <a:ext cx="7680960" cy="457200"/>
          </a:xfrm>
          <a:prstGeom prst="rect">
            <a:avLst/>
          </a:prstGeom>
          <a:noFill/>
          <a:ln/>
        </p:spPr>
        <p:txBody>
          <a:bodyPr wrap="square" lIns="0" tIns="0" rIns="0" bIns="0" rtlCol="0" anchor="ctr"/>
          <a:lstStyle/>
          <a:p>
            <a:pPr marL="0" indent="0">
              <a:buNone/>
            </a:pPr>
            <a:r>
              <a:rPr lang="en-US" sz="2300" dirty="0">
                <a:solidFill>
                  <a:srgbClr val="F4F1EA"/>
                </a:solidFill>
                <a:latin typeface="Clash Display Semibold" pitchFamily="34" charset="0"/>
                <a:ea typeface="Clash Display Semibold" pitchFamily="34" charset="-122"/>
                <a:cs typeface="Clash Display Semibold" pitchFamily="34" charset="-120"/>
              </a:rPr>
              <a:t>Refill  </a:t>
            </a:r>
            <a:r>
              <a:rPr lang="en-US" sz="2300" dirty="0">
                <a:solidFill>
                  <a:srgbClr val="76736C"/>
                </a:solidFill>
                <a:latin typeface="Clash Display Medium" pitchFamily="34" charset="0"/>
                <a:ea typeface="Clash Display Medium" pitchFamily="34" charset="-122"/>
                <a:cs typeface="Clash Display Medium" pitchFamily="34" charset="-120"/>
              </a:rPr>
              <a:t>Appointment Recovery Desk</a:t>
            </a:r>
            <a:endParaRPr lang="en-US" sz="2300" dirty="0"/>
          </a:p>
        </p:txBody>
      </p:sp>
      <p:sp>
        <p:nvSpPr>
          <p:cNvPr id="4" name="Text 2"/>
          <p:cNvSpPr txBox="1"/>
          <p:nvPr/>
        </p:nvSpPr>
        <p:spPr>
          <a:xfrm>
            <a:off x="411480" y="960120"/>
            <a:ext cx="4572000" cy="384048"/>
          </a:xfrm>
          <a:prstGeom prst="rect">
            <a:avLst/>
          </a:prstGeom>
          <a:noFill/>
          <a:ln/>
        </p:spPr>
        <p:txBody>
          <a:bodyPr wrap="square" lIns="0" tIns="0" rIns="0" bIns="0" rtlCol="0" anchor="t"/>
          <a:lstStyle/>
          <a:p>
            <a:pPr marL="0" indent="0">
              <a:lnSpc>
                <a:spcPct val="110000"/>
              </a:lnSpc>
              <a:buNone/>
            </a:pPr>
            <a:r>
              <a:rPr lang="en-US" sz="1100" dirty="0">
                <a:solidFill>
                  <a:srgbClr val="A9A59C"/>
                </a:solidFill>
                <a:latin typeface="Satoshi" pitchFamily="34" charset="0"/>
                <a:ea typeface="Satoshi" pitchFamily="34" charset="-122"/>
                <a:cs typeface="Satoshi" pitchFamily="34" charset="-120"/>
              </a:rPr>
              <a:t>Recover eligible cancellation slots without overbooking or contacting anyone who hasn't opted in.</a:t>
            </a:r>
            <a:endParaRPr lang="en-US" sz="1100" dirty="0"/>
          </a:p>
        </p:txBody>
      </p:sp>
      <p:sp>
        <p:nvSpPr>
          <p:cNvPr id="5" name="Shape 3"/>
          <p:cNvSpPr/>
          <p:nvPr/>
        </p:nvSpPr>
        <p:spPr>
          <a:xfrm>
            <a:off x="411480" y="1517904"/>
            <a:ext cx="4572000" cy="0"/>
          </a:xfrm>
          <a:prstGeom prst="line">
            <a:avLst/>
          </a:prstGeom>
          <a:noFill/>
          <a:ln w="9525">
            <a:solidFill>
              <a:srgbClr val="2A2A2F"/>
            </a:solidFill>
            <a:prstDash val="solid"/>
          </a:ln>
        </p:spPr>
      </p:sp>
      <p:sp>
        <p:nvSpPr>
          <p:cNvPr id="6" name="Shape 4"/>
          <p:cNvSpPr/>
          <p:nvPr/>
        </p:nvSpPr>
        <p:spPr>
          <a:xfrm>
            <a:off x="411480" y="1700784"/>
            <a:ext cx="73152" cy="73152"/>
          </a:xfrm>
          <a:prstGeom prst="ellipse">
            <a:avLst/>
          </a:prstGeom>
          <a:solidFill>
            <a:srgbClr val="F4F1EA"/>
          </a:solidFill>
          <a:ln w="12700">
            <a:solidFill>
              <a:srgbClr val="F4F1EA"/>
            </a:solidFill>
            <a:prstDash val="solid"/>
          </a:ln>
        </p:spPr>
      </p:sp>
      <p:sp>
        <p:nvSpPr>
          <p:cNvPr id="7" name="Text 5"/>
          <p:cNvSpPr txBox="1"/>
          <p:nvPr/>
        </p:nvSpPr>
        <p:spPr>
          <a:xfrm>
            <a:off x="566928" y="1636776"/>
            <a:ext cx="731520" cy="182880"/>
          </a:xfrm>
          <a:prstGeom prst="rect">
            <a:avLst/>
          </a:prstGeom>
          <a:noFill/>
          <a:ln/>
        </p:spPr>
        <p:txBody>
          <a:bodyPr wrap="square" lIns="0" tIns="0" rIns="0" bIns="0" rtlCol="0" anchor="t"/>
          <a:lstStyle/>
          <a:p>
            <a:pPr marL="0" indent="0">
              <a:buNone/>
            </a:pPr>
            <a:r>
              <a:rPr lang="en-US" sz="750" kern="0" spc="150" dirty="0">
                <a:solidFill>
                  <a:srgbClr val="76736C"/>
                </a:solidFill>
                <a:latin typeface="JetBrains Mono" pitchFamily="34" charset="0"/>
                <a:ea typeface="JetBrains Mono" pitchFamily="34" charset="-122"/>
                <a:cs typeface="JetBrains Mono" pitchFamily="34" charset="-120"/>
              </a:rPr>
              <a:t>WHO</a:t>
            </a:r>
            <a:endParaRPr lang="en-US" sz="750" dirty="0"/>
          </a:p>
        </p:txBody>
      </p:sp>
      <p:sp>
        <p:nvSpPr>
          <p:cNvPr id="8" name="Text 6"/>
          <p:cNvSpPr txBox="1"/>
          <p:nvPr/>
        </p:nvSpPr>
        <p:spPr>
          <a:xfrm>
            <a:off x="1325880" y="1609344"/>
            <a:ext cx="3657600" cy="438912"/>
          </a:xfrm>
          <a:prstGeom prst="rect">
            <a:avLst/>
          </a:prstGeom>
          <a:noFill/>
          <a:ln/>
        </p:spPr>
        <p:txBody>
          <a:bodyPr wrap="square" lIns="0" tIns="0" rIns="0" bIns="0" rtlCol="0" anchor="t"/>
          <a:lstStyle/>
          <a:p>
            <a:pPr marL="0" indent="0">
              <a:buNone/>
            </a:pPr>
            <a:r>
              <a:rPr lang="en-US" sz="1100" dirty="0">
                <a:solidFill>
                  <a:srgbClr val="F4F1EA"/>
                </a:solidFill>
                <a:latin typeface="Satoshi Medium" pitchFamily="34" charset="0"/>
                <a:ea typeface="Satoshi Medium" pitchFamily="34" charset="-122"/>
                <a:cs typeface="Satoshi Medium" pitchFamily="34" charset="-120"/>
              </a:rPr>
              <a:t>Salon / tutoring-centre owner + reception staff</a:t>
            </a:r>
            <a:endParaRPr lang="en-US" sz="1100" dirty="0"/>
          </a:p>
        </p:txBody>
      </p:sp>
      <p:sp>
        <p:nvSpPr>
          <p:cNvPr id="9" name="Shape 7"/>
          <p:cNvSpPr/>
          <p:nvPr/>
        </p:nvSpPr>
        <p:spPr>
          <a:xfrm>
            <a:off x="411480" y="2121408"/>
            <a:ext cx="4572000" cy="0"/>
          </a:xfrm>
          <a:prstGeom prst="line">
            <a:avLst/>
          </a:prstGeom>
          <a:noFill/>
          <a:ln w="9525">
            <a:solidFill>
              <a:srgbClr val="2A2A2F"/>
            </a:solidFill>
            <a:prstDash val="solid"/>
          </a:ln>
        </p:spPr>
      </p:sp>
      <p:sp>
        <p:nvSpPr>
          <p:cNvPr id="10" name="Shape 8"/>
          <p:cNvSpPr/>
          <p:nvPr/>
        </p:nvSpPr>
        <p:spPr>
          <a:xfrm>
            <a:off x="411480" y="2304288"/>
            <a:ext cx="73152" cy="73152"/>
          </a:xfrm>
          <a:prstGeom prst="ellipse">
            <a:avLst/>
          </a:prstGeom>
          <a:solidFill>
            <a:srgbClr val="C6F24E"/>
          </a:solidFill>
          <a:ln w="12700">
            <a:solidFill>
              <a:srgbClr val="C6F24E"/>
            </a:solidFill>
            <a:prstDash val="solid"/>
          </a:ln>
        </p:spPr>
      </p:sp>
      <p:sp>
        <p:nvSpPr>
          <p:cNvPr id="11" name="Text 9"/>
          <p:cNvSpPr txBox="1"/>
          <p:nvPr/>
        </p:nvSpPr>
        <p:spPr>
          <a:xfrm>
            <a:off x="566928" y="2240280"/>
            <a:ext cx="731520" cy="182880"/>
          </a:xfrm>
          <a:prstGeom prst="rect">
            <a:avLst/>
          </a:prstGeom>
          <a:noFill/>
          <a:ln/>
        </p:spPr>
        <p:txBody>
          <a:bodyPr wrap="square" lIns="0" tIns="0" rIns="0" bIns="0" rtlCol="0" anchor="t"/>
          <a:lstStyle/>
          <a:p>
            <a:pPr marL="0" indent="0">
              <a:buNone/>
            </a:pPr>
            <a:r>
              <a:rPr lang="en-US" sz="750" kern="0" spc="150" dirty="0">
                <a:solidFill>
                  <a:srgbClr val="76736C"/>
                </a:solidFill>
                <a:latin typeface="JetBrains Mono" pitchFamily="34" charset="0"/>
                <a:ea typeface="JetBrains Mono" pitchFamily="34" charset="-122"/>
                <a:cs typeface="JetBrains Mono" pitchFamily="34" charset="-120"/>
              </a:rPr>
              <a:t>WHAT</a:t>
            </a:r>
            <a:endParaRPr lang="en-US" sz="750" dirty="0"/>
          </a:p>
        </p:txBody>
      </p:sp>
      <p:sp>
        <p:nvSpPr>
          <p:cNvPr id="12" name="Text 10"/>
          <p:cNvSpPr txBox="1"/>
          <p:nvPr/>
        </p:nvSpPr>
        <p:spPr>
          <a:xfrm>
            <a:off x="1325880" y="2212848"/>
            <a:ext cx="3657600" cy="438912"/>
          </a:xfrm>
          <a:prstGeom prst="rect">
            <a:avLst/>
          </a:prstGeom>
          <a:noFill/>
          <a:ln/>
        </p:spPr>
        <p:txBody>
          <a:bodyPr wrap="square" lIns="0" tIns="0" rIns="0" bIns="0" rtlCol="0" anchor="t"/>
          <a:lstStyle/>
          <a:p>
            <a:pPr marL="0" indent="0">
              <a:buNone/>
            </a:pPr>
            <a:r>
              <a:rPr lang="en-US" sz="1100" dirty="0">
                <a:solidFill>
                  <a:srgbClr val="F4F1EA"/>
                </a:solidFill>
                <a:latin typeface="Satoshi Medium" pitchFamily="34" charset="0"/>
                <a:ea typeface="Satoshi Medium" pitchFamily="34" charset="-122"/>
                <a:cs typeface="Satoshi Medium" pitchFamily="34" charset="-120"/>
              </a:rPr>
              <a:t>Convert eligible cancellations into confirmed bookings</a:t>
            </a:r>
            <a:endParaRPr lang="en-US" sz="1100" dirty="0"/>
          </a:p>
        </p:txBody>
      </p:sp>
      <p:sp>
        <p:nvSpPr>
          <p:cNvPr id="13" name="Shape 11"/>
          <p:cNvSpPr/>
          <p:nvPr/>
        </p:nvSpPr>
        <p:spPr>
          <a:xfrm>
            <a:off x="411480" y="2724912"/>
            <a:ext cx="4572000" cy="0"/>
          </a:xfrm>
          <a:prstGeom prst="line">
            <a:avLst/>
          </a:prstGeom>
          <a:noFill/>
          <a:ln w="9525">
            <a:solidFill>
              <a:srgbClr val="2A2A2F"/>
            </a:solidFill>
            <a:prstDash val="solid"/>
          </a:ln>
        </p:spPr>
      </p:sp>
      <p:sp>
        <p:nvSpPr>
          <p:cNvPr id="14" name="Shape 12"/>
          <p:cNvSpPr/>
          <p:nvPr/>
        </p:nvSpPr>
        <p:spPr>
          <a:xfrm>
            <a:off x="411480" y="2907792"/>
            <a:ext cx="73152" cy="73152"/>
          </a:xfrm>
          <a:prstGeom prst="ellipse">
            <a:avLst/>
          </a:prstGeom>
          <a:solidFill>
            <a:srgbClr val="F4F1EA"/>
          </a:solidFill>
          <a:ln w="12700">
            <a:solidFill>
              <a:srgbClr val="F4F1EA"/>
            </a:solidFill>
            <a:prstDash val="solid"/>
          </a:ln>
        </p:spPr>
      </p:sp>
      <p:sp>
        <p:nvSpPr>
          <p:cNvPr id="15" name="Text 13"/>
          <p:cNvSpPr txBox="1"/>
          <p:nvPr/>
        </p:nvSpPr>
        <p:spPr>
          <a:xfrm>
            <a:off x="566928" y="2843784"/>
            <a:ext cx="731520" cy="182880"/>
          </a:xfrm>
          <a:prstGeom prst="rect">
            <a:avLst/>
          </a:prstGeom>
          <a:noFill/>
          <a:ln/>
        </p:spPr>
        <p:txBody>
          <a:bodyPr wrap="square" lIns="0" tIns="0" rIns="0" bIns="0" rtlCol="0" anchor="t"/>
          <a:lstStyle/>
          <a:p>
            <a:pPr marL="0" indent="0">
              <a:buNone/>
            </a:pPr>
            <a:r>
              <a:rPr lang="en-US" sz="750" kern="0" spc="150" dirty="0">
                <a:solidFill>
                  <a:srgbClr val="76736C"/>
                </a:solidFill>
                <a:latin typeface="JetBrains Mono" pitchFamily="34" charset="0"/>
                <a:ea typeface="JetBrains Mono" pitchFamily="34" charset="-122"/>
                <a:cs typeface="JetBrains Mono" pitchFamily="34" charset="-120"/>
              </a:rPr>
              <a:t>WHERE</a:t>
            </a:r>
            <a:endParaRPr lang="en-US" sz="750" dirty="0"/>
          </a:p>
        </p:txBody>
      </p:sp>
      <p:sp>
        <p:nvSpPr>
          <p:cNvPr id="16" name="Text 14"/>
          <p:cNvSpPr txBox="1"/>
          <p:nvPr/>
        </p:nvSpPr>
        <p:spPr>
          <a:xfrm>
            <a:off x="1325880" y="2816352"/>
            <a:ext cx="3657600" cy="438912"/>
          </a:xfrm>
          <a:prstGeom prst="rect">
            <a:avLst/>
          </a:prstGeom>
          <a:noFill/>
          <a:ln/>
        </p:spPr>
        <p:txBody>
          <a:bodyPr wrap="square" lIns="0" tIns="0" rIns="0" bIns="0" rtlCol="0" anchor="t"/>
          <a:lstStyle/>
          <a:p>
            <a:pPr marL="0" indent="0">
              <a:buNone/>
            </a:pPr>
            <a:r>
              <a:rPr lang="en-US" sz="1100" dirty="0">
                <a:solidFill>
                  <a:srgbClr val="F4F1EA"/>
                </a:solidFill>
                <a:latin typeface="Satoshi Medium" pitchFamily="34" charset="0"/>
                <a:ea typeface="Satoshi Medium" pitchFamily="34" charset="-122"/>
                <a:cs typeface="Satoshi Medium" pitchFamily="34" charset="-120"/>
              </a:rPr>
              <a:t>One-calendar pilot · Hyderabad beachhead</a:t>
            </a:r>
            <a:endParaRPr lang="en-US" sz="1100" dirty="0"/>
          </a:p>
        </p:txBody>
      </p:sp>
      <p:sp>
        <p:nvSpPr>
          <p:cNvPr id="17" name="Shape 15"/>
          <p:cNvSpPr/>
          <p:nvPr/>
        </p:nvSpPr>
        <p:spPr>
          <a:xfrm>
            <a:off x="411480" y="3328416"/>
            <a:ext cx="4572000" cy="0"/>
          </a:xfrm>
          <a:prstGeom prst="line">
            <a:avLst/>
          </a:prstGeom>
          <a:noFill/>
          <a:ln w="9525">
            <a:solidFill>
              <a:srgbClr val="2A2A2F"/>
            </a:solidFill>
            <a:prstDash val="solid"/>
          </a:ln>
        </p:spPr>
      </p:sp>
      <p:sp>
        <p:nvSpPr>
          <p:cNvPr id="18" name="Shape 16"/>
          <p:cNvSpPr/>
          <p:nvPr/>
        </p:nvSpPr>
        <p:spPr>
          <a:xfrm>
            <a:off x="411480" y="3511296"/>
            <a:ext cx="73152" cy="73152"/>
          </a:xfrm>
          <a:prstGeom prst="ellipse">
            <a:avLst/>
          </a:prstGeom>
          <a:solidFill>
            <a:srgbClr val="FFB547"/>
          </a:solidFill>
          <a:ln w="12700">
            <a:solidFill>
              <a:srgbClr val="FFB547"/>
            </a:solidFill>
            <a:prstDash val="solid"/>
          </a:ln>
        </p:spPr>
      </p:sp>
      <p:sp>
        <p:nvSpPr>
          <p:cNvPr id="19" name="Text 17"/>
          <p:cNvSpPr txBox="1"/>
          <p:nvPr/>
        </p:nvSpPr>
        <p:spPr>
          <a:xfrm>
            <a:off x="566928" y="3447288"/>
            <a:ext cx="731520" cy="182880"/>
          </a:xfrm>
          <a:prstGeom prst="rect">
            <a:avLst/>
          </a:prstGeom>
          <a:noFill/>
          <a:ln/>
        </p:spPr>
        <p:txBody>
          <a:bodyPr wrap="square" lIns="0" tIns="0" rIns="0" bIns="0" rtlCol="0" anchor="t"/>
          <a:lstStyle/>
          <a:p>
            <a:pPr marL="0" indent="0">
              <a:buNone/>
            </a:pPr>
            <a:r>
              <a:rPr lang="en-US" sz="750" kern="0" spc="150" dirty="0">
                <a:solidFill>
                  <a:srgbClr val="76736C"/>
                </a:solidFill>
                <a:latin typeface="JetBrains Mono" pitchFamily="34" charset="0"/>
                <a:ea typeface="JetBrains Mono" pitchFamily="34" charset="-122"/>
                <a:cs typeface="JetBrains Mono" pitchFamily="34" charset="-120"/>
              </a:rPr>
              <a:t>WHEN</a:t>
            </a:r>
            <a:endParaRPr lang="en-US" sz="750" dirty="0"/>
          </a:p>
        </p:txBody>
      </p:sp>
      <p:sp>
        <p:nvSpPr>
          <p:cNvPr id="20" name="Text 18"/>
          <p:cNvSpPr txBox="1"/>
          <p:nvPr/>
        </p:nvSpPr>
        <p:spPr>
          <a:xfrm>
            <a:off x="1325880" y="3419856"/>
            <a:ext cx="3657600" cy="438912"/>
          </a:xfrm>
          <a:prstGeom prst="rect">
            <a:avLst/>
          </a:prstGeom>
          <a:noFill/>
          <a:ln/>
        </p:spPr>
        <p:txBody>
          <a:bodyPr wrap="square" lIns="0" tIns="0" rIns="0" bIns="0" rtlCol="0" anchor="t"/>
          <a:lstStyle/>
          <a:p>
            <a:pPr marL="0" indent="0">
              <a:buNone/>
            </a:pPr>
            <a:r>
              <a:rPr lang="en-US" sz="1100" dirty="0">
                <a:solidFill>
                  <a:srgbClr val="F4F1EA"/>
                </a:solidFill>
                <a:latin typeface="Satoshi Medium" pitchFamily="34" charset="0"/>
                <a:ea typeface="Satoshi Medium" pitchFamily="34" charset="-122"/>
                <a:cs typeface="Satoshi Medium" pitchFamily="34" charset="-120"/>
              </a:rPr>
              <a:t>Triggered at cancellation; outreach before slot expires</a:t>
            </a:r>
            <a:endParaRPr lang="en-US" sz="1100" dirty="0"/>
          </a:p>
        </p:txBody>
      </p:sp>
      <p:sp>
        <p:nvSpPr>
          <p:cNvPr id="21" name="Shape 19"/>
          <p:cNvSpPr/>
          <p:nvPr/>
        </p:nvSpPr>
        <p:spPr>
          <a:xfrm>
            <a:off x="411480" y="3931920"/>
            <a:ext cx="4572000" cy="0"/>
          </a:xfrm>
          <a:prstGeom prst="line">
            <a:avLst/>
          </a:prstGeom>
          <a:noFill/>
          <a:ln w="9525">
            <a:solidFill>
              <a:srgbClr val="2A2A2F"/>
            </a:solidFill>
            <a:prstDash val="solid"/>
          </a:ln>
        </p:spPr>
      </p:sp>
      <p:sp>
        <p:nvSpPr>
          <p:cNvPr id="22" name="Shape 20"/>
          <p:cNvSpPr/>
          <p:nvPr/>
        </p:nvSpPr>
        <p:spPr>
          <a:xfrm>
            <a:off x="411480" y="4114800"/>
            <a:ext cx="73152" cy="73152"/>
          </a:xfrm>
          <a:prstGeom prst="ellipse">
            <a:avLst/>
          </a:prstGeom>
          <a:solidFill>
            <a:srgbClr val="FF5D4D"/>
          </a:solidFill>
          <a:ln w="12700">
            <a:solidFill>
              <a:srgbClr val="FF5D4D"/>
            </a:solidFill>
            <a:prstDash val="solid"/>
          </a:ln>
        </p:spPr>
      </p:sp>
      <p:sp>
        <p:nvSpPr>
          <p:cNvPr id="23" name="Text 21"/>
          <p:cNvSpPr txBox="1"/>
          <p:nvPr/>
        </p:nvSpPr>
        <p:spPr>
          <a:xfrm>
            <a:off x="566928" y="4050792"/>
            <a:ext cx="731520" cy="182880"/>
          </a:xfrm>
          <a:prstGeom prst="rect">
            <a:avLst/>
          </a:prstGeom>
          <a:noFill/>
          <a:ln/>
        </p:spPr>
        <p:txBody>
          <a:bodyPr wrap="square" lIns="0" tIns="0" rIns="0" bIns="0" rtlCol="0" anchor="t"/>
          <a:lstStyle/>
          <a:p>
            <a:pPr marL="0" indent="0">
              <a:buNone/>
            </a:pPr>
            <a:r>
              <a:rPr lang="en-US" sz="750" kern="0" spc="150" dirty="0">
                <a:solidFill>
                  <a:srgbClr val="76736C"/>
                </a:solidFill>
                <a:latin typeface="JetBrains Mono" pitchFamily="34" charset="0"/>
                <a:ea typeface="JetBrains Mono" pitchFamily="34" charset="-122"/>
                <a:cs typeface="JetBrains Mono" pitchFamily="34" charset="-120"/>
              </a:rPr>
              <a:t>WHY</a:t>
            </a:r>
            <a:endParaRPr lang="en-US" sz="750" dirty="0"/>
          </a:p>
        </p:txBody>
      </p:sp>
      <p:sp>
        <p:nvSpPr>
          <p:cNvPr id="24" name="Text 22"/>
          <p:cNvSpPr txBox="1"/>
          <p:nvPr/>
        </p:nvSpPr>
        <p:spPr>
          <a:xfrm>
            <a:off x="1325880" y="4023360"/>
            <a:ext cx="3657600" cy="438912"/>
          </a:xfrm>
          <a:prstGeom prst="rect">
            <a:avLst/>
          </a:prstGeom>
          <a:noFill/>
          <a:ln/>
        </p:spPr>
        <p:txBody>
          <a:bodyPr wrap="square" lIns="0" tIns="0" rIns="0" bIns="0" rtlCol="0" anchor="t"/>
          <a:lstStyle/>
          <a:p>
            <a:pPr marL="0" indent="0">
              <a:buNone/>
            </a:pPr>
            <a:r>
              <a:rPr lang="en-US" sz="1100" dirty="0">
                <a:solidFill>
                  <a:srgbClr val="F4F1EA"/>
                </a:solidFill>
                <a:latin typeface="Satoshi Medium" pitchFamily="34" charset="0"/>
                <a:ea typeface="Satoshi Medium" pitchFamily="34" charset="-122"/>
                <a:cs typeface="Satoshi Medium" pitchFamily="34" charset="-120"/>
              </a:rPr>
              <a:t>Unused capacity = lost contribution · Manual recovery wastes staff time</a:t>
            </a:r>
            <a:endParaRPr lang="en-US" sz="1100" dirty="0"/>
          </a:p>
        </p:txBody>
      </p:sp>
      <p:sp>
        <p:nvSpPr>
          <p:cNvPr id="25" name="Shape 23"/>
          <p:cNvSpPr/>
          <p:nvPr/>
        </p:nvSpPr>
        <p:spPr>
          <a:xfrm>
            <a:off x="5349240" y="960120"/>
            <a:ext cx="1645920" cy="1700784"/>
          </a:xfrm>
          <a:prstGeom prst="roundRect">
            <a:avLst>
              <a:gd name="adj" fmla="val 5000"/>
            </a:avLst>
          </a:prstGeom>
          <a:solidFill>
            <a:srgbClr val="131316"/>
          </a:solidFill>
          <a:ln w="9525">
            <a:solidFill>
              <a:srgbClr val="2A2A2F"/>
            </a:solidFill>
            <a:prstDash val="solid"/>
          </a:ln>
        </p:spPr>
      </p:sp>
      <p:sp>
        <p:nvSpPr>
          <p:cNvPr id="26" name="Text 24"/>
          <p:cNvSpPr txBox="1"/>
          <p:nvPr/>
        </p:nvSpPr>
        <p:spPr>
          <a:xfrm>
            <a:off x="5495544" y="1106424"/>
            <a:ext cx="1371600" cy="164592"/>
          </a:xfrm>
          <a:prstGeom prst="rect">
            <a:avLst/>
          </a:prstGeom>
          <a:noFill/>
          <a:ln/>
        </p:spPr>
        <p:txBody>
          <a:bodyPr wrap="square" lIns="0" tIns="0" rIns="0" bIns="0" rtlCol="0" anchor="t"/>
          <a:lstStyle/>
          <a:p>
            <a:pPr marL="0" indent="0">
              <a:buNone/>
            </a:pPr>
            <a:r>
              <a:rPr lang="en-US" sz="750" kern="0" spc="110" dirty="0">
                <a:solidFill>
                  <a:srgbClr val="C6F24E"/>
                </a:solidFill>
                <a:latin typeface="JetBrains Mono" pitchFamily="34" charset="0"/>
                <a:ea typeface="JetBrains Mono" pitchFamily="34" charset="-122"/>
                <a:cs typeface="JetBrains Mono" pitchFamily="34" charset="-120"/>
              </a:rPr>
              <a:t>PRODUCT</a:t>
            </a:r>
            <a:endParaRPr lang="en-US" sz="750" dirty="0"/>
          </a:p>
        </p:txBody>
      </p:sp>
      <p:sp>
        <p:nvSpPr>
          <p:cNvPr id="27" name="Text 25"/>
          <p:cNvSpPr txBox="1"/>
          <p:nvPr/>
        </p:nvSpPr>
        <p:spPr>
          <a:xfrm>
            <a:off x="5495544" y="1371600"/>
            <a:ext cx="1371600" cy="1188720"/>
          </a:xfrm>
          <a:prstGeom prst="rect">
            <a:avLst/>
          </a:prstGeom>
          <a:noFill/>
          <a:ln/>
        </p:spPr>
        <p:txBody>
          <a:bodyPr wrap="square" lIns="0" tIns="0" rIns="0" bIns="0" rtlCol="0" anchor="t"/>
          <a:lstStyle/>
          <a:p>
            <a:pPr marL="0" indent="0">
              <a:lnSpc>
                <a:spcPct val="105000"/>
              </a:lnSpc>
              <a:spcAft>
                <a:spcPts val="400"/>
              </a:spcAft>
              <a:buNone/>
            </a:pPr>
            <a:r>
              <a:rPr lang="en-US" sz="950" dirty="0">
                <a:solidFill>
                  <a:srgbClr val="F4F1EA"/>
                </a:solidFill>
                <a:latin typeface="Satoshi Medium" pitchFamily="34" charset="0"/>
                <a:ea typeface="Satoshi Medium" pitchFamily="34" charset="-122"/>
                <a:cs typeface="Satoshi Medium" pitchFamily="34" charset="-120"/>
              </a:rPr>
              <a:t>Five-feature recovery desk:</a:t>
            </a:r>
            <a:endParaRPr lang="en-US" sz="950" dirty="0"/>
          </a:p>
          <a:p>
            <a:pPr marL="0" indent="0">
              <a:lnSpc>
                <a:spcPct val="105000"/>
              </a:lnSpc>
              <a:spcAft>
                <a:spcPts val="400"/>
              </a:spcAft>
              <a:buNone/>
            </a:pPr>
            <a:r>
              <a:rPr lang="en-US" sz="950" dirty="0">
                <a:solidFill>
                  <a:srgbClr val="A9A59C"/>
                </a:solidFill>
                <a:latin typeface="Satoshi" pitchFamily="34" charset="0"/>
                <a:ea typeface="Satoshi" pitchFamily="34" charset="-122"/>
                <a:cs typeface="Satoshi" pitchFamily="34" charset="-120"/>
              </a:rPr>
              <a:t>cancellation visibility → waitlist match → consent gate → rebook → audit trail</a:t>
            </a:r>
            <a:endParaRPr lang="en-US" sz="950" dirty="0"/>
          </a:p>
        </p:txBody>
      </p:sp>
      <p:sp>
        <p:nvSpPr>
          <p:cNvPr id="28" name="Shape 26"/>
          <p:cNvSpPr/>
          <p:nvPr/>
        </p:nvSpPr>
        <p:spPr>
          <a:xfrm>
            <a:off x="7104888" y="960120"/>
            <a:ext cx="1645920" cy="1700784"/>
          </a:xfrm>
          <a:prstGeom prst="roundRect">
            <a:avLst>
              <a:gd name="adj" fmla="val 5000"/>
            </a:avLst>
          </a:prstGeom>
          <a:solidFill>
            <a:srgbClr val="131316"/>
          </a:solidFill>
          <a:ln w="9525">
            <a:solidFill>
              <a:srgbClr val="2A2A2F"/>
            </a:solidFill>
            <a:prstDash val="solid"/>
          </a:ln>
        </p:spPr>
      </p:sp>
      <p:sp>
        <p:nvSpPr>
          <p:cNvPr id="29" name="Text 27"/>
          <p:cNvSpPr txBox="1"/>
          <p:nvPr/>
        </p:nvSpPr>
        <p:spPr>
          <a:xfrm>
            <a:off x="7251192" y="1106424"/>
            <a:ext cx="1371600" cy="164592"/>
          </a:xfrm>
          <a:prstGeom prst="rect">
            <a:avLst/>
          </a:prstGeom>
          <a:noFill/>
          <a:ln/>
        </p:spPr>
        <p:txBody>
          <a:bodyPr wrap="square" lIns="0" tIns="0" rIns="0" bIns="0" rtlCol="0" anchor="t"/>
          <a:lstStyle/>
          <a:p>
            <a:pPr marL="0" indent="0">
              <a:buNone/>
            </a:pPr>
            <a:r>
              <a:rPr lang="en-US" sz="750" kern="0" spc="110" dirty="0">
                <a:solidFill>
                  <a:srgbClr val="C6F24E"/>
                </a:solidFill>
                <a:latin typeface="JetBrains Mono" pitchFamily="34" charset="0"/>
                <a:ea typeface="JetBrains Mono" pitchFamily="34" charset="-122"/>
                <a:cs typeface="JetBrains Mono" pitchFamily="34" charset="-120"/>
              </a:rPr>
              <a:t>PRICE</a:t>
            </a:r>
            <a:endParaRPr lang="en-US" sz="750" dirty="0"/>
          </a:p>
        </p:txBody>
      </p:sp>
      <p:sp>
        <p:nvSpPr>
          <p:cNvPr id="30" name="Text 28"/>
          <p:cNvSpPr txBox="1"/>
          <p:nvPr/>
        </p:nvSpPr>
        <p:spPr>
          <a:xfrm>
            <a:off x="7251192" y="1371600"/>
            <a:ext cx="1371600" cy="1188720"/>
          </a:xfrm>
          <a:prstGeom prst="rect">
            <a:avLst/>
          </a:prstGeom>
          <a:noFill/>
          <a:ln/>
        </p:spPr>
        <p:txBody>
          <a:bodyPr wrap="square" lIns="0" tIns="0" rIns="0" bIns="0" rtlCol="0" anchor="t"/>
          <a:lstStyle/>
          <a:p>
            <a:pPr marL="0" indent="0">
              <a:lnSpc>
                <a:spcPct val="105000"/>
              </a:lnSpc>
              <a:spcAft>
                <a:spcPts val="400"/>
              </a:spcAft>
              <a:buNone/>
            </a:pPr>
            <a:r>
              <a:rPr lang="en-US" sz="950" dirty="0">
                <a:solidFill>
                  <a:srgbClr val="F4F1EA"/>
                </a:solidFill>
                <a:latin typeface="Satoshi Medium" pitchFamily="34" charset="0"/>
                <a:ea typeface="Satoshi Medium" pitchFamily="34" charset="-122"/>
                <a:cs typeface="Satoshi Medium" pitchFamily="34" charset="-120"/>
              </a:rPr>
              <a:t>₹499–₹699 / location / month</a:t>
            </a:r>
            <a:endParaRPr lang="en-US" sz="950" dirty="0"/>
          </a:p>
          <a:p>
            <a:pPr marL="0" indent="0">
              <a:lnSpc>
                <a:spcPct val="105000"/>
              </a:lnSpc>
              <a:spcAft>
                <a:spcPts val="400"/>
              </a:spcAft>
              <a:buNone/>
            </a:pPr>
            <a:r>
              <a:rPr lang="en-US" sz="950" dirty="0">
                <a:solidFill>
                  <a:srgbClr val="A9A59C"/>
                </a:solidFill>
                <a:latin typeface="Satoshi" pitchFamily="34" charset="0"/>
                <a:ea typeface="Satoshi" pitchFamily="34" charset="-122"/>
                <a:cs typeface="Satoshi" pitchFamily="34" charset="-120"/>
              </a:rPr>
              <a:t>(hypothesis; willingness-to-pay to be validated with owners)</a:t>
            </a:r>
            <a:endParaRPr lang="en-US" sz="950" dirty="0"/>
          </a:p>
        </p:txBody>
      </p:sp>
      <p:sp>
        <p:nvSpPr>
          <p:cNvPr id="31" name="Shape 29"/>
          <p:cNvSpPr/>
          <p:nvPr/>
        </p:nvSpPr>
        <p:spPr>
          <a:xfrm>
            <a:off x="5349240" y="2788920"/>
            <a:ext cx="1645920" cy="1700784"/>
          </a:xfrm>
          <a:prstGeom prst="roundRect">
            <a:avLst>
              <a:gd name="adj" fmla="val 5000"/>
            </a:avLst>
          </a:prstGeom>
          <a:solidFill>
            <a:srgbClr val="131316"/>
          </a:solidFill>
          <a:ln w="9525">
            <a:solidFill>
              <a:srgbClr val="2A2A2F"/>
            </a:solidFill>
            <a:prstDash val="solid"/>
          </a:ln>
        </p:spPr>
      </p:sp>
      <p:sp>
        <p:nvSpPr>
          <p:cNvPr id="32" name="Text 30"/>
          <p:cNvSpPr txBox="1"/>
          <p:nvPr/>
        </p:nvSpPr>
        <p:spPr>
          <a:xfrm>
            <a:off x="5495544" y="2935224"/>
            <a:ext cx="1371600" cy="164592"/>
          </a:xfrm>
          <a:prstGeom prst="rect">
            <a:avLst/>
          </a:prstGeom>
          <a:noFill/>
          <a:ln/>
        </p:spPr>
        <p:txBody>
          <a:bodyPr wrap="square" lIns="0" tIns="0" rIns="0" bIns="0" rtlCol="0" anchor="t"/>
          <a:lstStyle/>
          <a:p>
            <a:pPr marL="0" indent="0">
              <a:buNone/>
            </a:pPr>
            <a:r>
              <a:rPr lang="en-US" sz="750" kern="0" spc="110" dirty="0">
                <a:solidFill>
                  <a:srgbClr val="C6F24E"/>
                </a:solidFill>
                <a:latin typeface="JetBrains Mono" pitchFamily="34" charset="0"/>
                <a:ea typeface="JetBrains Mono" pitchFamily="34" charset="-122"/>
                <a:cs typeface="JetBrains Mono" pitchFamily="34" charset="-120"/>
              </a:rPr>
              <a:t>PLACE</a:t>
            </a:r>
            <a:endParaRPr lang="en-US" sz="750" dirty="0"/>
          </a:p>
        </p:txBody>
      </p:sp>
      <p:sp>
        <p:nvSpPr>
          <p:cNvPr id="33" name="Text 31"/>
          <p:cNvSpPr txBox="1"/>
          <p:nvPr/>
        </p:nvSpPr>
        <p:spPr>
          <a:xfrm>
            <a:off x="5495544" y="3200400"/>
            <a:ext cx="1371600" cy="1188720"/>
          </a:xfrm>
          <a:prstGeom prst="rect">
            <a:avLst/>
          </a:prstGeom>
          <a:noFill/>
          <a:ln/>
        </p:spPr>
        <p:txBody>
          <a:bodyPr wrap="square" lIns="0" tIns="0" rIns="0" bIns="0" rtlCol="0" anchor="t"/>
          <a:lstStyle/>
          <a:p>
            <a:pPr marL="0" indent="0">
              <a:lnSpc>
                <a:spcPct val="105000"/>
              </a:lnSpc>
              <a:spcAft>
                <a:spcPts val="400"/>
              </a:spcAft>
              <a:buNone/>
            </a:pPr>
            <a:r>
              <a:rPr lang="en-US" sz="950" dirty="0">
                <a:solidFill>
                  <a:srgbClr val="F4F1EA"/>
                </a:solidFill>
                <a:latin typeface="Satoshi Medium" pitchFamily="34" charset="0"/>
                <a:ea typeface="Satoshi Medium" pitchFamily="34" charset="-122"/>
                <a:cs typeface="Satoshi Medium" pitchFamily="34" charset="-120"/>
              </a:rPr>
              <a:t>Founder-led local demo</a:t>
            </a:r>
            <a:endParaRPr lang="en-US" sz="950" dirty="0"/>
          </a:p>
          <a:p>
            <a:pPr marL="0" indent="0">
              <a:lnSpc>
                <a:spcPct val="105000"/>
              </a:lnSpc>
              <a:spcAft>
                <a:spcPts val="400"/>
              </a:spcAft>
              <a:buNone/>
            </a:pPr>
            <a:r>
              <a:rPr lang="en-US" sz="950" dirty="0">
                <a:solidFill>
                  <a:srgbClr val="A9A59C"/>
                </a:solidFill>
                <a:latin typeface="Satoshi" pitchFamily="34" charset="0"/>
                <a:ea typeface="Satoshi" pitchFamily="34" charset="-122"/>
                <a:cs typeface="Satoshi" pitchFamily="34" charset="-120"/>
              </a:rPr>
              <a:t>One Hyderabad calendar pilot</a:t>
            </a:r>
            <a:endParaRPr lang="en-US" sz="950" dirty="0"/>
          </a:p>
          <a:p>
            <a:pPr marL="0" indent="0">
              <a:lnSpc>
                <a:spcPct val="105000"/>
              </a:lnSpc>
              <a:spcAft>
                <a:spcPts val="400"/>
              </a:spcAft>
              <a:buNone/>
            </a:pPr>
            <a:r>
              <a:rPr lang="en-US" sz="950" dirty="0">
                <a:solidFill>
                  <a:srgbClr val="A9A59C"/>
                </a:solidFill>
                <a:latin typeface="Satoshi" pitchFamily="34" charset="0"/>
                <a:ea typeface="Satoshi" pitchFamily="34" charset="-122"/>
                <a:cs typeface="Satoshi" pitchFamily="34" charset="-120"/>
              </a:rPr>
              <a:t>Software/consultant referral later</a:t>
            </a:r>
            <a:endParaRPr lang="en-US" sz="950" dirty="0"/>
          </a:p>
        </p:txBody>
      </p:sp>
      <p:sp>
        <p:nvSpPr>
          <p:cNvPr id="34" name="Shape 32"/>
          <p:cNvSpPr/>
          <p:nvPr/>
        </p:nvSpPr>
        <p:spPr>
          <a:xfrm>
            <a:off x="7104888" y="2788920"/>
            <a:ext cx="1645920" cy="1700784"/>
          </a:xfrm>
          <a:prstGeom prst="roundRect">
            <a:avLst>
              <a:gd name="adj" fmla="val 5000"/>
            </a:avLst>
          </a:prstGeom>
          <a:solidFill>
            <a:srgbClr val="131316"/>
          </a:solidFill>
          <a:ln w="9525">
            <a:solidFill>
              <a:srgbClr val="2A2A2F"/>
            </a:solidFill>
            <a:prstDash val="solid"/>
          </a:ln>
        </p:spPr>
      </p:sp>
      <p:sp>
        <p:nvSpPr>
          <p:cNvPr id="35" name="Text 33"/>
          <p:cNvSpPr txBox="1"/>
          <p:nvPr/>
        </p:nvSpPr>
        <p:spPr>
          <a:xfrm>
            <a:off x="7251192" y="2935224"/>
            <a:ext cx="1371600" cy="164592"/>
          </a:xfrm>
          <a:prstGeom prst="rect">
            <a:avLst/>
          </a:prstGeom>
          <a:noFill/>
          <a:ln/>
        </p:spPr>
        <p:txBody>
          <a:bodyPr wrap="square" lIns="0" tIns="0" rIns="0" bIns="0" rtlCol="0" anchor="t"/>
          <a:lstStyle/>
          <a:p>
            <a:pPr marL="0" indent="0">
              <a:buNone/>
            </a:pPr>
            <a:r>
              <a:rPr lang="en-US" sz="750" kern="0" spc="110" dirty="0">
                <a:solidFill>
                  <a:srgbClr val="C6F24E"/>
                </a:solidFill>
                <a:latin typeface="JetBrains Mono" pitchFamily="34" charset="0"/>
                <a:ea typeface="JetBrains Mono" pitchFamily="34" charset="-122"/>
                <a:cs typeface="JetBrains Mono" pitchFamily="34" charset="-120"/>
              </a:rPr>
              <a:t>PROMOTION</a:t>
            </a:r>
            <a:endParaRPr lang="en-US" sz="750" dirty="0"/>
          </a:p>
        </p:txBody>
      </p:sp>
      <p:sp>
        <p:nvSpPr>
          <p:cNvPr id="36" name="Text 34"/>
          <p:cNvSpPr txBox="1"/>
          <p:nvPr/>
        </p:nvSpPr>
        <p:spPr>
          <a:xfrm>
            <a:off x="7251192" y="3200400"/>
            <a:ext cx="1371600" cy="1188720"/>
          </a:xfrm>
          <a:prstGeom prst="rect">
            <a:avLst/>
          </a:prstGeom>
          <a:noFill/>
          <a:ln/>
        </p:spPr>
        <p:txBody>
          <a:bodyPr wrap="square" lIns="0" tIns="0" rIns="0" bIns="0" rtlCol="0" anchor="t"/>
          <a:lstStyle/>
          <a:p>
            <a:pPr marL="0" indent="0">
              <a:lnSpc>
                <a:spcPct val="105000"/>
              </a:lnSpc>
              <a:spcAft>
                <a:spcPts val="400"/>
              </a:spcAft>
              <a:buNone/>
            </a:pPr>
            <a:r>
              <a:rPr lang="en-US" sz="950" dirty="0">
                <a:solidFill>
                  <a:srgbClr val="F4F1EA"/>
                </a:solidFill>
                <a:latin typeface="Satoshi Medium" pitchFamily="34" charset="0"/>
                <a:ea typeface="Satoshi Medium" pitchFamily="34" charset="-122"/>
                <a:cs typeface="Satoshi Medium" pitchFamily="34" charset="-120"/>
              </a:rPr>
              <a:t>Cancellation scenario demo</a:t>
            </a:r>
            <a:endParaRPr lang="en-US" sz="950" dirty="0"/>
          </a:p>
          <a:p>
            <a:pPr marL="0" indent="0">
              <a:lnSpc>
                <a:spcPct val="105000"/>
              </a:lnSpc>
              <a:spcAft>
                <a:spcPts val="400"/>
              </a:spcAft>
              <a:buNone/>
            </a:pPr>
            <a:r>
              <a:rPr lang="en-US" sz="950" dirty="0">
                <a:solidFill>
                  <a:srgbClr val="A9A59C"/>
                </a:solidFill>
                <a:latin typeface="Satoshi" pitchFamily="34" charset="0"/>
                <a:ea typeface="Satoshi" pitchFamily="34" charset="-122"/>
                <a:cs typeface="Satoshi" pitchFamily="34" charset="-120"/>
              </a:rPr>
              <a:t>Recovered-contribution calculator</a:t>
            </a:r>
            <a:endParaRPr lang="en-US" sz="950" dirty="0"/>
          </a:p>
          <a:p>
            <a:pPr marL="0" indent="0">
              <a:lnSpc>
                <a:spcPct val="105000"/>
              </a:lnSpc>
              <a:spcAft>
                <a:spcPts val="400"/>
              </a:spcAft>
              <a:buNone/>
            </a:pPr>
            <a:r>
              <a:rPr lang="en-US" sz="950" dirty="0">
                <a:solidFill>
                  <a:srgbClr val="A9A59C"/>
                </a:solidFill>
                <a:latin typeface="Satoshi" pitchFamily="34" charset="0"/>
                <a:ea typeface="Satoshi" pitchFamily="34" charset="-122"/>
                <a:cs typeface="Satoshi" pitchFamily="34" charset="-120"/>
              </a:rPr>
              <a:t>Consent + collision test proof</a:t>
            </a:r>
            <a:endParaRPr lang="en-US" sz="950" dirty="0"/>
          </a:p>
        </p:txBody>
      </p:sp>
      <p:sp>
        <p:nvSpPr>
          <p:cNvPr id="37" name="Text 35"/>
          <p:cNvSpPr txBox="1"/>
          <p:nvPr/>
        </p:nvSpPr>
        <p:spPr>
          <a:xfrm>
            <a:off x="411480" y="4773168"/>
            <a:ext cx="8321040" cy="164592"/>
          </a:xfrm>
          <a:prstGeom prst="rect">
            <a:avLst/>
          </a:prstGeom>
          <a:noFill/>
          <a:ln/>
        </p:spPr>
        <p:txBody>
          <a:bodyPr wrap="square" lIns="0" tIns="0" rIns="0" bIns="0" rtlCol="0" anchor="t"/>
          <a:lstStyle/>
          <a:p>
            <a:pPr marL="0" indent="0">
              <a:buNone/>
            </a:pPr>
            <a:r>
              <a:rPr lang="en-US" sz="650" dirty="0">
                <a:solidFill>
                  <a:srgbClr val="76736C"/>
                </a:solidFill>
                <a:latin typeface="JetBrains Mono" pitchFamily="34" charset="0"/>
                <a:ea typeface="JetBrains Mono" pitchFamily="34" charset="-122"/>
                <a:cs typeface="JetBrains Mono" pitchFamily="34" charset="-120"/>
              </a:rPr>
              <a:t>Fynd × NMIMS Hyderabad  |  Product &amp; Business Simulation  |  Case C29  |  18 October 2026</a:t>
            </a:r>
            <a:endParaRPr lang="en-US" sz="650" dirty="0"/>
          </a:p>
        </p:txBody>
      </p:sp>
      <p:sp>
        <p:nvSpPr>
          <p:cNvPr id="38" name="Slide Number Placeholder 0"/>
          <p:cNvSpPr>
            <a:spLocks noGrp="1"/>
          </p:cNvSpPr>
          <p:nvPr>
            <p:ph type="sldNum" sz="quarter" idx="4294967295"/>
          </p:nvPr>
        </p:nvSpPr>
        <p:spPr>
          <a:xfrm>
            <a:off x="8577072" y="182880"/>
            <a:ext cx="274320" cy="274320"/>
          </a:xfrm>
          <a:prstGeom prst="rect">
            <a:avLst/>
          </a:prstGeom>
          <a:extLst>
            <a:ext uri="{C572A759-6A51-4108-AA02-DFA0A04FC94B}">
              <ma14:wrappingTextBoxFlag xmlns:ma14="http://schemas.microsoft.com/office/mac/drawingml/2011/main" xmlns="" val="0"/>
            </a:ext>
          </a:extLst>
        </p:spPr>
        <p:txBody>
          <a:bodyPr/>
          <a:lstStyle>
            <a:lvl1pPr>
              <a:defRPr sz="700">
                <a:solidFill>
                  <a:srgbClr val="76736C"/>
                </a:solidFill>
                <a:latin typeface="JetBrains Mono"/>
                <a:ea typeface="JetBrains Mono"/>
                <a:cs typeface="JetBrains Mono"/>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11480" y="237744"/>
            <a:ext cx="6858000" cy="182880"/>
          </a:xfrm>
          <a:prstGeom prst="rect">
            <a:avLst/>
          </a:prstGeom>
          <a:noFill/>
          <a:ln/>
        </p:spPr>
        <p:txBody>
          <a:bodyPr wrap="square" lIns="0" tIns="0" rIns="0" bIns="0" rtlCol="0" anchor="t"/>
          <a:lstStyle/>
          <a:p>
            <a:pPr marL="0" indent="0">
              <a:buNone/>
            </a:pPr>
            <a:r>
              <a:rPr lang="en-US" sz="750" kern="0" spc="110" dirty="0">
                <a:solidFill>
                  <a:srgbClr val="C6F24E"/>
                </a:solidFill>
                <a:latin typeface="JetBrains Mono" pitchFamily="34" charset="0"/>
                <a:ea typeface="JetBrains Mono" pitchFamily="34" charset="-122"/>
                <a:cs typeface="JetBrains Mono" pitchFamily="34" charset="-120"/>
              </a:rPr>
              <a:t>02</a:t>
            </a:r>
            <a:r>
              <a:rPr lang="en-US" sz="750" kern="0" spc="110" dirty="0">
                <a:solidFill>
                  <a:srgbClr val="76736C"/>
                </a:solidFill>
                <a:latin typeface="JetBrains Mono" pitchFamily="34" charset="0"/>
                <a:ea typeface="JetBrains Mono" pitchFamily="34" charset="-122"/>
                <a:cs typeface="JetBrains Mono" pitchFamily="34" charset="-120"/>
              </a:rPr>
              <a:t>  ·  STP &amp; BEACHHEAD</a:t>
            </a:r>
            <a:endParaRPr lang="en-US" sz="750" dirty="0"/>
          </a:p>
        </p:txBody>
      </p:sp>
      <p:sp>
        <p:nvSpPr>
          <p:cNvPr id="3" name="Text 1"/>
          <p:cNvSpPr txBox="1"/>
          <p:nvPr/>
        </p:nvSpPr>
        <p:spPr>
          <a:xfrm>
            <a:off x="411480" y="429768"/>
            <a:ext cx="7680960" cy="457200"/>
          </a:xfrm>
          <a:prstGeom prst="rect">
            <a:avLst/>
          </a:prstGeom>
          <a:noFill/>
          <a:ln/>
        </p:spPr>
        <p:txBody>
          <a:bodyPr wrap="square" lIns="0" tIns="0" rIns="0" bIns="0" rtlCol="0" anchor="ctr"/>
          <a:lstStyle/>
          <a:p>
            <a:pPr marL="0" indent="0">
              <a:buNone/>
            </a:pPr>
            <a:r>
              <a:rPr lang="en-US" sz="2000" dirty="0">
                <a:solidFill>
                  <a:srgbClr val="F4F1EA"/>
                </a:solidFill>
                <a:latin typeface="Clash Display Semibold" pitchFamily="34" charset="0"/>
                <a:ea typeface="Clash Display Semibold" pitchFamily="34" charset="-122"/>
                <a:cs typeface="Clash Display Semibold" pitchFamily="34" charset="-120"/>
              </a:rPr>
              <a:t>Solopreneurs Who Sell Their Time to High-Income Clients</a:t>
            </a:r>
            <a:endParaRPr lang="en-US" sz="2000" dirty="0"/>
          </a:p>
        </p:txBody>
      </p:sp>
      <p:sp>
        <p:nvSpPr>
          <p:cNvPr id="4" name="Shape 2"/>
          <p:cNvSpPr/>
          <p:nvPr/>
        </p:nvSpPr>
        <p:spPr>
          <a:xfrm>
            <a:off x="411480" y="987552"/>
            <a:ext cx="2606040" cy="1828800"/>
          </a:xfrm>
          <a:prstGeom prst="roundRect">
            <a:avLst>
              <a:gd name="adj" fmla="val 4500"/>
            </a:avLst>
          </a:prstGeom>
          <a:solidFill>
            <a:srgbClr val="131316"/>
          </a:solidFill>
          <a:ln w="9525">
            <a:solidFill>
              <a:srgbClr val="2A2A2F"/>
            </a:solidFill>
            <a:prstDash val="solid"/>
          </a:ln>
        </p:spPr>
      </p:sp>
      <p:sp>
        <p:nvSpPr>
          <p:cNvPr id="5" name="Text 3"/>
          <p:cNvSpPr txBox="1"/>
          <p:nvPr/>
        </p:nvSpPr>
        <p:spPr>
          <a:xfrm>
            <a:off x="566928" y="1133856"/>
            <a:ext cx="2286000" cy="164592"/>
          </a:xfrm>
          <a:prstGeom prst="rect">
            <a:avLst/>
          </a:prstGeom>
          <a:noFill/>
          <a:ln/>
        </p:spPr>
        <p:txBody>
          <a:bodyPr wrap="square" lIns="0" tIns="0" rIns="0" bIns="0" rtlCol="0" anchor="t"/>
          <a:lstStyle/>
          <a:p>
            <a:pPr marL="0" indent="0">
              <a:buNone/>
            </a:pPr>
            <a:r>
              <a:rPr lang="en-US" sz="750" kern="0" spc="110" dirty="0">
                <a:solidFill>
                  <a:srgbClr val="C6F24E"/>
                </a:solidFill>
                <a:latin typeface="JetBrains Mono" pitchFamily="34" charset="0"/>
                <a:ea typeface="JetBrains Mono" pitchFamily="34" charset="-122"/>
                <a:cs typeface="JetBrains Mono" pitchFamily="34" charset="-120"/>
              </a:rPr>
              <a:t>PSYCHOGRAPHIC INSIGHT</a:t>
            </a:r>
            <a:endParaRPr lang="en-US" sz="750" dirty="0"/>
          </a:p>
        </p:txBody>
      </p:sp>
      <p:sp>
        <p:nvSpPr>
          <p:cNvPr id="6" name="Text 4"/>
          <p:cNvSpPr txBox="1"/>
          <p:nvPr/>
        </p:nvSpPr>
        <p:spPr>
          <a:xfrm>
            <a:off x="566928" y="1371600"/>
            <a:ext cx="2331720" cy="365760"/>
          </a:xfrm>
          <a:prstGeom prst="rect">
            <a:avLst/>
          </a:prstGeom>
          <a:noFill/>
          <a:ln/>
        </p:spPr>
        <p:txBody>
          <a:bodyPr wrap="square" lIns="0" tIns="0" rIns="0" bIns="0" rtlCol="0" anchor="t"/>
          <a:lstStyle/>
          <a:p>
            <a:pPr marL="0" indent="0">
              <a:buNone/>
            </a:pPr>
            <a:r>
              <a:rPr lang="en-US" sz="1500" dirty="0">
                <a:solidFill>
                  <a:srgbClr val="F4F1EA"/>
                </a:solidFill>
                <a:latin typeface="Clash Display Semibold" pitchFamily="34" charset="0"/>
                <a:ea typeface="Clash Display Semibold" pitchFamily="34" charset="-122"/>
                <a:cs typeface="Clash Display Semibold" pitchFamily="34" charset="-120"/>
              </a:rPr>
              <a:t>"Rich people value time."</a:t>
            </a:r>
            <a:endParaRPr lang="en-US" sz="1500" dirty="0"/>
          </a:p>
        </p:txBody>
      </p:sp>
      <p:sp>
        <p:nvSpPr>
          <p:cNvPr id="7" name="Text 5"/>
          <p:cNvSpPr txBox="1"/>
          <p:nvPr/>
        </p:nvSpPr>
        <p:spPr>
          <a:xfrm>
            <a:off x="566928" y="1828800"/>
            <a:ext cx="2331720" cy="868680"/>
          </a:xfrm>
          <a:prstGeom prst="rect">
            <a:avLst/>
          </a:prstGeom>
          <a:noFill/>
          <a:ln/>
        </p:spPr>
        <p:txBody>
          <a:bodyPr wrap="square" lIns="0" tIns="0" rIns="0" bIns="0" rtlCol="0" anchor="t"/>
          <a:lstStyle/>
          <a:p>
            <a:pPr marL="0" indent="0">
              <a:lnSpc>
                <a:spcPct val="110000"/>
              </a:lnSpc>
              <a:buNone/>
            </a:pPr>
            <a:r>
              <a:rPr lang="en-US" sz="950" dirty="0">
                <a:solidFill>
                  <a:srgbClr val="A9A59C"/>
                </a:solidFill>
                <a:latin typeface="Satoshi" pitchFamily="34" charset="0"/>
                <a:ea typeface="Satoshi" pitchFamily="34" charset="-122"/>
                <a:cs typeface="Satoshi" pitchFamily="34" charset="-120"/>
              </a:rPr>
              <a:t>End customers who book premium salons place high value on convenience — making a relevant, opt-in waitlist offer credible.</a:t>
            </a:r>
            <a:endParaRPr lang="en-US" sz="950" dirty="0"/>
          </a:p>
        </p:txBody>
      </p:sp>
      <p:sp>
        <p:nvSpPr>
          <p:cNvPr id="8" name="Text 6"/>
          <p:cNvSpPr txBox="1"/>
          <p:nvPr/>
        </p:nvSpPr>
        <p:spPr>
          <a:xfrm>
            <a:off x="3200400" y="1014984"/>
            <a:ext cx="777240" cy="182880"/>
          </a:xfrm>
          <a:prstGeom prst="rect">
            <a:avLst/>
          </a:prstGeom>
          <a:noFill/>
          <a:ln/>
        </p:spPr>
        <p:txBody>
          <a:bodyPr wrap="square" lIns="0" tIns="0" rIns="0" bIns="0" rtlCol="0" anchor="t"/>
          <a:lstStyle/>
          <a:p>
            <a:pPr marL="0" indent="0">
              <a:buNone/>
            </a:pPr>
            <a:r>
              <a:rPr lang="en-US" sz="750" kern="0" spc="150" dirty="0">
                <a:solidFill>
                  <a:srgbClr val="C6F24E"/>
                </a:solidFill>
                <a:latin typeface="JetBrains Mono" pitchFamily="34" charset="0"/>
                <a:ea typeface="JetBrains Mono" pitchFamily="34" charset="-122"/>
                <a:cs typeface="JetBrains Mono" pitchFamily="34" charset="-120"/>
              </a:rPr>
              <a:t>SEGMENT</a:t>
            </a:r>
            <a:endParaRPr lang="en-US" sz="750" dirty="0"/>
          </a:p>
        </p:txBody>
      </p:sp>
      <p:sp>
        <p:nvSpPr>
          <p:cNvPr id="9" name="Text 7"/>
          <p:cNvSpPr txBox="1"/>
          <p:nvPr/>
        </p:nvSpPr>
        <p:spPr>
          <a:xfrm>
            <a:off x="3977640" y="987552"/>
            <a:ext cx="1965960" cy="566928"/>
          </a:xfrm>
          <a:prstGeom prst="rect">
            <a:avLst/>
          </a:prstGeom>
          <a:noFill/>
          <a:ln/>
        </p:spPr>
        <p:txBody>
          <a:bodyPr wrap="square" lIns="0" tIns="0" rIns="0" bIns="0" rtlCol="0" anchor="t"/>
          <a:lstStyle/>
          <a:p>
            <a:pPr marL="0" indent="0">
              <a:lnSpc>
                <a:spcPct val="105000"/>
              </a:lnSpc>
              <a:buNone/>
            </a:pPr>
            <a:r>
              <a:rPr lang="en-US" sz="850" dirty="0">
                <a:solidFill>
                  <a:srgbClr val="F4F1EA"/>
                </a:solidFill>
                <a:latin typeface="Satoshi" pitchFamily="34" charset="0"/>
                <a:ea typeface="Satoshi" pitchFamily="34" charset="-122"/>
                <a:cs typeface="Satoshi" pitchFamily="34" charset="-120"/>
              </a:rPr>
              <a:t>Independent salons, recurring appointments, service-duration constraints. Tutoring centres: adjacent, later.</a:t>
            </a:r>
            <a:endParaRPr lang="en-US" sz="850" dirty="0"/>
          </a:p>
        </p:txBody>
      </p:sp>
      <p:sp>
        <p:nvSpPr>
          <p:cNvPr id="10" name="Shape 8"/>
          <p:cNvSpPr/>
          <p:nvPr/>
        </p:nvSpPr>
        <p:spPr>
          <a:xfrm>
            <a:off x="3200400" y="1572768"/>
            <a:ext cx="2743200" cy="0"/>
          </a:xfrm>
          <a:prstGeom prst="line">
            <a:avLst/>
          </a:prstGeom>
          <a:noFill/>
          <a:ln w="9525">
            <a:solidFill>
              <a:srgbClr val="2A2A2F"/>
            </a:solidFill>
            <a:prstDash val="solid"/>
          </a:ln>
        </p:spPr>
      </p:sp>
      <p:sp>
        <p:nvSpPr>
          <p:cNvPr id="11" name="Text 9"/>
          <p:cNvSpPr txBox="1"/>
          <p:nvPr/>
        </p:nvSpPr>
        <p:spPr>
          <a:xfrm>
            <a:off x="3200400" y="1636776"/>
            <a:ext cx="777240" cy="182880"/>
          </a:xfrm>
          <a:prstGeom prst="rect">
            <a:avLst/>
          </a:prstGeom>
          <a:noFill/>
          <a:ln/>
        </p:spPr>
        <p:txBody>
          <a:bodyPr wrap="square" lIns="0" tIns="0" rIns="0" bIns="0" rtlCol="0" anchor="t"/>
          <a:lstStyle/>
          <a:p>
            <a:pPr marL="0" indent="0">
              <a:buNone/>
            </a:pPr>
            <a:r>
              <a:rPr lang="en-US" sz="750" kern="0" spc="150" dirty="0">
                <a:solidFill>
                  <a:srgbClr val="C6F24E"/>
                </a:solidFill>
                <a:latin typeface="JetBrains Mono" pitchFamily="34" charset="0"/>
                <a:ea typeface="JetBrains Mono" pitchFamily="34" charset="-122"/>
                <a:cs typeface="JetBrains Mono" pitchFamily="34" charset="-120"/>
              </a:rPr>
              <a:t>TARGET</a:t>
            </a:r>
            <a:endParaRPr lang="en-US" sz="750" dirty="0"/>
          </a:p>
        </p:txBody>
      </p:sp>
      <p:sp>
        <p:nvSpPr>
          <p:cNvPr id="12" name="Text 10"/>
          <p:cNvSpPr txBox="1"/>
          <p:nvPr/>
        </p:nvSpPr>
        <p:spPr>
          <a:xfrm>
            <a:off x="3977640" y="1609344"/>
            <a:ext cx="1965960" cy="566928"/>
          </a:xfrm>
          <a:prstGeom prst="rect">
            <a:avLst/>
          </a:prstGeom>
          <a:noFill/>
          <a:ln/>
        </p:spPr>
        <p:txBody>
          <a:bodyPr wrap="square" lIns="0" tIns="0" rIns="0" bIns="0" rtlCol="0" anchor="t"/>
          <a:lstStyle/>
          <a:p>
            <a:pPr marL="0" indent="0">
              <a:lnSpc>
                <a:spcPct val="105000"/>
              </a:lnSpc>
              <a:buNone/>
            </a:pPr>
            <a:r>
              <a:rPr lang="en-US" sz="850" dirty="0">
                <a:solidFill>
                  <a:srgbClr val="F4F1EA"/>
                </a:solidFill>
                <a:latin typeface="Satoshi" pitchFamily="34" charset="0"/>
                <a:ea typeface="Satoshi" pitchFamily="34" charset="-122"/>
                <a:cs typeface="Satoshi" pitchFamily="34" charset="-120"/>
              </a:rPr>
              <a:t>Owner-operated 1-location salon (3–15 staff). Recurring cancellations. Some waitlist demand. Hyderabad-first.</a:t>
            </a:r>
            <a:endParaRPr lang="en-US" sz="850" dirty="0"/>
          </a:p>
        </p:txBody>
      </p:sp>
      <p:sp>
        <p:nvSpPr>
          <p:cNvPr id="13" name="Shape 11"/>
          <p:cNvSpPr/>
          <p:nvPr/>
        </p:nvSpPr>
        <p:spPr>
          <a:xfrm>
            <a:off x="3200400" y="2194560"/>
            <a:ext cx="2743200" cy="0"/>
          </a:xfrm>
          <a:prstGeom prst="line">
            <a:avLst/>
          </a:prstGeom>
          <a:noFill/>
          <a:ln w="9525">
            <a:solidFill>
              <a:srgbClr val="2A2A2F"/>
            </a:solidFill>
            <a:prstDash val="solid"/>
          </a:ln>
        </p:spPr>
      </p:sp>
      <p:sp>
        <p:nvSpPr>
          <p:cNvPr id="14" name="Text 12"/>
          <p:cNvSpPr txBox="1"/>
          <p:nvPr/>
        </p:nvSpPr>
        <p:spPr>
          <a:xfrm>
            <a:off x="3200400" y="2258568"/>
            <a:ext cx="777240" cy="182880"/>
          </a:xfrm>
          <a:prstGeom prst="rect">
            <a:avLst/>
          </a:prstGeom>
          <a:noFill/>
          <a:ln/>
        </p:spPr>
        <p:txBody>
          <a:bodyPr wrap="square" lIns="0" tIns="0" rIns="0" bIns="0" rtlCol="0" anchor="t"/>
          <a:lstStyle/>
          <a:p>
            <a:pPr marL="0" indent="0">
              <a:buNone/>
            </a:pPr>
            <a:r>
              <a:rPr lang="en-US" sz="750" kern="0" spc="150" dirty="0">
                <a:solidFill>
                  <a:srgbClr val="C6F24E"/>
                </a:solidFill>
                <a:latin typeface="JetBrains Mono" pitchFamily="34" charset="0"/>
                <a:ea typeface="JetBrains Mono" pitchFamily="34" charset="-122"/>
                <a:cs typeface="JetBrains Mono" pitchFamily="34" charset="-120"/>
              </a:rPr>
              <a:t>POSITION</a:t>
            </a:r>
            <a:endParaRPr lang="en-US" sz="750" dirty="0"/>
          </a:p>
        </p:txBody>
      </p:sp>
      <p:sp>
        <p:nvSpPr>
          <p:cNvPr id="15" name="Text 13"/>
          <p:cNvSpPr txBox="1"/>
          <p:nvPr/>
        </p:nvSpPr>
        <p:spPr>
          <a:xfrm>
            <a:off x="3977640" y="2231136"/>
            <a:ext cx="1965960" cy="566928"/>
          </a:xfrm>
          <a:prstGeom prst="rect">
            <a:avLst/>
          </a:prstGeom>
          <a:noFill/>
          <a:ln/>
        </p:spPr>
        <p:txBody>
          <a:bodyPr wrap="square" lIns="0" tIns="0" rIns="0" bIns="0" rtlCol="0" anchor="t"/>
          <a:lstStyle/>
          <a:p>
            <a:pPr marL="0" indent="0">
              <a:lnSpc>
                <a:spcPct val="105000"/>
              </a:lnSpc>
              <a:buNone/>
            </a:pPr>
            <a:r>
              <a:rPr lang="en-US" sz="850" dirty="0">
                <a:solidFill>
                  <a:srgbClr val="F4F1EA"/>
                </a:solidFill>
                <a:latin typeface="Satoshi" pitchFamily="34" charset="0"/>
                <a:ea typeface="Satoshi" pitchFamily="34" charset="-122"/>
                <a:cs typeface="Satoshi" pitchFamily="34" charset="-120"/>
              </a:rPr>
              <a:t>Recovery-first, consent-first. Not a full salon ERP. Narrow job: fill eligible slots without overbooking or unauthorised outreach.</a:t>
            </a:r>
            <a:endParaRPr lang="en-US" sz="850" dirty="0"/>
          </a:p>
        </p:txBody>
      </p:sp>
      <p:sp>
        <p:nvSpPr>
          <p:cNvPr id="16" name="Shape 14"/>
          <p:cNvSpPr/>
          <p:nvPr/>
        </p:nvSpPr>
        <p:spPr>
          <a:xfrm>
            <a:off x="6126480" y="987552"/>
            <a:ext cx="2651760" cy="1828800"/>
          </a:xfrm>
          <a:prstGeom prst="roundRect">
            <a:avLst>
              <a:gd name="adj" fmla="val 4500"/>
            </a:avLst>
          </a:prstGeom>
          <a:solidFill>
            <a:srgbClr val="131316"/>
          </a:solidFill>
          <a:ln w="9525">
            <a:solidFill>
              <a:srgbClr val="2A2A2F"/>
            </a:solidFill>
            <a:prstDash val="solid"/>
          </a:ln>
        </p:spPr>
      </p:sp>
      <p:sp>
        <p:nvSpPr>
          <p:cNvPr id="17" name="Text 15"/>
          <p:cNvSpPr txBox="1"/>
          <p:nvPr/>
        </p:nvSpPr>
        <p:spPr>
          <a:xfrm>
            <a:off x="6272784" y="1133856"/>
            <a:ext cx="2423160" cy="164592"/>
          </a:xfrm>
          <a:prstGeom prst="rect">
            <a:avLst/>
          </a:prstGeom>
          <a:noFill/>
          <a:ln/>
        </p:spPr>
        <p:txBody>
          <a:bodyPr wrap="square" lIns="0" tIns="0" rIns="0" bIns="0" rtlCol="0" anchor="t"/>
          <a:lstStyle/>
          <a:p>
            <a:pPr marL="0" indent="0">
              <a:buNone/>
            </a:pPr>
            <a:r>
              <a:rPr lang="en-US" sz="680" kern="0" spc="60" dirty="0">
                <a:solidFill>
                  <a:srgbClr val="FFB547"/>
                </a:solidFill>
                <a:latin typeface="JetBrains Mono" pitchFamily="34" charset="0"/>
                <a:ea typeface="JetBrains Mono" pitchFamily="34" charset="-122"/>
                <a:cs typeface="JetBrains Mono" pitchFamily="34" charset="-120"/>
              </a:rPr>
              <a:t>BEACHHEAD: INDEPENDENT SALONS</a:t>
            </a:r>
            <a:endParaRPr lang="en-US" sz="680" dirty="0"/>
          </a:p>
        </p:txBody>
      </p:sp>
      <p:sp>
        <p:nvSpPr>
          <p:cNvPr id="18" name="Text 16"/>
          <p:cNvSpPr txBox="1"/>
          <p:nvPr/>
        </p:nvSpPr>
        <p:spPr>
          <a:xfrm>
            <a:off x="6272784" y="1371600"/>
            <a:ext cx="731520" cy="201168"/>
          </a:xfrm>
          <a:prstGeom prst="rect">
            <a:avLst/>
          </a:prstGeom>
          <a:noFill/>
          <a:ln/>
        </p:spPr>
        <p:txBody>
          <a:bodyPr wrap="square" lIns="0" tIns="0" rIns="0" bIns="0" rtlCol="0" anchor="t"/>
          <a:lstStyle/>
          <a:p>
            <a:pPr marL="0" indent="0">
              <a:buNone/>
            </a:pPr>
            <a:r>
              <a:rPr lang="en-US" sz="730" dirty="0">
                <a:solidFill>
                  <a:srgbClr val="76736C"/>
                </a:solidFill>
                <a:latin typeface="Satoshi" pitchFamily="34" charset="0"/>
                <a:ea typeface="Satoshi" pitchFamily="34" charset="-122"/>
                <a:cs typeface="Satoshi" pitchFamily="34" charset="-120"/>
              </a:rPr>
              <a:t>Sector</a:t>
            </a:r>
            <a:endParaRPr lang="en-US" sz="730" dirty="0"/>
          </a:p>
        </p:txBody>
      </p:sp>
      <p:sp>
        <p:nvSpPr>
          <p:cNvPr id="19" name="Text 17"/>
          <p:cNvSpPr txBox="1"/>
          <p:nvPr/>
        </p:nvSpPr>
        <p:spPr>
          <a:xfrm>
            <a:off x="6967728" y="1371600"/>
            <a:ext cx="1783080" cy="201168"/>
          </a:xfrm>
          <a:prstGeom prst="rect">
            <a:avLst/>
          </a:prstGeom>
          <a:noFill/>
          <a:ln/>
        </p:spPr>
        <p:txBody>
          <a:bodyPr wrap="square" lIns="0" tIns="0" rIns="0" bIns="0" rtlCol="0" anchor="t"/>
          <a:lstStyle/>
          <a:p>
            <a:pPr marL="0" indent="0">
              <a:buNone/>
            </a:pPr>
            <a:r>
              <a:rPr lang="en-US" sz="730" dirty="0">
                <a:solidFill>
                  <a:srgbClr val="F4F1EA"/>
                </a:solidFill>
                <a:latin typeface="Satoshi" pitchFamily="34" charset="0"/>
                <a:ea typeface="Satoshi" pitchFamily="34" charset="-122"/>
                <a:cs typeface="Satoshi" pitchFamily="34" charset="-120"/>
              </a:rPr>
              <a:t>Independent salon · Recurring appts</a:t>
            </a:r>
            <a:endParaRPr lang="en-US" sz="730" dirty="0"/>
          </a:p>
        </p:txBody>
      </p:sp>
      <p:sp>
        <p:nvSpPr>
          <p:cNvPr id="20" name="Text 18"/>
          <p:cNvSpPr txBox="1"/>
          <p:nvPr/>
        </p:nvSpPr>
        <p:spPr>
          <a:xfrm>
            <a:off x="6272784" y="1604772"/>
            <a:ext cx="731520" cy="201168"/>
          </a:xfrm>
          <a:prstGeom prst="rect">
            <a:avLst/>
          </a:prstGeom>
          <a:noFill/>
          <a:ln/>
        </p:spPr>
        <p:txBody>
          <a:bodyPr wrap="square" lIns="0" tIns="0" rIns="0" bIns="0" rtlCol="0" anchor="t"/>
          <a:lstStyle/>
          <a:p>
            <a:pPr marL="0" indent="0">
              <a:buNone/>
            </a:pPr>
            <a:r>
              <a:rPr lang="en-US" sz="730" dirty="0">
                <a:solidFill>
                  <a:srgbClr val="76736C"/>
                </a:solidFill>
                <a:latin typeface="Satoshi" pitchFamily="34" charset="0"/>
                <a:ea typeface="Satoshi" pitchFamily="34" charset="-122"/>
                <a:cs typeface="Satoshi" pitchFamily="34" charset="-120"/>
              </a:rPr>
              <a:t>Footprint</a:t>
            </a:r>
            <a:endParaRPr lang="en-US" sz="730" dirty="0"/>
          </a:p>
        </p:txBody>
      </p:sp>
      <p:sp>
        <p:nvSpPr>
          <p:cNvPr id="21" name="Text 19"/>
          <p:cNvSpPr txBox="1"/>
          <p:nvPr/>
        </p:nvSpPr>
        <p:spPr>
          <a:xfrm>
            <a:off x="6967728" y="1604772"/>
            <a:ext cx="1783080" cy="201168"/>
          </a:xfrm>
          <a:prstGeom prst="rect">
            <a:avLst/>
          </a:prstGeom>
          <a:noFill/>
          <a:ln/>
        </p:spPr>
        <p:txBody>
          <a:bodyPr wrap="square" lIns="0" tIns="0" rIns="0" bIns="0" rtlCol="0" anchor="t"/>
          <a:lstStyle/>
          <a:p>
            <a:pPr marL="0" indent="0">
              <a:buNone/>
            </a:pPr>
            <a:r>
              <a:rPr lang="en-US" sz="730" dirty="0">
                <a:solidFill>
                  <a:srgbClr val="F4F1EA"/>
                </a:solidFill>
                <a:latin typeface="Satoshi" pitchFamily="34" charset="0"/>
                <a:ea typeface="Satoshi" pitchFamily="34" charset="-122"/>
                <a:cs typeface="Satoshi" pitchFamily="34" charset="-120"/>
              </a:rPr>
              <a:t>One location · 3–15 bookable staff</a:t>
            </a:r>
            <a:endParaRPr lang="en-US" sz="730" dirty="0"/>
          </a:p>
        </p:txBody>
      </p:sp>
      <p:sp>
        <p:nvSpPr>
          <p:cNvPr id="22" name="Text 20"/>
          <p:cNvSpPr txBox="1"/>
          <p:nvPr/>
        </p:nvSpPr>
        <p:spPr>
          <a:xfrm>
            <a:off x="6272784" y="1837944"/>
            <a:ext cx="731520" cy="201168"/>
          </a:xfrm>
          <a:prstGeom prst="rect">
            <a:avLst/>
          </a:prstGeom>
          <a:noFill/>
          <a:ln/>
        </p:spPr>
        <p:txBody>
          <a:bodyPr wrap="square" lIns="0" tIns="0" rIns="0" bIns="0" rtlCol="0" anchor="t"/>
          <a:lstStyle/>
          <a:p>
            <a:pPr marL="0" indent="0">
              <a:buNone/>
            </a:pPr>
            <a:r>
              <a:rPr lang="en-US" sz="730" dirty="0">
                <a:solidFill>
                  <a:srgbClr val="76736C"/>
                </a:solidFill>
                <a:latin typeface="Satoshi" pitchFamily="34" charset="0"/>
                <a:ea typeface="Satoshi" pitchFamily="34" charset="-122"/>
                <a:cs typeface="Satoshi" pitchFamily="34" charset="-120"/>
              </a:rPr>
              <a:t>Cancellations</a:t>
            </a:r>
            <a:endParaRPr lang="en-US" sz="730" dirty="0"/>
          </a:p>
        </p:txBody>
      </p:sp>
      <p:sp>
        <p:nvSpPr>
          <p:cNvPr id="23" name="Text 21"/>
          <p:cNvSpPr txBox="1"/>
          <p:nvPr/>
        </p:nvSpPr>
        <p:spPr>
          <a:xfrm>
            <a:off x="6967728" y="1837944"/>
            <a:ext cx="1783080" cy="201168"/>
          </a:xfrm>
          <a:prstGeom prst="rect">
            <a:avLst/>
          </a:prstGeom>
          <a:noFill/>
          <a:ln/>
        </p:spPr>
        <p:txBody>
          <a:bodyPr wrap="square" lIns="0" tIns="0" rIns="0" bIns="0" rtlCol="0" anchor="t"/>
          <a:lstStyle/>
          <a:p>
            <a:pPr marL="0" indent="0">
              <a:buNone/>
            </a:pPr>
            <a:r>
              <a:rPr lang="en-US" sz="730" dirty="0">
                <a:solidFill>
                  <a:srgbClr val="F4F1EA"/>
                </a:solidFill>
                <a:latin typeface="Satoshi" pitchFamily="34" charset="0"/>
                <a:ea typeface="Satoshi" pitchFamily="34" charset="-122"/>
                <a:cs typeface="Satoshi" pitchFamily="34" charset="-120"/>
              </a:rPr>
              <a:t>Recurring eligible · Measurable capacity</a:t>
            </a:r>
            <a:endParaRPr lang="en-US" sz="730" dirty="0"/>
          </a:p>
        </p:txBody>
      </p:sp>
      <p:sp>
        <p:nvSpPr>
          <p:cNvPr id="24" name="Text 22"/>
          <p:cNvSpPr txBox="1"/>
          <p:nvPr/>
        </p:nvSpPr>
        <p:spPr>
          <a:xfrm>
            <a:off x="6272784" y="2071116"/>
            <a:ext cx="731520" cy="201168"/>
          </a:xfrm>
          <a:prstGeom prst="rect">
            <a:avLst/>
          </a:prstGeom>
          <a:noFill/>
          <a:ln/>
        </p:spPr>
        <p:txBody>
          <a:bodyPr wrap="square" lIns="0" tIns="0" rIns="0" bIns="0" rtlCol="0" anchor="t"/>
          <a:lstStyle/>
          <a:p>
            <a:pPr marL="0" indent="0">
              <a:buNone/>
            </a:pPr>
            <a:r>
              <a:rPr lang="en-US" sz="730" dirty="0">
                <a:solidFill>
                  <a:srgbClr val="76736C"/>
                </a:solidFill>
                <a:latin typeface="Satoshi" pitchFamily="34" charset="0"/>
                <a:ea typeface="Satoshi" pitchFamily="34" charset="-122"/>
                <a:cs typeface="Satoshi" pitchFamily="34" charset="-120"/>
              </a:rPr>
              <a:t>Waitlist</a:t>
            </a:r>
            <a:endParaRPr lang="en-US" sz="730" dirty="0"/>
          </a:p>
        </p:txBody>
      </p:sp>
      <p:sp>
        <p:nvSpPr>
          <p:cNvPr id="25" name="Text 23"/>
          <p:cNvSpPr txBox="1"/>
          <p:nvPr/>
        </p:nvSpPr>
        <p:spPr>
          <a:xfrm>
            <a:off x="6967728" y="2071116"/>
            <a:ext cx="1783080" cy="201168"/>
          </a:xfrm>
          <a:prstGeom prst="rect">
            <a:avLst/>
          </a:prstGeom>
          <a:noFill/>
          <a:ln/>
        </p:spPr>
        <p:txBody>
          <a:bodyPr wrap="square" lIns="0" tIns="0" rIns="0" bIns="0" rtlCol="0" anchor="t"/>
          <a:lstStyle/>
          <a:p>
            <a:pPr marL="0" indent="0">
              <a:buNone/>
            </a:pPr>
            <a:r>
              <a:rPr lang="en-US" sz="730" dirty="0">
                <a:solidFill>
                  <a:srgbClr val="F4F1EA"/>
                </a:solidFill>
                <a:latin typeface="Satoshi" pitchFamily="34" charset="0"/>
                <a:ea typeface="Satoshi" pitchFamily="34" charset="-122"/>
                <a:cs typeface="Satoshi" pitchFamily="34" charset="-120"/>
              </a:rPr>
              <a:t>Customers willing to opt in</a:t>
            </a:r>
            <a:endParaRPr lang="en-US" sz="730" dirty="0"/>
          </a:p>
        </p:txBody>
      </p:sp>
      <p:sp>
        <p:nvSpPr>
          <p:cNvPr id="26" name="Text 24"/>
          <p:cNvSpPr txBox="1"/>
          <p:nvPr/>
        </p:nvSpPr>
        <p:spPr>
          <a:xfrm>
            <a:off x="6272784" y="2304288"/>
            <a:ext cx="731520" cy="201168"/>
          </a:xfrm>
          <a:prstGeom prst="rect">
            <a:avLst/>
          </a:prstGeom>
          <a:noFill/>
          <a:ln/>
        </p:spPr>
        <p:txBody>
          <a:bodyPr wrap="square" lIns="0" tIns="0" rIns="0" bIns="0" rtlCol="0" anchor="t"/>
          <a:lstStyle/>
          <a:p>
            <a:pPr marL="0" indent="0">
              <a:buNone/>
            </a:pPr>
            <a:r>
              <a:rPr lang="en-US" sz="730" dirty="0">
                <a:solidFill>
                  <a:srgbClr val="76736C"/>
                </a:solidFill>
                <a:latin typeface="Satoshi" pitchFamily="34" charset="0"/>
                <a:ea typeface="Satoshi" pitchFamily="34" charset="-122"/>
                <a:cs typeface="Satoshi" pitchFamily="34" charset="-120"/>
              </a:rPr>
              <a:t>Constraints</a:t>
            </a:r>
            <a:endParaRPr lang="en-US" sz="730" dirty="0"/>
          </a:p>
        </p:txBody>
      </p:sp>
      <p:sp>
        <p:nvSpPr>
          <p:cNvPr id="27" name="Text 25"/>
          <p:cNvSpPr txBox="1"/>
          <p:nvPr/>
        </p:nvSpPr>
        <p:spPr>
          <a:xfrm>
            <a:off x="6967728" y="2304288"/>
            <a:ext cx="1783080" cy="201168"/>
          </a:xfrm>
          <a:prstGeom prst="rect">
            <a:avLst/>
          </a:prstGeom>
          <a:noFill/>
          <a:ln/>
        </p:spPr>
        <p:txBody>
          <a:bodyPr wrap="square" lIns="0" tIns="0" rIns="0" bIns="0" rtlCol="0" anchor="t"/>
          <a:lstStyle/>
          <a:p>
            <a:pPr marL="0" indent="0">
              <a:buNone/>
            </a:pPr>
            <a:r>
              <a:rPr lang="en-US" sz="730" dirty="0">
                <a:solidFill>
                  <a:srgbClr val="F4F1EA"/>
                </a:solidFill>
                <a:latin typeface="Satoshi" pitchFamily="34" charset="0"/>
                <a:ea typeface="Satoshi" pitchFamily="34" charset="-122"/>
                <a:cs typeface="Satoshi" pitchFamily="34" charset="-120"/>
              </a:rPr>
              <a:t>Duration + staff skills capturable</a:t>
            </a:r>
            <a:endParaRPr lang="en-US" sz="730" dirty="0"/>
          </a:p>
        </p:txBody>
      </p:sp>
      <p:sp>
        <p:nvSpPr>
          <p:cNvPr id="28" name="Text 26"/>
          <p:cNvSpPr txBox="1"/>
          <p:nvPr/>
        </p:nvSpPr>
        <p:spPr>
          <a:xfrm>
            <a:off x="6272784" y="2537460"/>
            <a:ext cx="731520" cy="201168"/>
          </a:xfrm>
          <a:prstGeom prst="rect">
            <a:avLst/>
          </a:prstGeom>
          <a:noFill/>
          <a:ln/>
        </p:spPr>
        <p:txBody>
          <a:bodyPr wrap="square" lIns="0" tIns="0" rIns="0" bIns="0" rtlCol="0" anchor="t"/>
          <a:lstStyle/>
          <a:p>
            <a:pPr marL="0" indent="0">
              <a:buNone/>
            </a:pPr>
            <a:r>
              <a:rPr lang="en-US" sz="730" dirty="0">
                <a:solidFill>
                  <a:srgbClr val="76736C"/>
                </a:solidFill>
                <a:latin typeface="Satoshi" pitchFamily="34" charset="0"/>
                <a:ea typeface="Satoshi" pitchFamily="34" charset="-122"/>
                <a:cs typeface="Satoshi" pitchFamily="34" charset="-120"/>
              </a:rPr>
              <a:t>Geography</a:t>
            </a:r>
            <a:endParaRPr lang="en-US" sz="730" dirty="0"/>
          </a:p>
        </p:txBody>
      </p:sp>
      <p:sp>
        <p:nvSpPr>
          <p:cNvPr id="29" name="Text 27"/>
          <p:cNvSpPr txBox="1"/>
          <p:nvPr/>
        </p:nvSpPr>
        <p:spPr>
          <a:xfrm>
            <a:off x="6967728" y="2537460"/>
            <a:ext cx="1783080" cy="201168"/>
          </a:xfrm>
          <a:prstGeom prst="rect">
            <a:avLst/>
          </a:prstGeom>
          <a:noFill/>
          <a:ln/>
        </p:spPr>
        <p:txBody>
          <a:bodyPr wrap="square" lIns="0" tIns="0" rIns="0" bIns="0" rtlCol="0" anchor="t"/>
          <a:lstStyle/>
          <a:p>
            <a:pPr marL="0" indent="0">
              <a:buNone/>
            </a:pPr>
            <a:r>
              <a:rPr lang="en-US" sz="730" dirty="0">
                <a:solidFill>
                  <a:srgbClr val="F4F1EA"/>
                </a:solidFill>
                <a:latin typeface="Satoshi" pitchFamily="34" charset="0"/>
                <a:ea typeface="Satoshi" pitchFamily="34" charset="-122"/>
                <a:cs typeface="Satoshi" pitchFamily="34" charset="-120"/>
              </a:rPr>
              <a:t>One Hyderabad cluster first</a:t>
            </a:r>
            <a:endParaRPr lang="en-US" sz="730" dirty="0"/>
          </a:p>
        </p:txBody>
      </p:sp>
      <p:sp>
        <p:nvSpPr>
          <p:cNvPr id="30" name="Shape 28"/>
          <p:cNvSpPr/>
          <p:nvPr/>
        </p:nvSpPr>
        <p:spPr>
          <a:xfrm>
            <a:off x="411480" y="2971800"/>
            <a:ext cx="4114800" cy="1719072"/>
          </a:xfrm>
          <a:prstGeom prst="roundRect">
            <a:avLst>
              <a:gd name="adj" fmla="val 4787"/>
            </a:avLst>
          </a:prstGeom>
          <a:solidFill>
            <a:srgbClr val="131316"/>
          </a:solidFill>
          <a:ln w="9525">
            <a:solidFill>
              <a:srgbClr val="2A2A2F"/>
            </a:solidFill>
            <a:prstDash val="solid"/>
          </a:ln>
        </p:spPr>
      </p:sp>
      <p:sp>
        <p:nvSpPr>
          <p:cNvPr id="31" name="Shape 29"/>
          <p:cNvSpPr/>
          <p:nvPr/>
        </p:nvSpPr>
        <p:spPr>
          <a:xfrm>
            <a:off x="576072" y="3172968"/>
            <a:ext cx="91440" cy="91440"/>
          </a:xfrm>
          <a:prstGeom prst="ellipse">
            <a:avLst/>
          </a:prstGeom>
          <a:solidFill>
            <a:srgbClr val="C6F24E"/>
          </a:solidFill>
          <a:ln w="12700">
            <a:solidFill>
              <a:srgbClr val="C6F24E"/>
            </a:solidFill>
            <a:prstDash val="solid"/>
          </a:ln>
        </p:spPr>
      </p:sp>
      <p:sp>
        <p:nvSpPr>
          <p:cNvPr id="32" name="Text 30"/>
          <p:cNvSpPr txBox="1"/>
          <p:nvPr/>
        </p:nvSpPr>
        <p:spPr>
          <a:xfrm>
            <a:off x="740664" y="3081528"/>
            <a:ext cx="3108960" cy="256032"/>
          </a:xfrm>
          <a:prstGeom prst="rect">
            <a:avLst/>
          </a:prstGeom>
          <a:noFill/>
          <a:ln/>
        </p:spPr>
        <p:txBody>
          <a:bodyPr wrap="square" lIns="0" tIns="0" rIns="0" bIns="0" rtlCol="0" anchor="ctr"/>
          <a:lstStyle/>
          <a:p>
            <a:pPr marL="0" indent="0">
              <a:buNone/>
            </a:pPr>
            <a:r>
              <a:rPr lang="en-US" sz="1300" dirty="0">
                <a:solidFill>
                  <a:srgbClr val="F4F1EA"/>
                </a:solidFill>
                <a:latin typeface="Clash Display Semibold" pitchFamily="34" charset="0"/>
                <a:ea typeface="Clash Display Semibold" pitchFamily="34" charset="-122"/>
                <a:cs typeface="Clash Display Semibold" pitchFamily="34" charset="-120"/>
              </a:rPr>
              <a:t>P1 — Business side</a:t>
            </a:r>
            <a:endParaRPr lang="en-US" sz="1300" dirty="0"/>
          </a:p>
        </p:txBody>
      </p:sp>
      <p:sp>
        <p:nvSpPr>
          <p:cNvPr id="33" name="Shape 31"/>
          <p:cNvSpPr/>
          <p:nvPr/>
        </p:nvSpPr>
        <p:spPr>
          <a:xfrm>
            <a:off x="4014216" y="3099816"/>
            <a:ext cx="384048" cy="384048"/>
          </a:xfrm>
          <a:prstGeom prst="ellipse">
            <a:avLst/>
          </a:prstGeom>
          <a:solidFill>
            <a:srgbClr val="1C2410"/>
          </a:solidFill>
          <a:ln w="12700">
            <a:solidFill>
              <a:srgbClr val="1C2410"/>
            </a:solidFill>
            <a:prstDash val="solid"/>
          </a:ln>
        </p:spPr>
      </p:sp>
      <p:pic>
        <p:nvPicPr>
          <p:cNvPr id="34" name="Image 0" descr="Business owner icon"/>
          <p:cNvPicPr>
            <a:picLocks noChangeAspect="1"/>
          </p:cNvPicPr>
          <p:nvPr/>
        </p:nvPicPr>
        <p:blipFill>
          <a:blip r:embed="rId3"/>
          <a:stretch>
            <a:fillRect/>
          </a:stretch>
        </p:blipFill>
        <p:spPr>
          <a:xfrm>
            <a:off x="4050792" y="3136392"/>
            <a:ext cx="310896" cy="310896"/>
          </a:xfrm>
          <a:prstGeom prst="rect">
            <a:avLst/>
          </a:prstGeom>
        </p:spPr>
      </p:pic>
      <p:sp>
        <p:nvSpPr>
          <p:cNvPr id="35" name="Text 32"/>
          <p:cNvSpPr txBox="1"/>
          <p:nvPr/>
        </p:nvSpPr>
        <p:spPr>
          <a:xfrm>
            <a:off x="576072" y="3383280"/>
            <a:ext cx="3840480" cy="146304"/>
          </a:xfrm>
          <a:prstGeom prst="rect">
            <a:avLst/>
          </a:prstGeom>
          <a:noFill/>
          <a:ln/>
        </p:spPr>
        <p:txBody>
          <a:bodyPr wrap="square" lIns="0" tIns="0" rIns="0" bIns="0" rtlCol="0" anchor="t"/>
          <a:lstStyle/>
          <a:p>
            <a:pPr marL="0" indent="0">
              <a:buNone/>
            </a:pPr>
            <a:r>
              <a:rPr lang="en-US" sz="630" kern="0" spc="50" dirty="0">
                <a:solidFill>
                  <a:srgbClr val="C6F24E"/>
                </a:solidFill>
                <a:latin typeface="JetBrains Mono" pitchFamily="34" charset="0"/>
                <a:ea typeface="JetBrains Mono" pitchFamily="34" charset="-122"/>
                <a:cs typeface="JetBrains Mono" pitchFamily="34" charset="-120"/>
              </a:rPr>
              <a:t>OWNER + FRONT DESK · ECONOMIC BUYER &amp; DAILY OPERATOR</a:t>
            </a:r>
            <a:endParaRPr lang="en-US" sz="630" dirty="0"/>
          </a:p>
        </p:txBody>
      </p:sp>
      <p:sp>
        <p:nvSpPr>
          <p:cNvPr id="36" name="Text 33"/>
          <p:cNvSpPr txBox="1"/>
          <p:nvPr/>
        </p:nvSpPr>
        <p:spPr>
          <a:xfrm>
            <a:off x="576072" y="3584448"/>
            <a:ext cx="3794760" cy="201168"/>
          </a:xfrm>
          <a:prstGeom prst="rect">
            <a:avLst/>
          </a:prstGeom>
          <a:noFill/>
          <a:ln/>
        </p:spPr>
        <p:txBody>
          <a:bodyPr wrap="square" lIns="0" tIns="0" rIns="0" bIns="0" rtlCol="0" anchor="t"/>
          <a:lstStyle/>
          <a:p>
            <a:pPr marL="0" indent="0">
              <a:buNone/>
            </a:pPr>
            <a:r>
              <a:rPr lang="en-US" sz="900" dirty="0">
                <a:solidFill>
                  <a:srgbClr val="A9A59C"/>
                </a:solidFill>
                <a:latin typeface="Satoshi" pitchFamily="34" charset="0"/>
                <a:ea typeface="Satoshi" pitchFamily="34" charset="-122"/>
                <a:cs typeface="Satoshi" pitchFamily="34" charset="-120"/>
              </a:rPr>
              <a:t>Any appointment business: salons, clinics, tutoring centres, spas, studios.</a:t>
            </a:r>
            <a:endParaRPr lang="en-US" sz="900" dirty="0"/>
          </a:p>
        </p:txBody>
      </p:sp>
      <p:sp>
        <p:nvSpPr>
          <p:cNvPr id="37" name="Shape 34"/>
          <p:cNvSpPr/>
          <p:nvPr/>
        </p:nvSpPr>
        <p:spPr>
          <a:xfrm>
            <a:off x="576072" y="3840480"/>
            <a:ext cx="563270" cy="192024"/>
          </a:xfrm>
          <a:prstGeom prst="roundRect">
            <a:avLst>
              <a:gd name="adj" fmla="val 23810"/>
            </a:avLst>
          </a:prstGeom>
          <a:solidFill>
            <a:srgbClr val="222228"/>
          </a:solidFill>
          <a:ln w="12700">
            <a:solidFill>
              <a:srgbClr val="222228"/>
            </a:solidFill>
            <a:prstDash val="solid"/>
          </a:ln>
        </p:spPr>
      </p:sp>
      <p:sp>
        <p:nvSpPr>
          <p:cNvPr id="38" name="Text 35"/>
          <p:cNvSpPr txBox="1"/>
          <p:nvPr/>
        </p:nvSpPr>
        <p:spPr>
          <a:xfrm>
            <a:off x="576072" y="3840480"/>
            <a:ext cx="563270" cy="192024"/>
          </a:xfrm>
          <a:prstGeom prst="rect">
            <a:avLst/>
          </a:prstGeom>
          <a:noFill/>
          <a:ln/>
        </p:spPr>
        <p:txBody>
          <a:bodyPr wrap="square" lIns="0" tIns="0" rIns="0" bIns="0" rtlCol="0" anchor="ctr"/>
          <a:lstStyle/>
          <a:p>
            <a:pPr marL="0" indent="0" algn="ctr">
              <a:buNone/>
            </a:pPr>
            <a:r>
              <a:rPr lang="en-US" sz="650" kern="0" spc="50" dirty="0">
                <a:solidFill>
                  <a:srgbClr val="A9A59C"/>
                </a:solidFill>
                <a:latin typeface="JetBrains Mono" pitchFamily="34" charset="0"/>
                <a:ea typeface="JetBrains Mono" pitchFamily="34" charset="-122"/>
                <a:cs typeface="JetBrains Mono" pitchFamily="34" charset="-120"/>
              </a:rPr>
              <a:t>Low time</a:t>
            </a:r>
            <a:endParaRPr lang="en-US" sz="650" dirty="0"/>
          </a:p>
        </p:txBody>
      </p:sp>
      <p:sp>
        <p:nvSpPr>
          <p:cNvPr id="39" name="Shape 36"/>
          <p:cNvSpPr/>
          <p:nvPr/>
        </p:nvSpPr>
        <p:spPr>
          <a:xfrm>
            <a:off x="1203350" y="3840480"/>
            <a:ext cx="1130198" cy="192024"/>
          </a:xfrm>
          <a:prstGeom prst="roundRect">
            <a:avLst>
              <a:gd name="adj" fmla="val 23810"/>
            </a:avLst>
          </a:prstGeom>
          <a:solidFill>
            <a:srgbClr val="222228"/>
          </a:solidFill>
          <a:ln w="12700">
            <a:solidFill>
              <a:srgbClr val="222228"/>
            </a:solidFill>
            <a:prstDash val="solid"/>
          </a:ln>
        </p:spPr>
      </p:sp>
      <p:sp>
        <p:nvSpPr>
          <p:cNvPr id="40" name="Text 37"/>
          <p:cNvSpPr txBox="1"/>
          <p:nvPr/>
        </p:nvSpPr>
        <p:spPr>
          <a:xfrm>
            <a:off x="1203350" y="3840480"/>
            <a:ext cx="1130198" cy="192024"/>
          </a:xfrm>
          <a:prstGeom prst="rect">
            <a:avLst/>
          </a:prstGeom>
          <a:noFill/>
          <a:ln/>
        </p:spPr>
        <p:txBody>
          <a:bodyPr wrap="square" lIns="0" tIns="0" rIns="0" bIns="0" rtlCol="0" anchor="ctr"/>
          <a:lstStyle/>
          <a:p>
            <a:pPr marL="0" indent="0" algn="ctr">
              <a:buNone/>
            </a:pPr>
            <a:r>
              <a:rPr lang="en-US" sz="650" kern="0" spc="50" dirty="0">
                <a:solidFill>
                  <a:srgbClr val="A9A59C"/>
                </a:solidFill>
                <a:latin typeface="JetBrains Mono" pitchFamily="34" charset="0"/>
                <a:ea typeface="JetBrains Mono" pitchFamily="34" charset="-122"/>
                <a:cs typeface="JetBrains Mono" pitchFamily="34" charset="-120"/>
              </a:rPr>
              <a:t>Fragmented records</a:t>
            </a:r>
            <a:endParaRPr lang="en-US" sz="650" dirty="0"/>
          </a:p>
        </p:txBody>
      </p:sp>
      <p:sp>
        <p:nvSpPr>
          <p:cNvPr id="41" name="Shape 38"/>
          <p:cNvSpPr/>
          <p:nvPr/>
        </p:nvSpPr>
        <p:spPr>
          <a:xfrm>
            <a:off x="2397557" y="3840480"/>
            <a:ext cx="1300277" cy="192024"/>
          </a:xfrm>
          <a:prstGeom prst="roundRect">
            <a:avLst>
              <a:gd name="adj" fmla="val 23810"/>
            </a:avLst>
          </a:prstGeom>
          <a:solidFill>
            <a:srgbClr val="222228"/>
          </a:solidFill>
          <a:ln w="12700">
            <a:solidFill>
              <a:srgbClr val="222228"/>
            </a:solidFill>
            <a:prstDash val="solid"/>
          </a:ln>
        </p:spPr>
      </p:sp>
      <p:sp>
        <p:nvSpPr>
          <p:cNvPr id="42" name="Text 39"/>
          <p:cNvSpPr txBox="1"/>
          <p:nvPr/>
        </p:nvSpPr>
        <p:spPr>
          <a:xfrm>
            <a:off x="2397557" y="3840480"/>
            <a:ext cx="1300277" cy="192024"/>
          </a:xfrm>
          <a:prstGeom prst="rect">
            <a:avLst/>
          </a:prstGeom>
          <a:noFill/>
          <a:ln/>
        </p:spPr>
        <p:txBody>
          <a:bodyPr wrap="square" lIns="0" tIns="0" rIns="0" bIns="0" rtlCol="0" anchor="ctr"/>
          <a:lstStyle/>
          <a:p>
            <a:pPr marL="0" indent="0" algn="ctr">
              <a:buNone/>
            </a:pPr>
            <a:r>
              <a:rPr lang="en-US" sz="650" kern="0" spc="50" dirty="0">
                <a:solidFill>
                  <a:srgbClr val="A9A59C"/>
                </a:solidFill>
                <a:latin typeface="JetBrains Mono" pitchFamily="34" charset="0"/>
                <a:ea typeface="JetBrains Mono" pitchFamily="34" charset="-122"/>
                <a:cs typeface="JetBrains Mono" pitchFamily="34" charset="-120"/>
              </a:rPr>
              <a:t>Afraid of overbooking</a:t>
            </a:r>
            <a:endParaRPr lang="en-US" sz="650" dirty="0"/>
          </a:p>
        </p:txBody>
      </p:sp>
      <p:sp>
        <p:nvSpPr>
          <p:cNvPr id="43" name="Shape 40"/>
          <p:cNvSpPr/>
          <p:nvPr/>
        </p:nvSpPr>
        <p:spPr>
          <a:xfrm>
            <a:off x="576072" y="4078224"/>
            <a:ext cx="1413662" cy="192024"/>
          </a:xfrm>
          <a:prstGeom prst="roundRect">
            <a:avLst>
              <a:gd name="adj" fmla="val 23810"/>
            </a:avLst>
          </a:prstGeom>
          <a:solidFill>
            <a:srgbClr val="222228"/>
          </a:solidFill>
          <a:ln w="12700">
            <a:solidFill>
              <a:srgbClr val="222228"/>
            </a:solidFill>
            <a:prstDash val="solid"/>
          </a:ln>
        </p:spPr>
      </p:sp>
      <p:sp>
        <p:nvSpPr>
          <p:cNvPr id="44" name="Text 41"/>
          <p:cNvSpPr txBox="1"/>
          <p:nvPr/>
        </p:nvSpPr>
        <p:spPr>
          <a:xfrm>
            <a:off x="576072" y="4078224"/>
            <a:ext cx="1413662" cy="192024"/>
          </a:xfrm>
          <a:prstGeom prst="rect">
            <a:avLst/>
          </a:prstGeom>
          <a:noFill/>
          <a:ln/>
        </p:spPr>
        <p:txBody>
          <a:bodyPr wrap="square" lIns="0" tIns="0" rIns="0" bIns="0" rtlCol="0" anchor="ctr"/>
          <a:lstStyle/>
          <a:p>
            <a:pPr marL="0" indent="0" algn="ctr">
              <a:buNone/>
            </a:pPr>
            <a:r>
              <a:rPr lang="en-US" sz="650" kern="0" spc="50" dirty="0">
                <a:solidFill>
                  <a:srgbClr val="A9A59C"/>
                </a:solidFill>
                <a:latin typeface="JetBrains Mono" pitchFamily="34" charset="0"/>
                <a:ea typeface="JetBrains Mono" pitchFamily="34" charset="-122"/>
                <a:cs typeface="JetBrains Mono" pitchFamily="34" charset="-120"/>
              </a:rPr>
              <a:t>Front-desk multitasking</a:t>
            </a:r>
            <a:endParaRPr lang="en-US" sz="650" dirty="0"/>
          </a:p>
        </p:txBody>
      </p:sp>
      <p:sp>
        <p:nvSpPr>
          <p:cNvPr id="45" name="Shape 42"/>
          <p:cNvSpPr/>
          <p:nvPr/>
        </p:nvSpPr>
        <p:spPr>
          <a:xfrm>
            <a:off x="2053742" y="4078224"/>
            <a:ext cx="903427" cy="192024"/>
          </a:xfrm>
          <a:prstGeom prst="roundRect">
            <a:avLst>
              <a:gd name="adj" fmla="val 23810"/>
            </a:avLst>
          </a:prstGeom>
          <a:solidFill>
            <a:srgbClr val="222228"/>
          </a:solidFill>
          <a:ln w="12700">
            <a:solidFill>
              <a:srgbClr val="222228"/>
            </a:solidFill>
            <a:prstDash val="solid"/>
          </a:ln>
        </p:spPr>
      </p:sp>
      <p:sp>
        <p:nvSpPr>
          <p:cNvPr id="46" name="Text 43"/>
          <p:cNvSpPr txBox="1"/>
          <p:nvPr/>
        </p:nvSpPr>
        <p:spPr>
          <a:xfrm>
            <a:off x="2053742" y="4078224"/>
            <a:ext cx="903427" cy="192024"/>
          </a:xfrm>
          <a:prstGeom prst="rect">
            <a:avLst/>
          </a:prstGeom>
          <a:noFill/>
          <a:ln/>
        </p:spPr>
        <p:txBody>
          <a:bodyPr wrap="square" lIns="0" tIns="0" rIns="0" bIns="0" rtlCol="0" anchor="ctr"/>
          <a:lstStyle/>
          <a:p>
            <a:pPr marL="0" indent="0" algn="ctr">
              <a:buNone/>
            </a:pPr>
            <a:r>
              <a:rPr lang="en-US" sz="650" kern="0" spc="50" dirty="0">
                <a:solidFill>
                  <a:srgbClr val="A9A59C"/>
                </a:solidFill>
                <a:latin typeface="JetBrains Mono" pitchFamily="34" charset="0"/>
                <a:ea typeface="JetBrains Mono" pitchFamily="34" charset="-122"/>
                <a:cs typeface="JetBrains Mono" pitchFamily="34" charset="-120"/>
              </a:rPr>
              <a:t>Stale waitlist</a:t>
            </a:r>
            <a:endParaRPr lang="en-US" sz="650" dirty="0"/>
          </a:p>
        </p:txBody>
      </p:sp>
      <p:sp>
        <p:nvSpPr>
          <p:cNvPr id="47" name="Shape 44"/>
          <p:cNvSpPr/>
          <p:nvPr/>
        </p:nvSpPr>
        <p:spPr>
          <a:xfrm>
            <a:off x="3021178" y="4078224"/>
            <a:ext cx="1130198" cy="192024"/>
          </a:xfrm>
          <a:prstGeom prst="roundRect">
            <a:avLst>
              <a:gd name="adj" fmla="val 23810"/>
            </a:avLst>
          </a:prstGeom>
          <a:solidFill>
            <a:srgbClr val="222228"/>
          </a:solidFill>
          <a:ln w="12700">
            <a:solidFill>
              <a:srgbClr val="222228"/>
            </a:solidFill>
            <a:prstDash val="solid"/>
          </a:ln>
        </p:spPr>
      </p:sp>
      <p:sp>
        <p:nvSpPr>
          <p:cNvPr id="48" name="Text 45"/>
          <p:cNvSpPr txBox="1"/>
          <p:nvPr/>
        </p:nvSpPr>
        <p:spPr>
          <a:xfrm>
            <a:off x="3021178" y="4078224"/>
            <a:ext cx="1130198" cy="192024"/>
          </a:xfrm>
          <a:prstGeom prst="rect">
            <a:avLst/>
          </a:prstGeom>
          <a:noFill/>
          <a:ln/>
        </p:spPr>
        <p:txBody>
          <a:bodyPr wrap="square" lIns="0" tIns="0" rIns="0" bIns="0" rtlCol="0" anchor="ctr"/>
          <a:lstStyle/>
          <a:p>
            <a:pPr marL="0" indent="0" algn="ctr">
              <a:buNone/>
            </a:pPr>
            <a:r>
              <a:rPr lang="en-US" sz="650" kern="0" spc="50" dirty="0">
                <a:solidFill>
                  <a:srgbClr val="A9A59C"/>
                </a:solidFill>
                <a:latin typeface="JetBrains Mono" pitchFamily="34" charset="0"/>
                <a:ea typeface="JetBrains Mono" pitchFamily="34" charset="-122"/>
                <a:cs typeface="JetBrains Mono" pitchFamily="34" charset="-120"/>
              </a:rPr>
              <a:t>Competing requests</a:t>
            </a:r>
            <a:endParaRPr lang="en-US" sz="650" dirty="0"/>
          </a:p>
        </p:txBody>
      </p:sp>
      <p:sp>
        <p:nvSpPr>
          <p:cNvPr id="49" name="Text 46"/>
          <p:cNvSpPr txBox="1"/>
          <p:nvPr/>
        </p:nvSpPr>
        <p:spPr>
          <a:xfrm>
            <a:off x="576072" y="4352544"/>
            <a:ext cx="3794760" cy="274320"/>
          </a:xfrm>
          <a:prstGeom prst="rect">
            <a:avLst/>
          </a:prstGeom>
          <a:noFill/>
          <a:ln/>
        </p:spPr>
        <p:txBody>
          <a:bodyPr wrap="square" lIns="0" tIns="0" rIns="0" bIns="0" rtlCol="0" anchor="t"/>
          <a:lstStyle/>
          <a:p>
            <a:pPr marL="0" indent="0">
              <a:buNone/>
            </a:pPr>
            <a:r>
              <a:rPr lang="en-US" sz="900" dirty="0">
                <a:solidFill>
                  <a:srgbClr val="F4F1EA"/>
                </a:solidFill>
                <a:latin typeface="Satoshi Medium" pitchFamily="34" charset="0"/>
                <a:ea typeface="Satoshi Medium" pitchFamily="34" charset="-122"/>
                <a:cs typeface="Satoshi Medium" pitchFamily="34" charset="-120"/>
              </a:rPr>
              <a:t>Fill a freed slot fast, never double-book, and see what was recovered.</a:t>
            </a:r>
            <a:endParaRPr lang="en-US" sz="900" dirty="0"/>
          </a:p>
        </p:txBody>
      </p:sp>
      <p:sp>
        <p:nvSpPr>
          <p:cNvPr id="50" name="Shape 47"/>
          <p:cNvSpPr/>
          <p:nvPr/>
        </p:nvSpPr>
        <p:spPr>
          <a:xfrm>
            <a:off x="4636008" y="2971800"/>
            <a:ext cx="4114800" cy="1719072"/>
          </a:xfrm>
          <a:prstGeom prst="roundRect">
            <a:avLst>
              <a:gd name="adj" fmla="val 4787"/>
            </a:avLst>
          </a:prstGeom>
          <a:solidFill>
            <a:srgbClr val="131316"/>
          </a:solidFill>
          <a:ln w="9525">
            <a:solidFill>
              <a:srgbClr val="2A2A2F"/>
            </a:solidFill>
            <a:prstDash val="solid"/>
          </a:ln>
        </p:spPr>
      </p:sp>
      <p:sp>
        <p:nvSpPr>
          <p:cNvPr id="51" name="Shape 48"/>
          <p:cNvSpPr/>
          <p:nvPr/>
        </p:nvSpPr>
        <p:spPr>
          <a:xfrm>
            <a:off x="4800600" y="3172968"/>
            <a:ext cx="91440" cy="91440"/>
          </a:xfrm>
          <a:prstGeom prst="ellipse">
            <a:avLst/>
          </a:prstGeom>
          <a:solidFill>
            <a:srgbClr val="FFB547"/>
          </a:solidFill>
          <a:ln w="12700">
            <a:solidFill>
              <a:srgbClr val="FFB547"/>
            </a:solidFill>
            <a:prstDash val="solid"/>
          </a:ln>
        </p:spPr>
      </p:sp>
      <p:sp>
        <p:nvSpPr>
          <p:cNvPr id="52" name="Text 49"/>
          <p:cNvSpPr txBox="1"/>
          <p:nvPr/>
        </p:nvSpPr>
        <p:spPr>
          <a:xfrm>
            <a:off x="4965192" y="3081528"/>
            <a:ext cx="3108960" cy="256032"/>
          </a:xfrm>
          <a:prstGeom prst="rect">
            <a:avLst/>
          </a:prstGeom>
          <a:noFill/>
          <a:ln/>
        </p:spPr>
        <p:txBody>
          <a:bodyPr wrap="square" lIns="0" tIns="0" rIns="0" bIns="0" rtlCol="0" anchor="ctr"/>
          <a:lstStyle/>
          <a:p>
            <a:pPr marL="0" indent="0">
              <a:buNone/>
            </a:pPr>
            <a:r>
              <a:rPr lang="en-US" sz="1300" dirty="0">
                <a:solidFill>
                  <a:srgbClr val="F4F1EA"/>
                </a:solidFill>
                <a:latin typeface="Clash Display Semibold" pitchFamily="34" charset="0"/>
                <a:ea typeface="Clash Display Semibold" pitchFamily="34" charset="-122"/>
                <a:cs typeface="Clash Display Semibold" pitchFamily="34" charset="-120"/>
              </a:rPr>
              <a:t>P2 — Client side</a:t>
            </a:r>
            <a:endParaRPr lang="en-US" sz="1300" dirty="0"/>
          </a:p>
        </p:txBody>
      </p:sp>
      <p:sp>
        <p:nvSpPr>
          <p:cNvPr id="53" name="Shape 50"/>
          <p:cNvSpPr/>
          <p:nvPr/>
        </p:nvSpPr>
        <p:spPr>
          <a:xfrm>
            <a:off x="8238744" y="3099816"/>
            <a:ext cx="384048" cy="384048"/>
          </a:xfrm>
          <a:prstGeom prst="ellipse">
            <a:avLst/>
          </a:prstGeom>
          <a:solidFill>
            <a:srgbClr val="2A2112"/>
          </a:solidFill>
          <a:ln w="12700">
            <a:solidFill>
              <a:srgbClr val="2A2112"/>
            </a:solidFill>
            <a:prstDash val="solid"/>
          </a:ln>
        </p:spPr>
      </p:sp>
      <p:pic>
        <p:nvPicPr>
          <p:cNvPr id="54" name="Image 1" descr="Opted-in client icon"/>
          <p:cNvPicPr>
            <a:picLocks noChangeAspect="1"/>
          </p:cNvPicPr>
          <p:nvPr/>
        </p:nvPicPr>
        <p:blipFill>
          <a:blip r:embed="rId4"/>
          <a:stretch>
            <a:fillRect/>
          </a:stretch>
        </p:blipFill>
        <p:spPr>
          <a:xfrm>
            <a:off x="8275320" y="3136392"/>
            <a:ext cx="310896" cy="310896"/>
          </a:xfrm>
          <a:prstGeom prst="rect">
            <a:avLst/>
          </a:prstGeom>
        </p:spPr>
      </p:pic>
      <p:sp>
        <p:nvSpPr>
          <p:cNvPr id="55" name="Text 51"/>
          <p:cNvSpPr txBox="1"/>
          <p:nvPr/>
        </p:nvSpPr>
        <p:spPr>
          <a:xfrm>
            <a:off x="4800600" y="3383280"/>
            <a:ext cx="3840480" cy="146304"/>
          </a:xfrm>
          <a:prstGeom prst="rect">
            <a:avLst/>
          </a:prstGeom>
          <a:noFill/>
          <a:ln/>
        </p:spPr>
        <p:txBody>
          <a:bodyPr wrap="square" lIns="0" tIns="0" rIns="0" bIns="0" rtlCol="0" anchor="t"/>
          <a:lstStyle/>
          <a:p>
            <a:pPr marL="0" indent="0">
              <a:buNone/>
            </a:pPr>
            <a:r>
              <a:rPr lang="en-US" sz="630" kern="0" spc="50" dirty="0">
                <a:solidFill>
                  <a:srgbClr val="FFB547"/>
                </a:solidFill>
                <a:latin typeface="JetBrains Mono" pitchFamily="34" charset="0"/>
                <a:ea typeface="JetBrains Mono" pitchFamily="34" charset="-122"/>
                <a:cs typeface="JetBrains Mono" pitchFamily="34" charset="-120"/>
              </a:rPr>
              <a:t>OPTED-IN END CUSTOMER</a:t>
            </a:r>
            <a:endParaRPr lang="en-US" sz="630" dirty="0"/>
          </a:p>
        </p:txBody>
      </p:sp>
      <p:sp>
        <p:nvSpPr>
          <p:cNvPr id="56" name="Text 52"/>
          <p:cNvSpPr txBox="1"/>
          <p:nvPr/>
        </p:nvSpPr>
        <p:spPr>
          <a:xfrm>
            <a:off x="4800600" y="3584448"/>
            <a:ext cx="3794760" cy="201168"/>
          </a:xfrm>
          <a:prstGeom prst="rect">
            <a:avLst/>
          </a:prstGeom>
          <a:noFill/>
          <a:ln/>
        </p:spPr>
        <p:txBody>
          <a:bodyPr wrap="square" lIns="0" tIns="0" rIns="0" bIns="0" rtlCol="0" anchor="t"/>
          <a:lstStyle/>
          <a:p>
            <a:pPr marL="0" indent="0">
              <a:buNone/>
            </a:pPr>
            <a:r>
              <a:rPr lang="en-US" sz="900" dirty="0">
                <a:solidFill>
                  <a:srgbClr val="A9A59C"/>
                </a:solidFill>
                <a:latin typeface="Satoshi" pitchFamily="34" charset="0"/>
                <a:ea typeface="Satoshi" pitchFamily="34" charset="-122"/>
                <a:cs typeface="Satoshi" pitchFamily="34" charset="-120"/>
              </a:rPr>
              <a:t>Anyone who books time: a haircut, a physio session, a tuition class.</a:t>
            </a:r>
            <a:endParaRPr lang="en-US" sz="900" dirty="0"/>
          </a:p>
        </p:txBody>
      </p:sp>
      <p:sp>
        <p:nvSpPr>
          <p:cNvPr id="57" name="Shape 53"/>
          <p:cNvSpPr/>
          <p:nvPr/>
        </p:nvSpPr>
        <p:spPr>
          <a:xfrm>
            <a:off x="4800600" y="3840480"/>
            <a:ext cx="1356970" cy="192024"/>
          </a:xfrm>
          <a:prstGeom prst="roundRect">
            <a:avLst>
              <a:gd name="adj" fmla="val 23810"/>
            </a:avLst>
          </a:prstGeom>
          <a:solidFill>
            <a:srgbClr val="222228"/>
          </a:solidFill>
          <a:ln w="12700">
            <a:solidFill>
              <a:srgbClr val="222228"/>
            </a:solidFill>
            <a:prstDash val="solid"/>
          </a:ln>
        </p:spPr>
      </p:sp>
      <p:sp>
        <p:nvSpPr>
          <p:cNvPr id="58" name="Text 54"/>
          <p:cNvSpPr txBox="1"/>
          <p:nvPr/>
        </p:nvSpPr>
        <p:spPr>
          <a:xfrm>
            <a:off x="4800600" y="3840480"/>
            <a:ext cx="1356970" cy="192024"/>
          </a:xfrm>
          <a:prstGeom prst="rect">
            <a:avLst/>
          </a:prstGeom>
          <a:noFill/>
          <a:ln/>
        </p:spPr>
        <p:txBody>
          <a:bodyPr wrap="square" lIns="0" tIns="0" rIns="0" bIns="0" rtlCol="0" anchor="ctr"/>
          <a:lstStyle/>
          <a:p>
            <a:pPr marL="0" indent="0" algn="ctr">
              <a:buNone/>
            </a:pPr>
            <a:r>
              <a:rPr lang="en-US" sz="650" kern="0" spc="50" dirty="0">
                <a:solidFill>
                  <a:srgbClr val="A9A59C"/>
                </a:solidFill>
                <a:latin typeface="JetBrains Mono" pitchFamily="34" charset="0"/>
                <a:ea typeface="JetBrains Mono" pitchFamily="34" charset="-122"/>
                <a:cs typeface="JetBrains Mono" pitchFamily="34" charset="-120"/>
              </a:rPr>
              <a:t>Wants a relevant offer</a:t>
            </a:r>
            <a:endParaRPr lang="en-US" sz="650" dirty="0"/>
          </a:p>
        </p:txBody>
      </p:sp>
      <p:sp>
        <p:nvSpPr>
          <p:cNvPr id="59" name="Shape 55"/>
          <p:cNvSpPr/>
          <p:nvPr/>
        </p:nvSpPr>
        <p:spPr>
          <a:xfrm>
            <a:off x="6221578" y="3840480"/>
            <a:ext cx="1470355" cy="192024"/>
          </a:xfrm>
          <a:prstGeom prst="roundRect">
            <a:avLst>
              <a:gd name="adj" fmla="val 23810"/>
            </a:avLst>
          </a:prstGeom>
          <a:solidFill>
            <a:srgbClr val="222228"/>
          </a:solidFill>
          <a:ln w="12700">
            <a:solidFill>
              <a:srgbClr val="222228"/>
            </a:solidFill>
            <a:prstDash val="solid"/>
          </a:ln>
        </p:spPr>
      </p:sp>
      <p:sp>
        <p:nvSpPr>
          <p:cNvPr id="60" name="Text 56"/>
          <p:cNvSpPr txBox="1"/>
          <p:nvPr/>
        </p:nvSpPr>
        <p:spPr>
          <a:xfrm>
            <a:off x="6221578" y="3840480"/>
            <a:ext cx="1470355" cy="192024"/>
          </a:xfrm>
          <a:prstGeom prst="rect">
            <a:avLst/>
          </a:prstGeom>
          <a:noFill/>
          <a:ln/>
        </p:spPr>
        <p:txBody>
          <a:bodyPr wrap="square" lIns="0" tIns="0" rIns="0" bIns="0" rtlCol="0" anchor="ctr"/>
          <a:lstStyle/>
          <a:p>
            <a:pPr marL="0" indent="0" algn="ctr">
              <a:buNone/>
            </a:pPr>
            <a:r>
              <a:rPr lang="en-US" sz="650" kern="0" spc="50" dirty="0">
                <a:solidFill>
                  <a:srgbClr val="A9A59C"/>
                </a:solidFill>
                <a:latin typeface="JetBrains Mono" pitchFamily="34" charset="0"/>
                <a:ea typeface="JetBrains Mono" pitchFamily="34" charset="-122"/>
                <a:cs typeface="JetBrains Mono" pitchFamily="34" charset="-120"/>
              </a:rPr>
              <a:t>Hates intrusive outreach</a:t>
            </a:r>
            <a:endParaRPr lang="en-US" sz="650" dirty="0"/>
          </a:p>
        </p:txBody>
      </p:sp>
      <p:sp>
        <p:nvSpPr>
          <p:cNvPr id="61" name="Shape 57"/>
          <p:cNvSpPr/>
          <p:nvPr/>
        </p:nvSpPr>
        <p:spPr>
          <a:xfrm>
            <a:off x="4800600" y="4078224"/>
            <a:ext cx="1016813" cy="192024"/>
          </a:xfrm>
          <a:prstGeom prst="roundRect">
            <a:avLst>
              <a:gd name="adj" fmla="val 23810"/>
            </a:avLst>
          </a:prstGeom>
          <a:solidFill>
            <a:srgbClr val="222228"/>
          </a:solidFill>
          <a:ln w="12700">
            <a:solidFill>
              <a:srgbClr val="222228"/>
            </a:solidFill>
            <a:prstDash val="solid"/>
          </a:ln>
        </p:spPr>
      </p:sp>
      <p:sp>
        <p:nvSpPr>
          <p:cNvPr id="62" name="Text 58"/>
          <p:cNvSpPr txBox="1"/>
          <p:nvPr/>
        </p:nvSpPr>
        <p:spPr>
          <a:xfrm>
            <a:off x="4800600" y="4078224"/>
            <a:ext cx="1016813" cy="192024"/>
          </a:xfrm>
          <a:prstGeom prst="rect">
            <a:avLst/>
          </a:prstGeom>
          <a:noFill/>
          <a:ln/>
        </p:spPr>
        <p:txBody>
          <a:bodyPr wrap="square" lIns="0" tIns="0" rIns="0" bIns="0" rtlCol="0" anchor="ctr"/>
          <a:lstStyle/>
          <a:p>
            <a:pPr marL="0" indent="0" algn="ctr">
              <a:buNone/>
            </a:pPr>
            <a:r>
              <a:rPr lang="en-US" sz="650" kern="0" spc="50" dirty="0">
                <a:solidFill>
                  <a:srgbClr val="A9A59C"/>
                </a:solidFill>
                <a:latin typeface="JetBrains Mono" pitchFamily="34" charset="0"/>
                <a:ea typeface="JetBrains Mono" pitchFamily="34" charset="-122"/>
                <a:cs typeface="JetBrains Mono" pitchFamily="34" charset="-120"/>
              </a:rPr>
              <a:t>Controls consent</a:t>
            </a:r>
            <a:endParaRPr lang="en-US" sz="650" dirty="0"/>
          </a:p>
        </p:txBody>
      </p:sp>
      <p:sp>
        <p:nvSpPr>
          <p:cNvPr id="63" name="Text 59"/>
          <p:cNvSpPr txBox="1"/>
          <p:nvPr/>
        </p:nvSpPr>
        <p:spPr>
          <a:xfrm>
            <a:off x="4800600" y="4352544"/>
            <a:ext cx="3794760" cy="274320"/>
          </a:xfrm>
          <a:prstGeom prst="rect">
            <a:avLst/>
          </a:prstGeom>
          <a:noFill/>
          <a:ln/>
        </p:spPr>
        <p:txBody>
          <a:bodyPr wrap="square" lIns="0" tIns="0" rIns="0" bIns="0" rtlCol="0" anchor="t"/>
          <a:lstStyle/>
          <a:p>
            <a:pPr marL="0" indent="0">
              <a:buNone/>
            </a:pPr>
            <a:r>
              <a:rPr lang="en-US" sz="900" dirty="0">
                <a:solidFill>
                  <a:srgbClr val="F4F1EA"/>
                </a:solidFill>
                <a:latin typeface="Satoshi Medium" pitchFamily="34" charset="0"/>
                <a:ea typeface="Satoshi Medium" pitchFamily="34" charset="-122"/>
                <a:cs typeface="Satoshi Medium" pitchFamily="34" charset="-120"/>
              </a:rPr>
              <a:t>Hear about an earlier slot only after saying yes; book it in one tap.</a:t>
            </a:r>
            <a:endParaRPr lang="en-US" sz="900" dirty="0"/>
          </a:p>
        </p:txBody>
      </p:sp>
      <p:sp>
        <p:nvSpPr>
          <p:cNvPr id="64" name="Text 60"/>
          <p:cNvSpPr txBox="1"/>
          <p:nvPr/>
        </p:nvSpPr>
        <p:spPr>
          <a:xfrm>
            <a:off x="411480" y="4791456"/>
            <a:ext cx="8321040" cy="164592"/>
          </a:xfrm>
          <a:prstGeom prst="rect">
            <a:avLst/>
          </a:prstGeom>
          <a:noFill/>
          <a:ln/>
        </p:spPr>
        <p:txBody>
          <a:bodyPr wrap="square" lIns="0" tIns="0" rIns="0" bIns="0" rtlCol="0" anchor="t"/>
          <a:lstStyle/>
          <a:p>
            <a:pPr marL="0" indent="0">
              <a:buNone/>
            </a:pPr>
            <a:r>
              <a:rPr lang="en-US" sz="650" dirty="0">
                <a:solidFill>
                  <a:srgbClr val="76736C"/>
                </a:solidFill>
                <a:latin typeface="JetBrains Mono" pitchFamily="34" charset="0"/>
                <a:ea typeface="JetBrains Mono" pitchFamily="34" charset="-122"/>
                <a:cs typeface="JetBrains Mono" pitchFamily="34" charset="-120"/>
              </a:rPr>
              <a:t>[HYPOTHESIS] Segmentation assumptions to validate through owner interviews and pilot.</a:t>
            </a:r>
            <a:endParaRPr lang="en-US" sz="650" dirty="0"/>
          </a:p>
        </p:txBody>
      </p:sp>
      <p:sp>
        <p:nvSpPr>
          <p:cNvPr id="65" name="Slide Number Placeholder 0"/>
          <p:cNvSpPr>
            <a:spLocks noGrp="1"/>
          </p:cNvSpPr>
          <p:nvPr>
            <p:ph type="sldNum" sz="quarter" idx="4294967295"/>
          </p:nvPr>
        </p:nvSpPr>
        <p:spPr>
          <a:xfrm>
            <a:off x="8577072" y="182880"/>
            <a:ext cx="274320" cy="274320"/>
          </a:xfrm>
          <a:prstGeom prst="rect">
            <a:avLst/>
          </a:prstGeom>
          <a:extLst>
            <a:ext uri="{C572A759-6A51-4108-AA02-DFA0A04FC94B}">
              <ma14:wrappingTextBoxFlag xmlns:ma14="http://schemas.microsoft.com/office/mac/drawingml/2011/main" xmlns="" val="0"/>
            </a:ext>
          </a:extLst>
        </p:spPr>
        <p:txBody>
          <a:bodyPr/>
          <a:lstStyle>
            <a:lvl1pPr>
              <a:defRPr sz="700">
                <a:solidFill>
                  <a:srgbClr val="76736C"/>
                </a:solidFill>
                <a:latin typeface="JetBrains Mono"/>
                <a:ea typeface="JetBrains Mono"/>
                <a:cs typeface="JetBrains Mono"/>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11480" y="237744"/>
            <a:ext cx="6858000" cy="182880"/>
          </a:xfrm>
          <a:prstGeom prst="rect">
            <a:avLst/>
          </a:prstGeom>
          <a:noFill/>
          <a:ln/>
        </p:spPr>
        <p:txBody>
          <a:bodyPr wrap="square" lIns="0" tIns="0" rIns="0" bIns="0" rtlCol="0" anchor="t"/>
          <a:lstStyle/>
          <a:p>
            <a:pPr marL="0" indent="0">
              <a:buNone/>
            </a:pPr>
            <a:r>
              <a:rPr lang="en-US" sz="750" kern="0" spc="110" dirty="0">
                <a:solidFill>
                  <a:srgbClr val="C6F24E"/>
                </a:solidFill>
                <a:latin typeface="JetBrains Mono" pitchFamily="34" charset="0"/>
                <a:ea typeface="JetBrains Mono" pitchFamily="34" charset="-122"/>
                <a:cs typeface="JetBrains Mono" pitchFamily="34" charset="-120"/>
              </a:rPr>
              <a:t>03</a:t>
            </a:r>
            <a:r>
              <a:rPr lang="en-US" sz="750" kern="0" spc="110" dirty="0">
                <a:solidFill>
                  <a:srgbClr val="76736C"/>
                </a:solidFill>
                <a:latin typeface="JetBrains Mono" pitchFamily="34" charset="0"/>
                <a:ea typeface="JetBrains Mono" pitchFamily="34" charset="-122"/>
                <a:cs typeface="JetBrains Mono" pitchFamily="34" charset="-120"/>
              </a:rPr>
              <a:t>  ·  5 FEATURES + GAP ANALYSIS</a:t>
            </a:r>
            <a:endParaRPr lang="en-US" sz="750" dirty="0"/>
          </a:p>
        </p:txBody>
      </p:sp>
      <p:sp>
        <p:nvSpPr>
          <p:cNvPr id="3" name="Text 1"/>
          <p:cNvSpPr txBox="1"/>
          <p:nvPr/>
        </p:nvSpPr>
        <p:spPr>
          <a:xfrm>
            <a:off x="411480" y="429768"/>
            <a:ext cx="7680960" cy="457200"/>
          </a:xfrm>
          <a:prstGeom prst="rect">
            <a:avLst/>
          </a:prstGeom>
          <a:noFill/>
          <a:ln/>
        </p:spPr>
        <p:txBody>
          <a:bodyPr wrap="square" lIns="0" tIns="0" rIns="0" bIns="0" rtlCol="0" anchor="ctr"/>
          <a:lstStyle/>
          <a:p>
            <a:pPr marL="0" indent="0">
              <a:buNone/>
            </a:pPr>
            <a:r>
              <a:rPr lang="en-US" sz="2300" dirty="0">
                <a:solidFill>
                  <a:srgbClr val="F4F1EA"/>
                </a:solidFill>
                <a:latin typeface="Clash Display Semibold" pitchFamily="34" charset="0"/>
                <a:ea typeface="Clash Display Semibold" pitchFamily="34" charset="-122"/>
                <a:cs typeface="Clash Display Semibold" pitchFamily="34" charset="-120"/>
              </a:rPr>
              <a:t>5 Main Features &amp; Competitive Gap</a:t>
            </a:r>
            <a:endParaRPr lang="en-US" sz="2300" dirty="0"/>
          </a:p>
        </p:txBody>
      </p:sp>
      <p:sp>
        <p:nvSpPr>
          <p:cNvPr id="4" name="Shape 2"/>
          <p:cNvSpPr/>
          <p:nvPr/>
        </p:nvSpPr>
        <p:spPr>
          <a:xfrm>
            <a:off x="411480" y="960120"/>
            <a:ext cx="1591056" cy="2103120"/>
          </a:xfrm>
          <a:prstGeom prst="roundRect">
            <a:avLst>
              <a:gd name="adj" fmla="val 5172"/>
            </a:avLst>
          </a:prstGeom>
          <a:solidFill>
            <a:srgbClr val="131316"/>
          </a:solidFill>
          <a:ln w="9525">
            <a:solidFill>
              <a:srgbClr val="2A2A2F"/>
            </a:solidFill>
            <a:prstDash val="solid"/>
          </a:ln>
        </p:spPr>
      </p:sp>
      <p:sp>
        <p:nvSpPr>
          <p:cNvPr id="5" name="Text 3"/>
          <p:cNvSpPr txBox="1"/>
          <p:nvPr/>
        </p:nvSpPr>
        <p:spPr>
          <a:xfrm>
            <a:off x="539496" y="1069848"/>
            <a:ext cx="457200" cy="182880"/>
          </a:xfrm>
          <a:prstGeom prst="rect">
            <a:avLst/>
          </a:prstGeom>
          <a:noFill/>
          <a:ln/>
        </p:spPr>
        <p:txBody>
          <a:bodyPr wrap="square" lIns="0" tIns="0" rIns="0" bIns="0" rtlCol="0" anchor="t"/>
          <a:lstStyle/>
          <a:p>
            <a:pPr marL="0" indent="0">
              <a:buNone/>
            </a:pPr>
            <a:r>
              <a:rPr lang="en-US" sz="800" dirty="0">
                <a:solidFill>
                  <a:srgbClr val="C6F24E"/>
                </a:solidFill>
                <a:latin typeface="JetBrains Mono" pitchFamily="34" charset="0"/>
                <a:ea typeface="JetBrains Mono" pitchFamily="34" charset="-122"/>
                <a:cs typeface="JetBrains Mono" pitchFamily="34" charset="-120"/>
              </a:rPr>
              <a:t>01</a:t>
            </a:r>
            <a:endParaRPr lang="en-US" sz="800" dirty="0"/>
          </a:p>
        </p:txBody>
      </p:sp>
      <p:sp>
        <p:nvSpPr>
          <p:cNvPr id="6" name="Text 4"/>
          <p:cNvSpPr txBox="1"/>
          <p:nvPr/>
        </p:nvSpPr>
        <p:spPr>
          <a:xfrm>
            <a:off x="539496" y="1280160"/>
            <a:ext cx="1371600" cy="438912"/>
          </a:xfrm>
          <a:prstGeom prst="rect">
            <a:avLst/>
          </a:prstGeom>
          <a:noFill/>
          <a:ln/>
        </p:spPr>
        <p:txBody>
          <a:bodyPr wrap="square" lIns="0" tIns="0" rIns="0" bIns="0" rtlCol="0" anchor="t"/>
          <a:lstStyle/>
          <a:p>
            <a:pPr marL="0" indent="0">
              <a:lnSpc>
                <a:spcPct val="95000"/>
              </a:lnSpc>
              <a:buNone/>
            </a:pPr>
            <a:r>
              <a:rPr lang="en-US" sz="1200" dirty="0">
                <a:solidFill>
                  <a:srgbClr val="F4F1EA"/>
                </a:solidFill>
                <a:latin typeface="Clash Display Semibold" pitchFamily="34" charset="0"/>
                <a:ea typeface="Clash Display Semibold" pitchFamily="34" charset="-122"/>
                <a:cs typeface="Clash Display Semibold" pitchFamily="34" charset="-120"/>
              </a:rPr>
              <a:t>Who-fits</a:t>
            </a:r>
            <a:endParaRPr lang="en-US" sz="1200" dirty="0"/>
          </a:p>
          <a:p>
            <a:pPr marL="0" indent="0">
              <a:lnSpc>
                <a:spcPct val="95000"/>
              </a:lnSpc>
              <a:buNone/>
            </a:pPr>
            <a:r>
              <a:rPr lang="en-US" sz="1200" dirty="0">
                <a:solidFill>
                  <a:srgbClr val="F4F1EA"/>
                </a:solidFill>
                <a:latin typeface="Clash Display Semibold" pitchFamily="34" charset="0"/>
                <a:ea typeface="Clash Display Semibold" pitchFamily="34" charset="-122"/>
                <a:cs typeface="Clash Display Semibold" pitchFamily="34" charset="-120"/>
              </a:rPr>
              <a:t>matching</a:t>
            </a:r>
            <a:endParaRPr lang="en-US" sz="1200" dirty="0"/>
          </a:p>
        </p:txBody>
      </p:sp>
      <p:sp>
        <p:nvSpPr>
          <p:cNvPr id="7" name="Text 5"/>
          <p:cNvSpPr txBox="1"/>
          <p:nvPr/>
        </p:nvSpPr>
        <p:spPr>
          <a:xfrm>
            <a:off x="539496" y="1764792"/>
            <a:ext cx="1353312" cy="960120"/>
          </a:xfrm>
          <a:prstGeom prst="rect">
            <a:avLst/>
          </a:prstGeom>
          <a:noFill/>
          <a:ln/>
        </p:spPr>
        <p:txBody>
          <a:bodyPr wrap="square" lIns="0" tIns="0" rIns="0" bIns="0" rtlCol="0" anchor="t"/>
          <a:lstStyle/>
          <a:p>
            <a:pPr marL="0" indent="0">
              <a:lnSpc>
                <a:spcPct val="108000"/>
              </a:lnSpc>
              <a:buNone/>
            </a:pPr>
            <a:r>
              <a:rPr lang="en-US" sz="780" dirty="0">
                <a:solidFill>
                  <a:srgbClr val="A9A59C"/>
                </a:solidFill>
                <a:latin typeface="Satoshi" pitchFamily="34" charset="0"/>
                <a:ea typeface="Satoshi" pitchFamily="34" charset="-122"/>
                <a:cs typeface="Satoshi" pitchFamily="34" charset="-120"/>
              </a:rPr>
              <a:t>Each waiting client is checked against the open slot: consent, staff skill, duration, availability. Fits listed in queue order; every skip shows its reason.</a:t>
            </a:r>
            <a:endParaRPr lang="en-US" sz="780" dirty="0"/>
          </a:p>
        </p:txBody>
      </p:sp>
      <p:sp>
        <p:nvSpPr>
          <p:cNvPr id="8" name="Shape 6"/>
          <p:cNvSpPr/>
          <p:nvPr/>
        </p:nvSpPr>
        <p:spPr>
          <a:xfrm>
            <a:off x="521208" y="2798064"/>
            <a:ext cx="1371600" cy="182880"/>
          </a:xfrm>
          <a:prstGeom prst="roundRect">
            <a:avLst>
              <a:gd name="adj" fmla="val 25000"/>
            </a:avLst>
          </a:prstGeom>
          <a:solidFill>
            <a:srgbClr val="1C2410"/>
          </a:solidFill>
          <a:ln w="12700">
            <a:solidFill>
              <a:srgbClr val="1C2410"/>
            </a:solidFill>
            <a:prstDash val="solid"/>
          </a:ln>
        </p:spPr>
      </p:sp>
      <p:sp>
        <p:nvSpPr>
          <p:cNvPr id="9" name="Text 7"/>
          <p:cNvSpPr txBox="1"/>
          <p:nvPr/>
        </p:nvSpPr>
        <p:spPr>
          <a:xfrm>
            <a:off x="521208" y="2798064"/>
            <a:ext cx="1371600" cy="182880"/>
          </a:xfrm>
          <a:prstGeom prst="rect">
            <a:avLst/>
          </a:prstGeom>
          <a:noFill/>
          <a:ln/>
        </p:spPr>
        <p:txBody>
          <a:bodyPr wrap="square" lIns="0" tIns="0" rIns="0" bIns="0" rtlCol="0" anchor="ctr"/>
          <a:lstStyle/>
          <a:p>
            <a:pPr marL="0" indent="0" algn="ctr">
              <a:buNone/>
            </a:pPr>
            <a:r>
              <a:rPr lang="en-US" sz="650" kern="0" spc="50" dirty="0">
                <a:solidFill>
                  <a:srgbClr val="C6F24E"/>
                </a:solidFill>
                <a:latin typeface="JetBrains Mono" pitchFamily="34" charset="0"/>
                <a:ea typeface="JetBrains Mono" pitchFamily="34" charset="-122"/>
                <a:cs typeface="JetBrains Mono" pitchFamily="34" charset="-120"/>
              </a:rPr>
              <a:t>6 FIT · 11 SKIPPED</a:t>
            </a:r>
            <a:endParaRPr lang="en-US" sz="650" dirty="0"/>
          </a:p>
        </p:txBody>
      </p:sp>
      <p:sp>
        <p:nvSpPr>
          <p:cNvPr id="10" name="Shape 8"/>
          <p:cNvSpPr/>
          <p:nvPr/>
        </p:nvSpPr>
        <p:spPr>
          <a:xfrm>
            <a:off x="2093976" y="960120"/>
            <a:ext cx="1591056" cy="2103120"/>
          </a:xfrm>
          <a:prstGeom prst="roundRect">
            <a:avLst>
              <a:gd name="adj" fmla="val 5172"/>
            </a:avLst>
          </a:prstGeom>
          <a:solidFill>
            <a:srgbClr val="131316"/>
          </a:solidFill>
          <a:ln w="9525">
            <a:solidFill>
              <a:srgbClr val="2A2A2F"/>
            </a:solidFill>
            <a:prstDash val="solid"/>
          </a:ln>
        </p:spPr>
      </p:sp>
      <p:sp>
        <p:nvSpPr>
          <p:cNvPr id="11" name="Text 9"/>
          <p:cNvSpPr txBox="1"/>
          <p:nvPr/>
        </p:nvSpPr>
        <p:spPr>
          <a:xfrm>
            <a:off x="2221992" y="1069848"/>
            <a:ext cx="457200" cy="182880"/>
          </a:xfrm>
          <a:prstGeom prst="rect">
            <a:avLst/>
          </a:prstGeom>
          <a:noFill/>
          <a:ln/>
        </p:spPr>
        <p:txBody>
          <a:bodyPr wrap="square" lIns="0" tIns="0" rIns="0" bIns="0" rtlCol="0" anchor="t"/>
          <a:lstStyle/>
          <a:p>
            <a:pPr marL="0" indent="0">
              <a:buNone/>
            </a:pPr>
            <a:r>
              <a:rPr lang="en-US" sz="800" dirty="0">
                <a:solidFill>
                  <a:srgbClr val="C6F24E"/>
                </a:solidFill>
                <a:latin typeface="JetBrains Mono" pitchFamily="34" charset="0"/>
                <a:ea typeface="JetBrains Mono" pitchFamily="34" charset="-122"/>
                <a:cs typeface="JetBrains Mono" pitchFamily="34" charset="-120"/>
              </a:rPr>
              <a:t>02</a:t>
            </a:r>
            <a:endParaRPr lang="en-US" sz="800" dirty="0"/>
          </a:p>
        </p:txBody>
      </p:sp>
      <p:sp>
        <p:nvSpPr>
          <p:cNvPr id="12" name="Text 10"/>
          <p:cNvSpPr txBox="1"/>
          <p:nvPr/>
        </p:nvSpPr>
        <p:spPr>
          <a:xfrm>
            <a:off x="2221992" y="1280160"/>
            <a:ext cx="1371600" cy="438912"/>
          </a:xfrm>
          <a:prstGeom prst="rect">
            <a:avLst/>
          </a:prstGeom>
          <a:noFill/>
          <a:ln/>
        </p:spPr>
        <p:txBody>
          <a:bodyPr wrap="square" lIns="0" tIns="0" rIns="0" bIns="0" rtlCol="0" anchor="t"/>
          <a:lstStyle/>
          <a:p>
            <a:pPr marL="0" indent="0">
              <a:lnSpc>
                <a:spcPct val="95000"/>
              </a:lnSpc>
              <a:buNone/>
            </a:pPr>
            <a:r>
              <a:rPr lang="en-US" sz="1200" dirty="0">
                <a:solidFill>
                  <a:srgbClr val="F4F1EA"/>
                </a:solidFill>
                <a:latin typeface="Clash Display Semibold" pitchFamily="34" charset="0"/>
                <a:ea typeface="Clash Display Semibold" pitchFamily="34" charset="-122"/>
                <a:cs typeface="Clash Display Semibold" pitchFamily="34" charset="-120"/>
              </a:rPr>
              <a:t>Consent</a:t>
            </a:r>
            <a:endParaRPr lang="en-US" sz="1200" dirty="0"/>
          </a:p>
          <a:p>
            <a:pPr marL="0" indent="0">
              <a:lnSpc>
                <a:spcPct val="95000"/>
              </a:lnSpc>
              <a:buNone/>
            </a:pPr>
            <a:r>
              <a:rPr lang="en-US" sz="1200" dirty="0">
                <a:solidFill>
                  <a:srgbClr val="F4F1EA"/>
                </a:solidFill>
                <a:latin typeface="Clash Display Semibold" pitchFamily="34" charset="0"/>
                <a:ea typeface="Clash Display Semibold" pitchFamily="34" charset="-122"/>
                <a:cs typeface="Clash Display Semibold" pitchFamily="34" charset="-120"/>
              </a:rPr>
              <a:t>gate</a:t>
            </a:r>
            <a:endParaRPr lang="en-US" sz="1200" dirty="0"/>
          </a:p>
        </p:txBody>
      </p:sp>
      <p:sp>
        <p:nvSpPr>
          <p:cNvPr id="13" name="Text 11"/>
          <p:cNvSpPr txBox="1"/>
          <p:nvPr/>
        </p:nvSpPr>
        <p:spPr>
          <a:xfrm>
            <a:off x="2221992" y="1764792"/>
            <a:ext cx="1353312" cy="960120"/>
          </a:xfrm>
          <a:prstGeom prst="rect">
            <a:avLst/>
          </a:prstGeom>
          <a:noFill/>
          <a:ln/>
        </p:spPr>
        <p:txBody>
          <a:bodyPr wrap="square" lIns="0" tIns="0" rIns="0" bIns="0" rtlCol="0" anchor="t"/>
          <a:lstStyle/>
          <a:p>
            <a:pPr marL="0" indent="0">
              <a:lnSpc>
                <a:spcPct val="108000"/>
              </a:lnSpc>
              <a:buNone/>
            </a:pPr>
            <a:r>
              <a:rPr lang="en-US" sz="780" dirty="0">
                <a:solidFill>
                  <a:srgbClr val="A9A59C"/>
                </a:solidFill>
                <a:latin typeface="Satoshi" pitchFamily="34" charset="0"/>
                <a:ea typeface="Satoshi" pitchFamily="34" charset="-122"/>
                <a:cs typeface="Satoshi" pitchFamily="34" charset="-120"/>
              </a:rPr>
              <a:t>Yes / no / never asked: only yes is messaged. Checked when offers go out and again at booking. STOP withdraws every open offer at once.</a:t>
            </a:r>
            <a:endParaRPr lang="en-US" sz="780" dirty="0"/>
          </a:p>
        </p:txBody>
      </p:sp>
      <p:sp>
        <p:nvSpPr>
          <p:cNvPr id="14" name="Shape 12"/>
          <p:cNvSpPr/>
          <p:nvPr/>
        </p:nvSpPr>
        <p:spPr>
          <a:xfrm>
            <a:off x="2203704" y="2798064"/>
            <a:ext cx="1371600" cy="182880"/>
          </a:xfrm>
          <a:prstGeom prst="roundRect">
            <a:avLst>
              <a:gd name="adj" fmla="val 25000"/>
            </a:avLst>
          </a:prstGeom>
          <a:solidFill>
            <a:srgbClr val="1C2410"/>
          </a:solidFill>
          <a:ln w="12700">
            <a:solidFill>
              <a:srgbClr val="1C2410"/>
            </a:solidFill>
            <a:prstDash val="solid"/>
          </a:ln>
        </p:spPr>
      </p:sp>
      <p:sp>
        <p:nvSpPr>
          <p:cNvPr id="15" name="Text 13"/>
          <p:cNvSpPr txBox="1"/>
          <p:nvPr/>
        </p:nvSpPr>
        <p:spPr>
          <a:xfrm>
            <a:off x="2203704" y="2798064"/>
            <a:ext cx="1371600" cy="182880"/>
          </a:xfrm>
          <a:prstGeom prst="rect">
            <a:avLst/>
          </a:prstGeom>
          <a:noFill/>
          <a:ln/>
        </p:spPr>
        <p:txBody>
          <a:bodyPr wrap="square" lIns="0" tIns="0" rIns="0" bIns="0" rtlCol="0" anchor="ctr"/>
          <a:lstStyle/>
          <a:p>
            <a:pPr marL="0" indent="0" algn="ctr">
              <a:buNone/>
            </a:pPr>
            <a:r>
              <a:rPr lang="en-US" sz="650" kern="0" spc="50" dirty="0">
                <a:solidFill>
                  <a:srgbClr val="C6F24E"/>
                </a:solidFill>
                <a:latin typeface="JetBrains Mono" pitchFamily="34" charset="0"/>
                <a:ea typeface="JetBrains Mono" pitchFamily="34" charset="-122"/>
                <a:cs typeface="JetBrains Mono" pitchFamily="34" charset="-120"/>
              </a:rPr>
              <a:t>TESTS C05 · C06 · C12</a:t>
            </a:r>
            <a:endParaRPr lang="en-US" sz="650" dirty="0"/>
          </a:p>
        </p:txBody>
      </p:sp>
      <p:sp>
        <p:nvSpPr>
          <p:cNvPr id="16" name="Shape 14"/>
          <p:cNvSpPr/>
          <p:nvPr/>
        </p:nvSpPr>
        <p:spPr>
          <a:xfrm>
            <a:off x="3776472" y="960120"/>
            <a:ext cx="1591056" cy="2103120"/>
          </a:xfrm>
          <a:prstGeom prst="roundRect">
            <a:avLst>
              <a:gd name="adj" fmla="val 5172"/>
            </a:avLst>
          </a:prstGeom>
          <a:solidFill>
            <a:srgbClr val="131316"/>
          </a:solidFill>
          <a:ln w="9525">
            <a:solidFill>
              <a:srgbClr val="2A2A2F"/>
            </a:solidFill>
            <a:prstDash val="solid"/>
          </a:ln>
        </p:spPr>
      </p:sp>
      <p:sp>
        <p:nvSpPr>
          <p:cNvPr id="17" name="Text 15"/>
          <p:cNvSpPr txBox="1"/>
          <p:nvPr/>
        </p:nvSpPr>
        <p:spPr>
          <a:xfrm>
            <a:off x="3904488" y="1069848"/>
            <a:ext cx="457200" cy="182880"/>
          </a:xfrm>
          <a:prstGeom prst="rect">
            <a:avLst/>
          </a:prstGeom>
          <a:noFill/>
          <a:ln/>
        </p:spPr>
        <p:txBody>
          <a:bodyPr wrap="square" lIns="0" tIns="0" rIns="0" bIns="0" rtlCol="0" anchor="t"/>
          <a:lstStyle/>
          <a:p>
            <a:pPr marL="0" indent="0">
              <a:buNone/>
            </a:pPr>
            <a:r>
              <a:rPr lang="en-US" sz="800" dirty="0">
                <a:solidFill>
                  <a:srgbClr val="C6F24E"/>
                </a:solidFill>
                <a:latin typeface="JetBrains Mono" pitchFamily="34" charset="0"/>
                <a:ea typeface="JetBrains Mono" pitchFamily="34" charset="-122"/>
                <a:cs typeface="JetBrains Mono" pitchFamily="34" charset="-120"/>
              </a:rPr>
              <a:t>03</a:t>
            </a:r>
            <a:endParaRPr lang="en-US" sz="800" dirty="0"/>
          </a:p>
        </p:txBody>
      </p:sp>
      <p:sp>
        <p:nvSpPr>
          <p:cNvPr id="18" name="Text 16"/>
          <p:cNvSpPr txBox="1"/>
          <p:nvPr/>
        </p:nvSpPr>
        <p:spPr>
          <a:xfrm>
            <a:off x="3904488" y="1280160"/>
            <a:ext cx="1371600" cy="438912"/>
          </a:xfrm>
          <a:prstGeom prst="rect">
            <a:avLst/>
          </a:prstGeom>
          <a:noFill/>
          <a:ln/>
        </p:spPr>
        <p:txBody>
          <a:bodyPr wrap="square" lIns="0" tIns="0" rIns="0" bIns="0" rtlCol="0" anchor="t"/>
          <a:lstStyle/>
          <a:p>
            <a:pPr marL="0" indent="0">
              <a:lnSpc>
                <a:spcPct val="95000"/>
              </a:lnSpc>
              <a:buNone/>
            </a:pPr>
            <a:r>
              <a:rPr lang="en-US" sz="1200" dirty="0">
                <a:solidFill>
                  <a:srgbClr val="F4F1EA"/>
                </a:solidFill>
                <a:latin typeface="Clash Display Semibold" pitchFamily="34" charset="0"/>
                <a:ea typeface="Clash Display Semibold" pitchFamily="34" charset="-122"/>
                <a:cs typeface="Clash Display Semibold" pitchFamily="34" charset="-120"/>
              </a:rPr>
              <a:t>One slot,</a:t>
            </a:r>
            <a:endParaRPr lang="en-US" sz="1200" dirty="0"/>
          </a:p>
          <a:p>
            <a:pPr marL="0" indent="0">
              <a:lnSpc>
                <a:spcPct val="95000"/>
              </a:lnSpc>
              <a:buNone/>
            </a:pPr>
            <a:r>
              <a:rPr lang="en-US" sz="1200" dirty="0">
                <a:solidFill>
                  <a:srgbClr val="F4F1EA"/>
                </a:solidFill>
                <a:latin typeface="Clash Display Semibold" pitchFamily="34" charset="0"/>
                <a:ea typeface="Clash Display Semibold" pitchFamily="34" charset="-122"/>
                <a:cs typeface="Clash Display Semibold" pitchFamily="34" charset="-120"/>
              </a:rPr>
              <a:t>one booking</a:t>
            </a:r>
            <a:endParaRPr lang="en-US" sz="1200" dirty="0"/>
          </a:p>
        </p:txBody>
      </p:sp>
      <p:sp>
        <p:nvSpPr>
          <p:cNvPr id="19" name="Text 17"/>
          <p:cNvSpPr txBox="1"/>
          <p:nvPr/>
        </p:nvSpPr>
        <p:spPr>
          <a:xfrm>
            <a:off x="3904488" y="1764792"/>
            <a:ext cx="1353312" cy="960120"/>
          </a:xfrm>
          <a:prstGeom prst="rect">
            <a:avLst/>
          </a:prstGeom>
          <a:noFill/>
          <a:ln/>
        </p:spPr>
        <p:txBody>
          <a:bodyPr wrap="square" lIns="0" tIns="0" rIns="0" bIns="0" rtlCol="0" anchor="t"/>
          <a:lstStyle/>
          <a:p>
            <a:pPr marL="0" indent="0">
              <a:lnSpc>
                <a:spcPct val="108000"/>
              </a:lnSpc>
              <a:buNone/>
            </a:pPr>
            <a:r>
              <a:rPr lang="en-US" sz="780" dirty="0">
                <a:solidFill>
                  <a:srgbClr val="A9A59C"/>
                </a:solidFill>
                <a:latin typeface="Satoshi" pitchFamily="34" charset="0"/>
                <a:ea typeface="Satoshi" pitchFamily="34" charset="-122"/>
                <a:cs typeface="Satoshi" pitchFamily="34" charset="-120"/>
              </a:rPr>
              <a:t>The booking is decided inside the database under a lock. Two taps at the same instant: one booking, the other client keeps their place.</a:t>
            </a:r>
            <a:endParaRPr lang="en-US" sz="780" dirty="0"/>
          </a:p>
        </p:txBody>
      </p:sp>
      <p:sp>
        <p:nvSpPr>
          <p:cNvPr id="20" name="Shape 18"/>
          <p:cNvSpPr/>
          <p:nvPr/>
        </p:nvSpPr>
        <p:spPr>
          <a:xfrm>
            <a:off x="3886200" y="2798064"/>
            <a:ext cx="1371600" cy="182880"/>
          </a:xfrm>
          <a:prstGeom prst="roundRect">
            <a:avLst>
              <a:gd name="adj" fmla="val 25000"/>
            </a:avLst>
          </a:prstGeom>
          <a:solidFill>
            <a:srgbClr val="1C2410"/>
          </a:solidFill>
          <a:ln w="12700">
            <a:solidFill>
              <a:srgbClr val="1C2410"/>
            </a:solidFill>
            <a:prstDash val="solid"/>
          </a:ln>
        </p:spPr>
      </p:sp>
      <p:sp>
        <p:nvSpPr>
          <p:cNvPr id="21" name="Text 19"/>
          <p:cNvSpPr txBox="1"/>
          <p:nvPr/>
        </p:nvSpPr>
        <p:spPr>
          <a:xfrm>
            <a:off x="3886200" y="2798064"/>
            <a:ext cx="1371600" cy="182880"/>
          </a:xfrm>
          <a:prstGeom prst="rect">
            <a:avLst/>
          </a:prstGeom>
          <a:noFill/>
          <a:ln/>
        </p:spPr>
        <p:txBody>
          <a:bodyPr wrap="square" lIns="0" tIns="0" rIns="0" bIns="0" rtlCol="0" anchor="ctr"/>
          <a:lstStyle/>
          <a:p>
            <a:pPr marL="0" indent="0" algn="ctr">
              <a:buNone/>
            </a:pPr>
            <a:r>
              <a:rPr lang="en-US" sz="650" kern="0" spc="50" dirty="0">
                <a:solidFill>
                  <a:srgbClr val="C6F24E"/>
                </a:solidFill>
                <a:latin typeface="JetBrains Mono" pitchFamily="34" charset="0"/>
                <a:ea typeface="JetBrains Mono" pitchFamily="34" charset="-122"/>
                <a:cs typeface="JetBrains Mono" pitchFamily="34" charset="-120"/>
              </a:rPr>
              <a:t>RACE: 8 TAPS → 1 BOOKING</a:t>
            </a:r>
            <a:endParaRPr lang="en-US" sz="650" dirty="0"/>
          </a:p>
        </p:txBody>
      </p:sp>
      <p:sp>
        <p:nvSpPr>
          <p:cNvPr id="22" name="Shape 20"/>
          <p:cNvSpPr/>
          <p:nvPr/>
        </p:nvSpPr>
        <p:spPr>
          <a:xfrm>
            <a:off x="5458968" y="960120"/>
            <a:ext cx="1591056" cy="2103120"/>
          </a:xfrm>
          <a:prstGeom prst="roundRect">
            <a:avLst>
              <a:gd name="adj" fmla="val 5172"/>
            </a:avLst>
          </a:prstGeom>
          <a:solidFill>
            <a:srgbClr val="131316"/>
          </a:solidFill>
          <a:ln w="9525">
            <a:solidFill>
              <a:srgbClr val="2A2A2F"/>
            </a:solidFill>
            <a:prstDash val="solid"/>
          </a:ln>
        </p:spPr>
      </p:sp>
      <p:sp>
        <p:nvSpPr>
          <p:cNvPr id="23" name="Text 21"/>
          <p:cNvSpPr txBox="1"/>
          <p:nvPr/>
        </p:nvSpPr>
        <p:spPr>
          <a:xfrm>
            <a:off x="5586984" y="1069848"/>
            <a:ext cx="457200" cy="182880"/>
          </a:xfrm>
          <a:prstGeom prst="rect">
            <a:avLst/>
          </a:prstGeom>
          <a:noFill/>
          <a:ln/>
        </p:spPr>
        <p:txBody>
          <a:bodyPr wrap="square" lIns="0" tIns="0" rIns="0" bIns="0" rtlCol="0" anchor="t"/>
          <a:lstStyle/>
          <a:p>
            <a:pPr marL="0" indent="0">
              <a:buNone/>
            </a:pPr>
            <a:r>
              <a:rPr lang="en-US" sz="800" dirty="0">
                <a:solidFill>
                  <a:srgbClr val="C6F24E"/>
                </a:solidFill>
                <a:latin typeface="JetBrains Mono" pitchFamily="34" charset="0"/>
                <a:ea typeface="JetBrains Mono" pitchFamily="34" charset="-122"/>
                <a:cs typeface="JetBrains Mono" pitchFamily="34" charset="-120"/>
              </a:rPr>
              <a:t>04</a:t>
            </a:r>
            <a:endParaRPr lang="en-US" sz="800" dirty="0"/>
          </a:p>
        </p:txBody>
      </p:sp>
      <p:sp>
        <p:nvSpPr>
          <p:cNvPr id="24" name="Text 22"/>
          <p:cNvSpPr txBox="1"/>
          <p:nvPr/>
        </p:nvSpPr>
        <p:spPr>
          <a:xfrm>
            <a:off x="5586984" y="1280160"/>
            <a:ext cx="1371600" cy="438912"/>
          </a:xfrm>
          <a:prstGeom prst="rect">
            <a:avLst/>
          </a:prstGeom>
          <a:noFill/>
          <a:ln/>
        </p:spPr>
        <p:txBody>
          <a:bodyPr wrap="square" lIns="0" tIns="0" rIns="0" bIns="0" rtlCol="0" anchor="t"/>
          <a:lstStyle/>
          <a:p>
            <a:pPr marL="0" indent="0">
              <a:lnSpc>
                <a:spcPct val="95000"/>
              </a:lnSpc>
              <a:buNone/>
            </a:pPr>
            <a:r>
              <a:rPr lang="en-US" sz="1200" dirty="0">
                <a:solidFill>
                  <a:srgbClr val="F4F1EA"/>
                </a:solidFill>
                <a:latin typeface="Clash Display Semibold" pitchFamily="34" charset="0"/>
                <a:ea typeface="Clash Display Semibold" pitchFamily="34" charset="-122"/>
                <a:cs typeface="Clash Display Semibold" pitchFamily="34" charset="-120"/>
              </a:rPr>
              <a:t>Offer</a:t>
            </a:r>
            <a:endParaRPr lang="en-US" sz="1200" dirty="0"/>
          </a:p>
          <a:p>
            <a:pPr marL="0" indent="0">
              <a:lnSpc>
                <a:spcPct val="95000"/>
              </a:lnSpc>
              <a:buNone/>
            </a:pPr>
            <a:r>
              <a:rPr lang="en-US" sz="1200" dirty="0">
                <a:solidFill>
                  <a:srgbClr val="F4F1EA"/>
                </a:solidFill>
                <a:latin typeface="Clash Display Semibold" pitchFamily="34" charset="0"/>
                <a:ea typeface="Clash Display Semibold" pitchFamily="34" charset="-122"/>
                <a:cs typeface="Clash Display Semibold" pitchFamily="34" charset="-120"/>
              </a:rPr>
              <a:t>rules</a:t>
            </a:r>
            <a:endParaRPr lang="en-US" sz="1200" dirty="0"/>
          </a:p>
        </p:txBody>
      </p:sp>
      <p:sp>
        <p:nvSpPr>
          <p:cNvPr id="25" name="Text 23"/>
          <p:cNvSpPr txBox="1"/>
          <p:nvPr/>
        </p:nvSpPr>
        <p:spPr>
          <a:xfrm>
            <a:off x="5586984" y="1764792"/>
            <a:ext cx="1353312" cy="960120"/>
          </a:xfrm>
          <a:prstGeom prst="rect">
            <a:avLst/>
          </a:prstGeom>
          <a:noFill/>
          <a:ln/>
        </p:spPr>
        <p:txBody>
          <a:bodyPr wrap="square" lIns="0" tIns="0" rIns="0" bIns="0" rtlCol="0" anchor="t"/>
          <a:lstStyle/>
          <a:p>
            <a:pPr marL="0" indent="0">
              <a:lnSpc>
                <a:spcPct val="108000"/>
              </a:lnSpc>
              <a:buNone/>
            </a:pPr>
            <a:r>
              <a:rPr lang="en-US" sz="780" dirty="0">
                <a:solidFill>
                  <a:srgbClr val="A9A59C"/>
                </a:solidFill>
                <a:latin typeface="Satoshi" pitchFamily="34" charset="0"/>
                <a:ea typeface="Satoshi" pitchFamily="34" charset="-122"/>
                <a:cs typeface="Satoshi" pitchFamily="34" charset="-120"/>
              </a:rPr>
              <a:t>Offers held 15 min, then passed on. Max 3 offers per client a day. Under-2-hour cancellations flagged late. Mistakes undone. Owner sets every limit.</a:t>
            </a:r>
            <a:endParaRPr lang="en-US" sz="780" dirty="0"/>
          </a:p>
        </p:txBody>
      </p:sp>
      <p:sp>
        <p:nvSpPr>
          <p:cNvPr id="26" name="Shape 24"/>
          <p:cNvSpPr/>
          <p:nvPr/>
        </p:nvSpPr>
        <p:spPr>
          <a:xfrm>
            <a:off x="5568696" y="2798064"/>
            <a:ext cx="1371600" cy="182880"/>
          </a:xfrm>
          <a:prstGeom prst="roundRect">
            <a:avLst>
              <a:gd name="adj" fmla="val 25000"/>
            </a:avLst>
          </a:prstGeom>
          <a:solidFill>
            <a:srgbClr val="1C2410"/>
          </a:solidFill>
          <a:ln w="12700">
            <a:solidFill>
              <a:srgbClr val="1C2410"/>
            </a:solidFill>
            <a:prstDash val="solid"/>
          </a:ln>
        </p:spPr>
      </p:sp>
      <p:sp>
        <p:nvSpPr>
          <p:cNvPr id="27" name="Text 25"/>
          <p:cNvSpPr txBox="1"/>
          <p:nvPr/>
        </p:nvSpPr>
        <p:spPr>
          <a:xfrm>
            <a:off x="5568696" y="2798064"/>
            <a:ext cx="1371600" cy="182880"/>
          </a:xfrm>
          <a:prstGeom prst="rect">
            <a:avLst/>
          </a:prstGeom>
          <a:noFill/>
          <a:ln/>
        </p:spPr>
        <p:txBody>
          <a:bodyPr wrap="square" lIns="0" tIns="0" rIns="0" bIns="0" rtlCol="0" anchor="ctr"/>
          <a:lstStyle/>
          <a:p>
            <a:pPr marL="0" indent="0" algn="ctr">
              <a:buNone/>
            </a:pPr>
            <a:r>
              <a:rPr lang="en-US" sz="650" kern="0" spc="50" dirty="0">
                <a:solidFill>
                  <a:srgbClr val="C6F24E"/>
                </a:solidFill>
                <a:latin typeface="JetBrains Mono" pitchFamily="34" charset="0"/>
                <a:ea typeface="JetBrains Mono" pitchFamily="34" charset="-122"/>
                <a:cs typeface="JetBrains Mono" pitchFamily="34" charset="-120"/>
              </a:rPr>
              <a:t>OWNER → RULES</a:t>
            </a:r>
            <a:endParaRPr lang="en-US" sz="650" dirty="0"/>
          </a:p>
        </p:txBody>
      </p:sp>
      <p:sp>
        <p:nvSpPr>
          <p:cNvPr id="28" name="Shape 26"/>
          <p:cNvSpPr/>
          <p:nvPr/>
        </p:nvSpPr>
        <p:spPr>
          <a:xfrm>
            <a:off x="7141464" y="960120"/>
            <a:ext cx="1591056" cy="2103120"/>
          </a:xfrm>
          <a:prstGeom prst="roundRect">
            <a:avLst>
              <a:gd name="adj" fmla="val 5172"/>
            </a:avLst>
          </a:prstGeom>
          <a:solidFill>
            <a:srgbClr val="131316"/>
          </a:solidFill>
          <a:ln w="9525">
            <a:solidFill>
              <a:srgbClr val="2A2A2F"/>
            </a:solidFill>
            <a:prstDash val="solid"/>
          </a:ln>
        </p:spPr>
      </p:sp>
      <p:sp>
        <p:nvSpPr>
          <p:cNvPr id="29" name="Text 27"/>
          <p:cNvSpPr txBox="1"/>
          <p:nvPr/>
        </p:nvSpPr>
        <p:spPr>
          <a:xfrm>
            <a:off x="7269480" y="1069848"/>
            <a:ext cx="457200" cy="182880"/>
          </a:xfrm>
          <a:prstGeom prst="rect">
            <a:avLst/>
          </a:prstGeom>
          <a:noFill/>
          <a:ln/>
        </p:spPr>
        <p:txBody>
          <a:bodyPr wrap="square" lIns="0" tIns="0" rIns="0" bIns="0" rtlCol="0" anchor="t"/>
          <a:lstStyle/>
          <a:p>
            <a:pPr marL="0" indent="0">
              <a:buNone/>
            </a:pPr>
            <a:r>
              <a:rPr lang="en-US" sz="800" dirty="0">
                <a:solidFill>
                  <a:srgbClr val="C6F24E"/>
                </a:solidFill>
                <a:latin typeface="JetBrains Mono" pitchFamily="34" charset="0"/>
                <a:ea typeface="JetBrains Mono" pitchFamily="34" charset="-122"/>
                <a:cs typeface="JetBrains Mono" pitchFamily="34" charset="-120"/>
              </a:rPr>
              <a:t>05</a:t>
            </a:r>
            <a:endParaRPr lang="en-US" sz="800" dirty="0"/>
          </a:p>
        </p:txBody>
      </p:sp>
      <p:sp>
        <p:nvSpPr>
          <p:cNvPr id="30" name="Text 28"/>
          <p:cNvSpPr txBox="1"/>
          <p:nvPr/>
        </p:nvSpPr>
        <p:spPr>
          <a:xfrm>
            <a:off x="7269480" y="1280160"/>
            <a:ext cx="1371600" cy="438912"/>
          </a:xfrm>
          <a:prstGeom prst="rect">
            <a:avLst/>
          </a:prstGeom>
          <a:noFill/>
          <a:ln/>
        </p:spPr>
        <p:txBody>
          <a:bodyPr wrap="square" lIns="0" tIns="0" rIns="0" bIns="0" rtlCol="0" anchor="t"/>
          <a:lstStyle/>
          <a:p>
            <a:pPr marL="0" indent="0">
              <a:lnSpc>
                <a:spcPct val="95000"/>
              </a:lnSpc>
              <a:buNone/>
            </a:pPr>
            <a:r>
              <a:rPr lang="en-US" sz="1200" dirty="0">
                <a:solidFill>
                  <a:srgbClr val="F4F1EA"/>
                </a:solidFill>
                <a:latin typeface="Clash Display Semibold" pitchFamily="34" charset="0"/>
                <a:ea typeface="Clash Display Semibold" pitchFamily="34" charset="-122"/>
                <a:cs typeface="Clash Display Semibold" pitchFamily="34" charset="-120"/>
              </a:rPr>
              <a:t>Staff out &amp;</a:t>
            </a:r>
            <a:endParaRPr lang="en-US" sz="1200" dirty="0"/>
          </a:p>
          <a:p>
            <a:pPr marL="0" indent="0">
              <a:lnSpc>
                <a:spcPct val="95000"/>
              </a:lnSpc>
              <a:buNone/>
            </a:pPr>
            <a:r>
              <a:rPr lang="en-US" sz="1200" dirty="0">
                <a:solidFill>
                  <a:srgbClr val="F4F1EA"/>
                </a:solidFill>
                <a:latin typeface="Clash Display Semibold" pitchFamily="34" charset="0"/>
                <a:ea typeface="Clash Display Semibold" pitchFamily="34" charset="-122"/>
                <a:cs typeface="Clash Display Semibold" pitchFamily="34" charset="-120"/>
              </a:rPr>
              <a:t>rescheduling</a:t>
            </a:r>
            <a:endParaRPr lang="en-US" sz="1200" dirty="0"/>
          </a:p>
        </p:txBody>
      </p:sp>
      <p:sp>
        <p:nvSpPr>
          <p:cNvPr id="31" name="Text 29"/>
          <p:cNvSpPr txBox="1"/>
          <p:nvPr/>
        </p:nvSpPr>
        <p:spPr>
          <a:xfrm>
            <a:off x="7269480" y="1764792"/>
            <a:ext cx="1353312" cy="960120"/>
          </a:xfrm>
          <a:prstGeom prst="rect">
            <a:avLst/>
          </a:prstGeom>
          <a:noFill/>
          <a:ln/>
        </p:spPr>
        <p:txBody>
          <a:bodyPr wrap="square" lIns="0" tIns="0" rIns="0" bIns="0" rtlCol="0" anchor="t"/>
          <a:lstStyle/>
          <a:p>
            <a:pPr marL="0" indent="0">
              <a:lnSpc>
                <a:spcPct val="108000"/>
              </a:lnSpc>
              <a:buNone/>
            </a:pPr>
            <a:r>
              <a:rPr lang="en-US" sz="780" dirty="0">
                <a:solidFill>
                  <a:srgbClr val="A9A59C"/>
                </a:solidFill>
                <a:latin typeface="Satoshi" pitchFamily="34" charset="0"/>
                <a:ea typeface="Satoshi" pitchFamily="34" charset="-122"/>
                <a:cs typeface="Satoshi" pitchFamily="34" charset="-120"/>
              </a:rPr>
              <a:t>"I can't come in" withdraws that person's offers, holds their gaps and flags their clients. The desk moves them or sends a pick-a-time link.</a:t>
            </a:r>
            <a:endParaRPr lang="en-US" sz="780" dirty="0"/>
          </a:p>
        </p:txBody>
      </p:sp>
      <p:sp>
        <p:nvSpPr>
          <p:cNvPr id="32" name="Shape 30"/>
          <p:cNvSpPr/>
          <p:nvPr/>
        </p:nvSpPr>
        <p:spPr>
          <a:xfrm>
            <a:off x="7251192" y="2798064"/>
            <a:ext cx="1371600" cy="182880"/>
          </a:xfrm>
          <a:prstGeom prst="roundRect">
            <a:avLst>
              <a:gd name="adj" fmla="val 25000"/>
            </a:avLst>
          </a:prstGeom>
          <a:solidFill>
            <a:srgbClr val="1C2410"/>
          </a:solidFill>
          <a:ln w="12700">
            <a:solidFill>
              <a:srgbClr val="1C2410"/>
            </a:solidFill>
            <a:prstDash val="solid"/>
          </a:ln>
        </p:spPr>
      </p:sp>
      <p:sp>
        <p:nvSpPr>
          <p:cNvPr id="33" name="Text 31"/>
          <p:cNvSpPr txBox="1"/>
          <p:nvPr/>
        </p:nvSpPr>
        <p:spPr>
          <a:xfrm>
            <a:off x="7251192" y="2798064"/>
            <a:ext cx="1371600" cy="182880"/>
          </a:xfrm>
          <a:prstGeom prst="rect">
            <a:avLst/>
          </a:prstGeom>
          <a:noFill/>
          <a:ln/>
        </p:spPr>
        <p:txBody>
          <a:bodyPr wrap="square" lIns="0" tIns="0" rIns="0" bIns="0" rtlCol="0" anchor="ctr"/>
          <a:lstStyle/>
          <a:p>
            <a:pPr marL="0" indent="0" algn="ctr">
              <a:buNone/>
            </a:pPr>
            <a:r>
              <a:rPr lang="en-US" sz="650" kern="0" spc="50" dirty="0">
                <a:solidFill>
                  <a:srgbClr val="C6F24E"/>
                </a:solidFill>
                <a:latin typeface="JetBrains Mono" pitchFamily="34" charset="0"/>
                <a:ea typeface="JetBrains Mono" pitchFamily="34" charset="-122"/>
                <a:cs typeface="JetBrains Mono" pitchFamily="34" charset="-120"/>
              </a:rPr>
              <a:t>LIVE · FLOW-TESTED</a:t>
            </a:r>
            <a:endParaRPr lang="en-US" sz="650" dirty="0"/>
          </a:p>
        </p:txBody>
      </p:sp>
      <p:sp>
        <p:nvSpPr>
          <p:cNvPr id="34" name="Text 32"/>
          <p:cNvSpPr txBox="1"/>
          <p:nvPr/>
        </p:nvSpPr>
        <p:spPr>
          <a:xfrm>
            <a:off x="411480" y="3218688"/>
            <a:ext cx="5486400" cy="164592"/>
          </a:xfrm>
          <a:prstGeom prst="rect">
            <a:avLst/>
          </a:prstGeom>
          <a:noFill/>
          <a:ln/>
        </p:spPr>
        <p:txBody>
          <a:bodyPr wrap="square" lIns="0" tIns="0" rIns="0" bIns="0" rtlCol="0" anchor="t"/>
          <a:lstStyle/>
          <a:p>
            <a:pPr marL="0" indent="0">
              <a:buNone/>
            </a:pPr>
            <a:r>
              <a:rPr lang="en-US" sz="750" kern="0" spc="110" dirty="0">
                <a:solidFill>
                  <a:srgbClr val="A9A59C"/>
                </a:solidFill>
                <a:latin typeface="JetBrains Mono" pitchFamily="34" charset="0"/>
                <a:ea typeface="JetBrains Mono" pitchFamily="34" charset="-122"/>
                <a:cs typeface="JetBrains Mono" pitchFamily="34" charset="-120"/>
              </a:rPr>
              <a:t>MANDATORY CASE SCORING CHECKS (C29)</a:t>
            </a:r>
            <a:endParaRPr lang="en-US" sz="750" dirty="0"/>
          </a:p>
        </p:txBody>
      </p:sp>
      <p:sp>
        <p:nvSpPr>
          <p:cNvPr id="35" name="Shape 33"/>
          <p:cNvSpPr/>
          <p:nvPr/>
        </p:nvSpPr>
        <p:spPr>
          <a:xfrm>
            <a:off x="411480" y="3429000"/>
            <a:ext cx="8321040" cy="0"/>
          </a:xfrm>
          <a:prstGeom prst="line">
            <a:avLst/>
          </a:prstGeom>
          <a:noFill/>
          <a:ln w="9525">
            <a:solidFill>
              <a:srgbClr val="2A2A2F"/>
            </a:solidFill>
            <a:prstDash val="solid"/>
          </a:ln>
        </p:spPr>
      </p:sp>
      <p:sp>
        <p:nvSpPr>
          <p:cNvPr id="36" name="Shape 34"/>
          <p:cNvSpPr/>
          <p:nvPr/>
        </p:nvSpPr>
        <p:spPr>
          <a:xfrm>
            <a:off x="411480" y="3483864"/>
            <a:ext cx="502920" cy="182880"/>
          </a:xfrm>
          <a:prstGeom prst="roundRect">
            <a:avLst>
              <a:gd name="adj" fmla="val 25000"/>
            </a:avLst>
          </a:prstGeom>
          <a:solidFill>
            <a:srgbClr val="2A2112"/>
          </a:solidFill>
          <a:ln w="12700">
            <a:solidFill>
              <a:srgbClr val="2A2112"/>
            </a:solidFill>
            <a:prstDash val="solid"/>
          </a:ln>
        </p:spPr>
      </p:sp>
      <p:sp>
        <p:nvSpPr>
          <p:cNvPr id="37" name="Text 35"/>
          <p:cNvSpPr txBox="1"/>
          <p:nvPr/>
        </p:nvSpPr>
        <p:spPr>
          <a:xfrm>
            <a:off x="411480" y="3483864"/>
            <a:ext cx="502920" cy="182880"/>
          </a:xfrm>
          <a:prstGeom prst="rect">
            <a:avLst/>
          </a:prstGeom>
          <a:noFill/>
          <a:ln/>
        </p:spPr>
        <p:txBody>
          <a:bodyPr wrap="square" lIns="0" tIns="0" rIns="0" bIns="0" rtlCol="0" anchor="ctr"/>
          <a:lstStyle/>
          <a:p>
            <a:pPr marL="0" indent="0" algn="ctr">
              <a:buNone/>
            </a:pPr>
            <a:r>
              <a:rPr lang="en-US" sz="650" kern="0" spc="50" dirty="0">
                <a:solidFill>
                  <a:srgbClr val="FFB547"/>
                </a:solidFill>
                <a:latin typeface="JetBrains Mono" pitchFamily="34" charset="0"/>
                <a:ea typeface="JetBrains Mono" pitchFamily="34" charset="-122"/>
                <a:cs typeface="JetBrains Mono" pitchFamily="34" charset="-120"/>
              </a:rPr>
              <a:t>10 pts</a:t>
            </a:r>
            <a:endParaRPr lang="en-US" sz="650" dirty="0"/>
          </a:p>
        </p:txBody>
      </p:sp>
      <p:sp>
        <p:nvSpPr>
          <p:cNvPr id="38" name="Text 36"/>
          <p:cNvSpPr txBox="1"/>
          <p:nvPr/>
        </p:nvSpPr>
        <p:spPr>
          <a:xfrm>
            <a:off x="1024128" y="3465576"/>
            <a:ext cx="6949440" cy="228600"/>
          </a:xfrm>
          <a:prstGeom prst="rect">
            <a:avLst/>
          </a:prstGeom>
          <a:noFill/>
          <a:ln/>
        </p:spPr>
        <p:txBody>
          <a:bodyPr wrap="square" lIns="0" tIns="0" rIns="0" bIns="0" rtlCol="0" anchor="ctr"/>
          <a:lstStyle/>
          <a:p>
            <a:pPr marL="0" indent="0">
              <a:buNone/>
            </a:pPr>
            <a:r>
              <a:rPr lang="en-US" sz="900" dirty="0">
                <a:solidFill>
                  <a:srgbClr val="F4F1EA"/>
                </a:solidFill>
                <a:latin typeface="Satoshi" pitchFamily="34" charset="0"/>
                <a:ea typeface="Satoshi" pitchFamily="34" charset="-122"/>
                <a:cs typeface="Satoshi" pitchFamily="34" charset="-120"/>
              </a:rPr>
              <a:t>60-min request cannot occupy a 30-min slot — duration hard-constraint before any outreach</a:t>
            </a:r>
            <a:endParaRPr lang="en-US" sz="900" dirty="0"/>
          </a:p>
        </p:txBody>
      </p:sp>
      <p:sp>
        <p:nvSpPr>
          <p:cNvPr id="39" name="Shape 37"/>
          <p:cNvSpPr/>
          <p:nvPr/>
        </p:nvSpPr>
        <p:spPr>
          <a:xfrm>
            <a:off x="8001000" y="3483864"/>
            <a:ext cx="731520" cy="182880"/>
          </a:xfrm>
          <a:prstGeom prst="roundRect">
            <a:avLst>
              <a:gd name="adj" fmla="val 25000"/>
            </a:avLst>
          </a:prstGeom>
          <a:solidFill>
            <a:srgbClr val="1C2410"/>
          </a:solidFill>
          <a:ln w="12700">
            <a:solidFill>
              <a:srgbClr val="1C2410"/>
            </a:solidFill>
            <a:prstDash val="solid"/>
          </a:ln>
        </p:spPr>
      </p:sp>
      <p:sp>
        <p:nvSpPr>
          <p:cNvPr id="40" name="Text 38"/>
          <p:cNvSpPr txBox="1"/>
          <p:nvPr/>
        </p:nvSpPr>
        <p:spPr>
          <a:xfrm>
            <a:off x="8001000" y="3483864"/>
            <a:ext cx="731520" cy="182880"/>
          </a:xfrm>
          <a:prstGeom prst="rect">
            <a:avLst/>
          </a:prstGeom>
          <a:noFill/>
          <a:ln/>
        </p:spPr>
        <p:txBody>
          <a:bodyPr wrap="square" lIns="0" tIns="0" rIns="0" bIns="0" rtlCol="0" anchor="ctr"/>
          <a:lstStyle/>
          <a:p>
            <a:pPr marL="0" indent="0" algn="ctr">
              <a:buNone/>
            </a:pPr>
            <a:r>
              <a:rPr lang="en-US" sz="650" kern="0" spc="50" dirty="0">
                <a:solidFill>
                  <a:srgbClr val="C6F24E"/>
                </a:solidFill>
                <a:latin typeface="JetBrains Mono" pitchFamily="34" charset="0"/>
                <a:ea typeface="JetBrains Mono" pitchFamily="34" charset="-122"/>
                <a:cs typeface="JetBrains Mono" pitchFamily="34" charset="-120"/>
              </a:rPr>
              <a:t>PASS · LIVE</a:t>
            </a:r>
            <a:endParaRPr lang="en-US" sz="650" dirty="0"/>
          </a:p>
        </p:txBody>
      </p:sp>
      <p:sp>
        <p:nvSpPr>
          <p:cNvPr id="41" name="Shape 39"/>
          <p:cNvSpPr/>
          <p:nvPr/>
        </p:nvSpPr>
        <p:spPr>
          <a:xfrm>
            <a:off x="411480" y="3721608"/>
            <a:ext cx="8321040" cy="0"/>
          </a:xfrm>
          <a:prstGeom prst="line">
            <a:avLst/>
          </a:prstGeom>
          <a:noFill/>
          <a:ln w="9525">
            <a:solidFill>
              <a:srgbClr val="2A2A2F"/>
            </a:solidFill>
            <a:prstDash val="solid"/>
          </a:ln>
        </p:spPr>
      </p:sp>
      <p:sp>
        <p:nvSpPr>
          <p:cNvPr id="42" name="Shape 40"/>
          <p:cNvSpPr/>
          <p:nvPr/>
        </p:nvSpPr>
        <p:spPr>
          <a:xfrm>
            <a:off x="411480" y="3776472"/>
            <a:ext cx="502920" cy="182880"/>
          </a:xfrm>
          <a:prstGeom prst="roundRect">
            <a:avLst>
              <a:gd name="adj" fmla="val 25000"/>
            </a:avLst>
          </a:prstGeom>
          <a:solidFill>
            <a:srgbClr val="2A2112"/>
          </a:solidFill>
          <a:ln w="12700">
            <a:solidFill>
              <a:srgbClr val="2A2112"/>
            </a:solidFill>
            <a:prstDash val="solid"/>
          </a:ln>
        </p:spPr>
      </p:sp>
      <p:sp>
        <p:nvSpPr>
          <p:cNvPr id="43" name="Text 41"/>
          <p:cNvSpPr txBox="1"/>
          <p:nvPr/>
        </p:nvSpPr>
        <p:spPr>
          <a:xfrm>
            <a:off x="411480" y="3776472"/>
            <a:ext cx="502920" cy="182880"/>
          </a:xfrm>
          <a:prstGeom prst="rect">
            <a:avLst/>
          </a:prstGeom>
          <a:noFill/>
          <a:ln/>
        </p:spPr>
        <p:txBody>
          <a:bodyPr wrap="square" lIns="0" tIns="0" rIns="0" bIns="0" rtlCol="0" anchor="ctr"/>
          <a:lstStyle/>
          <a:p>
            <a:pPr marL="0" indent="0" algn="ctr">
              <a:buNone/>
            </a:pPr>
            <a:r>
              <a:rPr lang="en-US" sz="650" kern="0" spc="50" dirty="0">
                <a:solidFill>
                  <a:srgbClr val="FFB547"/>
                </a:solidFill>
                <a:latin typeface="JetBrains Mono" pitchFamily="34" charset="0"/>
                <a:ea typeface="JetBrains Mono" pitchFamily="34" charset="-122"/>
                <a:cs typeface="JetBrains Mono" pitchFamily="34" charset="-120"/>
              </a:rPr>
              <a:t>10 pts</a:t>
            </a:r>
            <a:endParaRPr lang="en-US" sz="650" dirty="0"/>
          </a:p>
        </p:txBody>
      </p:sp>
      <p:sp>
        <p:nvSpPr>
          <p:cNvPr id="44" name="Text 42"/>
          <p:cNvSpPr txBox="1"/>
          <p:nvPr/>
        </p:nvSpPr>
        <p:spPr>
          <a:xfrm>
            <a:off x="1024128" y="3758184"/>
            <a:ext cx="6949440" cy="228600"/>
          </a:xfrm>
          <a:prstGeom prst="rect">
            <a:avLst/>
          </a:prstGeom>
          <a:noFill/>
          <a:ln/>
        </p:spPr>
        <p:txBody>
          <a:bodyPr wrap="square" lIns="0" tIns="0" rIns="0" bIns="0" rtlCol="0" anchor="ctr"/>
          <a:lstStyle/>
          <a:p>
            <a:pPr marL="0" indent="0">
              <a:buNone/>
            </a:pPr>
            <a:r>
              <a:rPr lang="en-US" sz="900" dirty="0">
                <a:solidFill>
                  <a:srgbClr val="F4F1EA"/>
                </a:solidFill>
                <a:latin typeface="Satoshi" pitchFamily="34" charset="0"/>
                <a:ea typeface="Satoshi" pitchFamily="34" charset="-122"/>
                <a:cs typeface="Satoshi" pitchFamily="34" charset="-120"/>
              </a:rPr>
              <a:t>Two competing requests for one slot → one confirmed booking + one waitlist entry (no duplicate)</a:t>
            </a:r>
            <a:endParaRPr lang="en-US" sz="900" dirty="0"/>
          </a:p>
        </p:txBody>
      </p:sp>
      <p:sp>
        <p:nvSpPr>
          <p:cNvPr id="45" name="Shape 43"/>
          <p:cNvSpPr/>
          <p:nvPr/>
        </p:nvSpPr>
        <p:spPr>
          <a:xfrm>
            <a:off x="8001000" y="3776472"/>
            <a:ext cx="731520" cy="182880"/>
          </a:xfrm>
          <a:prstGeom prst="roundRect">
            <a:avLst>
              <a:gd name="adj" fmla="val 25000"/>
            </a:avLst>
          </a:prstGeom>
          <a:solidFill>
            <a:srgbClr val="1C2410"/>
          </a:solidFill>
          <a:ln w="12700">
            <a:solidFill>
              <a:srgbClr val="1C2410"/>
            </a:solidFill>
            <a:prstDash val="solid"/>
          </a:ln>
        </p:spPr>
      </p:sp>
      <p:sp>
        <p:nvSpPr>
          <p:cNvPr id="46" name="Text 44"/>
          <p:cNvSpPr txBox="1"/>
          <p:nvPr/>
        </p:nvSpPr>
        <p:spPr>
          <a:xfrm>
            <a:off x="8001000" y="3776472"/>
            <a:ext cx="731520" cy="182880"/>
          </a:xfrm>
          <a:prstGeom prst="rect">
            <a:avLst/>
          </a:prstGeom>
          <a:noFill/>
          <a:ln/>
        </p:spPr>
        <p:txBody>
          <a:bodyPr wrap="square" lIns="0" tIns="0" rIns="0" bIns="0" rtlCol="0" anchor="ctr"/>
          <a:lstStyle/>
          <a:p>
            <a:pPr marL="0" indent="0" algn="ctr">
              <a:buNone/>
            </a:pPr>
            <a:r>
              <a:rPr lang="en-US" sz="650" kern="0" spc="50" dirty="0">
                <a:solidFill>
                  <a:srgbClr val="C6F24E"/>
                </a:solidFill>
                <a:latin typeface="JetBrains Mono" pitchFamily="34" charset="0"/>
                <a:ea typeface="JetBrains Mono" pitchFamily="34" charset="-122"/>
                <a:cs typeface="JetBrains Mono" pitchFamily="34" charset="-120"/>
              </a:rPr>
              <a:t>PASS · LIVE</a:t>
            </a:r>
            <a:endParaRPr lang="en-US" sz="650" dirty="0"/>
          </a:p>
        </p:txBody>
      </p:sp>
      <p:sp>
        <p:nvSpPr>
          <p:cNvPr id="47" name="Shape 45"/>
          <p:cNvSpPr/>
          <p:nvPr/>
        </p:nvSpPr>
        <p:spPr>
          <a:xfrm>
            <a:off x="411480" y="4014216"/>
            <a:ext cx="8321040" cy="0"/>
          </a:xfrm>
          <a:prstGeom prst="line">
            <a:avLst/>
          </a:prstGeom>
          <a:noFill/>
          <a:ln w="9525">
            <a:solidFill>
              <a:srgbClr val="2A2A2F"/>
            </a:solidFill>
            <a:prstDash val="solid"/>
          </a:ln>
        </p:spPr>
      </p:sp>
      <p:sp>
        <p:nvSpPr>
          <p:cNvPr id="48" name="Shape 46"/>
          <p:cNvSpPr/>
          <p:nvPr/>
        </p:nvSpPr>
        <p:spPr>
          <a:xfrm>
            <a:off x="411480" y="4069080"/>
            <a:ext cx="502920" cy="182880"/>
          </a:xfrm>
          <a:prstGeom prst="roundRect">
            <a:avLst>
              <a:gd name="adj" fmla="val 25000"/>
            </a:avLst>
          </a:prstGeom>
          <a:solidFill>
            <a:srgbClr val="2A2112"/>
          </a:solidFill>
          <a:ln w="12700">
            <a:solidFill>
              <a:srgbClr val="2A2112"/>
            </a:solidFill>
            <a:prstDash val="solid"/>
          </a:ln>
        </p:spPr>
      </p:sp>
      <p:sp>
        <p:nvSpPr>
          <p:cNvPr id="49" name="Text 47"/>
          <p:cNvSpPr txBox="1"/>
          <p:nvPr/>
        </p:nvSpPr>
        <p:spPr>
          <a:xfrm>
            <a:off x="411480" y="4069080"/>
            <a:ext cx="502920" cy="182880"/>
          </a:xfrm>
          <a:prstGeom prst="rect">
            <a:avLst/>
          </a:prstGeom>
          <a:noFill/>
          <a:ln/>
        </p:spPr>
        <p:txBody>
          <a:bodyPr wrap="square" lIns="0" tIns="0" rIns="0" bIns="0" rtlCol="0" anchor="ctr"/>
          <a:lstStyle/>
          <a:p>
            <a:pPr marL="0" indent="0" algn="ctr">
              <a:buNone/>
            </a:pPr>
            <a:r>
              <a:rPr lang="en-US" sz="650" kern="0" spc="50" dirty="0">
                <a:solidFill>
                  <a:srgbClr val="FFB547"/>
                </a:solidFill>
                <a:latin typeface="JetBrains Mono" pitchFamily="34" charset="0"/>
                <a:ea typeface="JetBrains Mono" pitchFamily="34" charset="-122"/>
                <a:cs typeface="JetBrains Mono" pitchFamily="34" charset="-120"/>
              </a:rPr>
              <a:t>5 pts</a:t>
            </a:r>
            <a:endParaRPr lang="en-US" sz="650" dirty="0"/>
          </a:p>
        </p:txBody>
      </p:sp>
      <p:sp>
        <p:nvSpPr>
          <p:cNvPr id="50" name="Text 48"/>
          <p:cNvSpPr txBox="1"/>
          <p:nvPr/>
        </p:nvSpPr>
        <p:spPr>
          <a:xfrm>
            <a:off x="1024128" y="4050792"/>
            <a:ext cx="6949440" cy="228600"/>
          </a:xfrm>
          <a:prstGeom prst="rect">
            <a:avLst/>
          </a:prstGeom>
          <a:noFill/>
          <a:ln/>
        </p:spPr>
        <p:txBody>
          <a:bodyPr wrap="square" lIns="0" tIns="0" rIns="0" bIns="0" rtlCol="0" anchor="ctr"/>
          <a:lstStyle/>
          <a:p>
            <a:pPr marL="0" indent="0">
              <a:buNone/>
            </a:pPr>
            <a:r>
              <a:rPr lang="en-US" sz="900" dirty="0">
                <a:solidFill>
                  <a:srgbClr val="F4F1EA"/>
                </a:solidFill>
                <a:latin typeface="Satoshi" pitchFamily="34" charset="0"/>
                <a:ea typeface="Satoshi" pitchFamily="34" charset="-122"/>
                <a:cs typeface="Satoshi" pitchFamily="34" charset="-120"/>
              </a:rPr>
              <a:t>Customer without contact consent is excluded from outreach — logged with reason</a:t>
            </a:r>
            <a:endParaRPr lang="en-US" sz="900" dirty="0"/>
          </a:p>
        </p:txBody>
      </p:sp>
      <p:sp>
        <p:nvSpPr>
          <p:cNvPr id="51" name="Shape 49"/>
          <p:cNvSpPr/>
          <p:nvPr/>
        </p:nvSpPr>
        <p:spPr>
          <a:xfrm>
            <a:off x="8001000" y="4069080"/>
            <a:ext cx="731520" cy="182880"/>
          </a:xfrm>
          <a:prstGeom prst="roundRect">
            <a:avLst>
              <a:gd name="adj" fmla="val 25000"/>
            </a:avLst>
          </a:prstGeom>
          <a:solidFill>
            <a:srgbClr val="1C2410"/>
          </a:solidFill>
          <a:ln w="12700">
            <a:solidFill>
              <a:srgbClr val="1C2410"/>
            </a:solidFill>
            <a:prstDash val="solid"/>
          </a:ln>
        </p:spPr>
      </p:sp>
      <p:sp>
        <p:nvSpPr>
          <p:cNvPr id="52" name="Text 50"/>
          <p:cNvSpPr txBox="1"/>
          <p:nvPr/>
        </p:nvSpPr>
        <p:spPr>
          <a:xfrm>
            <a:off x="8001000" y="4069080"/>
            <a:ext cx="731520" cy="182880"/>
          </a:xfrm>
          <a:prstGeom prst="rect">
            <a:avLst/>
          </a:prstGeom>
          <a:noFill/>
          <a:ln/>
        </p:spPr>
        <p:txBody>
          <a:bodyPr wrap="square" lIns="0" tIns="0" rIns="0" bIns="0" rtlCol="0" anchor="ctr"/>
          <a:lstStyle/>
          <a:p>
            <a:pPr marL="0" indent="0" algn="ctr">
              <a:buNone/>
            </a:pPr>
            <a:r>
              <a:rPr lang="en-US" sz="650" kern="0" spc="50" dirty="0">
                <a:solidFill>
                  <a:srgbClr val="C6F24E"/>
                </a:solidFill>
                <a:latin typeface="JetBrains Mono" pitchFamily="34" charset="0"/>
                <a:ea typeface="JetBrains Mono" pitchFamily="34" charset="-122"/>
                <a:cs typeface="JetBrains Mono" pitchFamily="34" charset="-120"/>
              </a:rPr>
              <a:t>PASS · LIVE</a:t>
            </a:r>
            <a:endParaRPr lang="en-US" sz="650" dirty="0"/>
          </a:p>
        </p:txBody>
      </p:sp>
      <p:sp>
        <p:nvSpPr>
          <p:cNvPr id="53" name="Shape 51"/>
          <p:cNvSpPr/>
          <p:nvPr/>
        </p:nvSpPr>
        <p:spPr>
          <a:xfrm>
            <a:off x="411480" y="4389120"/>
            <a:ext cx="8321040" cy="457200"/>
          </a:xfrm>
          <a:prstGeom prst="roundRect">
            <a:avLst>
              <a:gd name="adj" fmla="val 18000"/>
            </a:avLst>
          </a:prstGeom>
          <a:solidFill>
            <a:srgbClr val="18181C"/>
          </a:solidFill>
          <a:ln w="9525">
            <a:solidFill>
              <a:srgbClr val="2A2A2F"/>
            </a:solidFill>
            <a:prstDash val="solid"/>
          </a:ln>
        </p:spPr>
      </p:sp>
      <p:sp>
        <p:nvSpPr>
          <p:cNvPr id="54" name="Text 52"/>
          <p:cNvSpPr txBox="1"/>
          <p:nvPr/>
        </p:nvSpPr>
        <p:spPr>
          <a:xfrm>
            <a:off x="566928" y="4434840"/>
            <a:ext cx="8046720" cy="365760"/>
          </a:xfrm>
          <a:prstGeom prst="rect">
            <a:avLst/>
          </a:prstGeom>
          <a:noFill/>
          <a:ln/>
        </p:spPr>
        <p:txBody>
          <a:bodyPr wrap="square" lIns="0" tIns="0" rIns="0" bIns="0" rtlCol="0" anchor="ctr"/>
          <a:lstStyle/>
          <a:p>
            <a:pPr marL="0" indent="0">
              <a:buNone/>
            </a:pPr>
            <a:r>
              <a:rPr lang="en-US" sz="800" dirty="0">
                <a:solidFill>
                  <a:srgbClr val="FFB547"/>
                </a:solidFill>
                <a:latin typeface="Satoshi Medium" pitchFamily="34" charset="0"/>
                <a:ea typeface="Satoshi Medium" pitchFamily="34" charset="-122"/>
                <a:cs typeface="Satoshi Medium" pitchFamily="34" charset="-120"/>
              </a:rPr>
              <a:t>GAP vs competitors (Fresha, Zenoti, Square): </a:t>
            </a:r>
            <a:r>
              <a:rPr lang="en-US" sz="800" dirty="0">
                <a:solidFill>
                  <a:srgbClr val="A9A59C"/>
                </a:solidFill>
                <a:latin typeface="Satoshi" pitchFamily="34" charset="0"/>
                <a:ea typeface="Satoshi" pitchFamily="34" charset="-122"/>
                <a:cs typeface="Satoshi" pitchFamily="34" charset="-120"/>
              </a:rPr>
              <a:t>Existing platforms offer waitlists but do not expose auditable consent-state, duration-mismatch rejection, or slot-contention proof to the operator. Validate by demo before claiming.</a:t>
            </a:r>
            <a:endParaRPr lang="en-US" sz="800" dirty="0"/>
          </a:p>
        </p:txBody>
      </p:sp>
      <p:sp>
        <p:nvSpPr>
          <p:cNvPr id="55" name="Slide Number Placeholder 0"/>
          <p:cNvSpPr>
            <a:spLocks noGrp="1"/>
          </p:cNvSpPr>
          <p:nvPr>
            <p:ph type="sldNum" sz="quarter" idx="4294967295"/>
          </p:nvPr>
        </p:nvSpPr>
        <p:spPr>
          <a:xfrm>
            <a:off x="8577072" y="182880"/>
            <a:ext cx="274320" cy="274320"/>
          </a:xfrm>
          <a:prstGeom prst="rect">
            <a:avLst/>
          </a:prstGeom>
          <a:extLst>
            <a:ext uri="{C572A759-6A51-4108-AA02-DFA0A04FC94B}">
              <ma14:wrappingTextBoxFlag xmlns:ma14="http://schemas.microsoft.com/office/mac/drawingml/2011/main" xmlns="" val="0"/>
            </a:ext>
          </a:extLst>
        </p:spPr>
        <p:txBody>
          <a:bodyPr/>
          <a:lstStyle>
            <a:lvl1pPr>
              <a:defRPr sz="700">
                <a:solidFill>
                  <a:srgbClr val="76736C"/>
                </a:solidFill>
                <a:latin typeface="JetBrains Mono"/>
                <a:ea typeface="JetBrains Mono"/>
                <a:cs typeface="JetBrains Mono"/>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11480" y="237744"/>
            <a:ext cx="6858000" cy="182880"/>
          </a:xfrm>
          <a:prstGeom prst="rect">
            <a:avLst/>
          </a:prstGeom>
          <a:noFill/>
          <a:ln/>
        </p:spPr>
        <p:txBody>
          <a:bodyPr wrap="square" lIns="0" tIns="0" rIns="0" bIns="0" rtlCol="0" anchor="t"/>
          <a:lstStyle/>
          <a:p>
            <a:pPr marL="0" indent="0">
              <a:buNone/>
            </a:pPr>
            <a:r>
              <a:rPr lang="en-US" sz="750" kern="0" spc="110" dirty="0">
                <a:solidFill>
                  <a:srgbClr val="C6F24E"/>
                </a:solidFill>
                <a:latin typeface="JetBrains Mono" pitchFamily="34" charset="0"/>
                <a:ea typeface="JetBrains Mono" pitchFamily="34" charset="-122"/>
                <a:cs typeface="JetBrains Mono" pitchFamily="34" charset="-120"/>
              </a:rPr>
              <a:t>04</a:t>
            </a:r>
            <a:r>
              <a:rPr lang="en-US" sz="750" kern="0" spc="110" dirty="0">
                <a:solidFill>
                  <a:srgbClr val="76736C"/>
                </a:solidFill>
                <a:latin typeface="JetBrains Mono" pitchFamily="34" charset="0"/>
                <a:ea typeface="JetBrains Mono" pitchFamily="34" charset="-122"/>
                <a:cs typeface="JetBrains Mono" pitchFamily="34" charset="-120"/>
              </a:rPr>
              <a:t>  ·  ONBOARDING &amp; DAY-TO-DAY</a:t>
            </a:r>
            <a:endParaRPr lang="en-US" sz="750" dirty="0"/>
          </a:p>
        </p:txBody>
      </p:sp>
      <p:sp>
        <p:nvSpPr>
          <p:cNvPr id="3" name="Text 1"/>
          <p:cNvSpPr txBox="1"/>
          <p:nvPr/>
        </p:nvSpPr>
        <p:spPr>
          <a:xfrm>
            <a:off x="411480" y="429768"/>
            <a:ext cx="7680960" cy="457200"/>
          </a:xfrm>
          <a:prstGeom prst="rect">
            <a:avLst/>
          </a:prstGeom>
          <a:noFill/>
          <a:ln/>
        </p:spPr>
        <p:txBody>
          <a:bodyPr wrap="square" lIns="0" tIns="0" rIns="0" bIns="0" rtlCol="0" anchor="ctr"/>
          <a:lstStyle/>
          <a:p>
            <a:pPr marL="0" indent="0">
              <a:buNone/>
            </a:pPr>
            <a:r>
              <a:rPr lang="en-US" sz="2300" dirty="0">
                <a:solidFill>
                  <a:srgbClr val="F4F1EA"/>
                </a:solidFill>
                <a:latin typeface="Clash Display Semibold" pitchFamily="34" charset="0"/>
                <a:ea typeface="Clash Display Semibold" pitchFamily="34" charset="-122"/>
                <a:cs typeface="Clash Display Semibold" pitchFamily="34" charset="-120"/>
              </a:rPr>
              <a:t>Onboarding + What Does a Day on Refill Look Like?</a:t>
            </a:r>
            <a:endParaRPr lang="en-US" sz="2300" dirty="0"/>
          </a:p>
        </p:txBody>
      </p:sp>
      <p:sp>
        <p:nvSpPr>
          <p:cNvPr id="4" name="Text 2"/>
          <p:cNvSpPr txBox="1"/>
          <p:nvPr/>
        </p:nvSpPr>
        <p:spPr>
          <a:xfrm>
            <a:off x="411480" y="932688"/>
            <a:ext cx="3657600" cy="164592"/>
          </a:xfrm>
          <a:prstGeom prst="rect">
            <a:avLst/>
          </a:prstGeom>
          <a:noFill/>
          <a:ln/>
        </p:spPr>
        <p:txBody>
          <a:bodyPr wrap="square" lIns="0" tIns="0" rIns="0" bIns="0" rtlCol="0" anchor="t"/>
          <a:lstStyle/>
          <a:p>
            <a:pPr marL="0" indent="0">
              <a:buNone/>
            </a:pPr>
            <a:r>
              <a:rPr lang="en-US" sz="750" kern="0" spc="110" dirty="0">
                <a:solidFill>
                  <a:srgbClr val="C6F24E"/>
                </a:solidFill>
                <a:latin typeface="JetBrains Mono" pitchFamily="34" charset="0"/>
                <a:ea typeface="JetBrains Mono" pitchFamily="34" charset="-122"/>
                <a:cs typeface="JetBrains Mono" pitchFamily="34" charset="-120"/>
              </a:rPr>
              <a:t>ONBOARDING · IN THE APP</a:t>
            </a:r>
            <a:endParaRPr lang="en-US" sz="750" dirty="0"/>
          </a:p>
        </p:txBody>
      </p:sp>
      <p:sp>
        <p:nvSpPr>
          <p:cNvPr id="5" name="Shape 3"/>
          <p:cNvSpPr/>
          <p:nvPr/>
        </p:nvSpPr>
        <p:spPr>
          <a:xfrm>
            <a:off x="411480" y="1152144"/>
            <a:ext cx="2011680" cy="1005840"/>
          </a:xfrm>
          <a:prstGeom prst="roundRect">
            <a:avLst>
              <a:gd name="adj" fmla="val 8182"/>
            </a:avLst>
          </a:prstGeom>
          <a:solidFill>
            <a:srgbClr val="131316"/>
          </a:solidFill>
          <a:ln w="9525">
            <a:solidFill>
              <a:srgbClr val="2A2A2F"/>
            </a:solidFill>
            <a:prstDash val="solid"/>
          </a:ln>
        </p:spPr>
      </p:sp>
      <p:sp>
        <p:nvSpPr>
          <p:cNvPr id="6" name="Text 4"/>
          <p:cNvSpPr txBox="1"/>
          <p:nvPr/>
        </p:nvSpPr>
        <p:spPr>
          <a:xfrm>
            <a:off x="539496" y="1243584"/>
            <a:ext cx="274320" cy="274320"/>
          </a:xfrm>
          <a:prstGeom prst="rect">
            <a:avLst/>
          </a:prstGeom>
          <a:noFill/>
          <a:ln/>
        </p:spPr>
        <p:txBody>
          <a:bodyPr wrap="square" lIns="0" tIns="0" rIns="0" bIns="0" rtlCol="0" anchor="t"/>
          <a:lstStyle/>
          <a:p>
            <a:pPr marL="0" indent="0">
              <a:buNone/>
            </a:pPr>
            <a:r>
              <a:rPr lang="en-US" sz="1700" dirty="0">
                <a:solidFill>
                  <a:srgbClr val="C6F24E"/>
                </a:solidFill>
                <a:latin typeface="Clash Display Semibold" pitchFamily="34" charset="0"/>
                <a:ea typeface="Clash Display Semibold" pitchFamily="34" charset="-122"/>
                <a:cs typeface="Clash Display Semibold" pitchFamily="34" charset="-120"/>
              </a:rPr>
              <a:t>1</a:t>
            </a:r>
            <a:endParaRPr lang="en-US" sz="1700" dirty="0"/>
          </a:p>
        </p:txBody>
      </p:sp>
      <p:sp>
        <p:nvSpPr>
          <p:cNvPr id="7" name="Text 5"/>
          <p:cNvSpPr txBox="1"/>
          <p:nvPr/>
        </p:nvSpPr>
        <p:spPr>
          <a:xfrm>
            <a:off x="822960" y="1280160"/>
            <a:ext cx="1536192" cy="219456"/>
          </a:xfrm>
          <a:prstGeom prst="rect">
            <a:avLst/>
          </a:prstGeom>
          <a:noFill/>
          <a:ln/>
        </p:spPr>
        <p:txBody>
          <a:bodyPr wrap="square" lIns="0" tIns="0" rIns="0" bIns="0" rtlCol="0" anchor="ctr"/>
          <a:lstStyle/>
          <a:p>
            <a:pPr marL="0" indent="0">
              <a:buNone/>
            </a:pPr>
            <a:r>
              <a:rPr lang="en-US" sz="1050" dirty="0">
                <a:solidFill>
                  <a:srgbClr val="F4F1EA"/>
                </a:solidFill>
                <a:latin typeface="Satoshi Medium" pitchFamily="34" charset="0"/>
                <a:ea typeface="Satoshi Medium" pitchFamily="34" charset="-122"/>
                <a:cs typeface="Satoshi Medium" pitchFamily="34" charset="-120"/>
              </a:rPr>
              <a:t>Create account</a:t>
            </a:r>
            <a:endParaRPr lang="en-US" sz="1050" dirty="0"/>
          </a:p>
        </p:txBody>
      </p:sp>
      <p:sp>
        <p:nvSpPr>
          <p:cNvPr id="8" name="Text 6"/>
          <p:cNvSpPr txBox="1"/>
          <p:nvPr/>
        </p:nvSpPr>
        <p:spPr>
          <a:xfrm>
            <a:off x="539496" y="1554480"/>
            <a:ext cx="1783080" cy="566928"/>
          </a:xfrm>
          <a:prstGeom prst="rect">
            <a:avLst/>
          </a:prstGeom>
          <a:noFill/>
          <a:ln/>
        </p:spPr>
        <p:txBody>
          <a:bodyPr wrap="square" lIns="0" tIns="0" rIns="0" bIns="0" rtlCol="0" anchor="t"/>
          <a:lstStyle/>
          <a:p>
            <a:pPr marL="0" indent="0">
              <a:lnSpc>
                <a:spcPct val="106000"/>
              </a:lnSpc>
              <a:buNone/>
            </a:pPr>
            <a:r>
              <a:rPr lang="en-US" sz="780" dirty="0">
                <a:solidFill>
                  <a:srgbClr val="A9A59C"/>
                </a:solidFill>
                <a:latin typeface="Satoshi" pitchFamily="34" charset="0"/>
                <a:ea typeface="Satoshi" pitchFamily="34" charset="-122"/>
                <a:cs typeface="Satoshi" pitchFamily="34" charset="-120"/>
              </a:rPr>
              <a:t>Email + password, then "I run a business".</a:t>
            </a:r>
            <a:endParaRPr lang="en-US" sz="780" dirty="0"/>
          </a:p>
        </p:txBody>
      </p:sp>
      <p:sp>
        <p:nvSpPr>
          <p:cNvPr id="9" name="Shape 7"/>
          <p:cNvSpPr/>
          <p:nvPr/>
        </p:nvSpPr>
        <p:spPr>
          <a:xfrm>
            <a:off x="2514600" y="1152144"/>
            <a:ext cx="2011680" cy="1005840"/>
          </a:xfrm>
          <a:prstGeom prst="roundRect">
            <a:avLst>
              <a:gd name="adj" fmla="val 8182"/>
            </a:avLst>
          </a:prstGeom>
          <a:solidFill>
            <a:srgbClr val="131316"/>
          </a:solidFill>
          <a:ln w="9525">
            <a:solidFill>
              <a:srgbClr val="2A2A2F"/>
            </a:solidFill>
            <a:prstDash val="solid"/>
          </a:ln>
        </p:spPr>
      </p:sp>
      <p:sp>
        <p:nvSpPr>
          <p:cNvPr id="10" name="Text 8"/>
          <p:cNvSpPr txBox="1"/>
          <p:nvPr/>
        </p:nvSpPr>
        <p:spPr>
          <a:xfrm>
            <a:off x="2642616" y="1243584"/>
            <a:ext cx="274320" cy="274320"/>
          </a:xfrm>
          <a:prstGeom prst="rect">
            <a:avLst/>
          </a:prstGeom>
          <a:noFill/>
          <a:ln/>
        </p:spPr>
        <p:txBody>
          <a:bodyPr wrap="square" lIns="0" tIns="0" rIns="0" bIns="0" rtlCol="0" anchor="t"/>
          <a:lstStyle/>
          <a:p>
            <a:pPr marL="0" indent="0">
              <a:buNone/>
            </a:pPr>
            <a:r>
              <a:rPr lang="en-US" sz="1700" dirty="0">
                <a:solidFill>
                  <a:srgbClr val="C6F24E"/>
                </a:solidFill>
                <a:latin typeface="Clash Display Semibold" pitchFamily="34" charset="0"/>
                <a:ea typeface="Clash Display Semibold" pitchFamily="34" charset="-122"/>
                <a:cs typeface="Clash Display Semibold" pitchFamily="34" charset="-120"/>
              </a:rPr>
              <a:t>2</a:t>
            </a:r>
            <a:endParaRPr lang="en-US" sz="1700" dirty="0"/>
          </a:p>
        </p:txBody>
      </p:sp>
      <p:sp>
        <p:nvSpPr>
          <p:cNvPr id="11" name="Text 9"/>
          <p:cNvSpPr txBox="1"/>
          <p:nvPr/>
        </p:nvSpPr>
        <p:spPr>
          <a:xfrm>
            <a:off x="2926080" y="1280160"/>
            <a:ext cx="1536192" cy="219456"/>
          </a:xfrm>
          <a:prstGeom prst="rect">
            <a:avLst/>
          </a:prstGeom>
          <a:noFill/>
          <a:ln/>
        </p:spPr>
        <p:txBody>
          <a:bodyPr wrap="square" lIns="0" tIns="0" rIns="0" bIns="0" rtlCol="0" anchor="ctr"/>
          <a:lstStyle/>
          <a:p>
            <a:pPr marL="0" indent="0">
              <a:buNone/>
            </a:pPr>
            <a:r>
              <a:rPr lang="en-US" sz="1050" dirty="0">
                <a:solidFill>
                  <a:srgbClr val="F4F1EA"/>
                </a:solidFill>
                <a:latin typeface="Satoshi Medium" pitchFamily="34" charset="0"/>
                <a:ea typeface="Satoshi Medium" pitchFamily="34" charset="-122"/>
                <a:cs typeface="Satoshi Medium" pitchFamily="34" charset="-120"/>
              </a:rPr>
              <a:t>Set up the business</a:t>
            </a:r>
            <a:endParaRPr lang="en-US" sz="1050" dirty="0"/>
          </a:p>
        </p:txBody>
      </p:sp>
      <p:sp>
        <p:nvSpPr>
          <p:cNvPr id="12" name="Text 10"/>
          <p:cNvSpPr txBox="1"/>
          <p:nvPr/>
        </p:nvSpPr>
        <p:spPr>
          <a:xfrm>
            <a:off x="2642616" y="1554480"/>
            <a:ext cx="1783080" cy="566928"/>
          </a:xfrm>
          <a:prstGeom prst="rect">
            <a:avLst/>
          </a:prstGeom>
          <a:noFill/>
          <a:ln/>
        </p:spPr>
        <p:txBody>
          <a:bodyPr wrap="square" lIns="0" tIns="0" rIns="0" bIns="0" rtlCol="0" anchor="t"/>
          <a:lstStyle/>
          <a:p>
            <a:pPr marL="0" indent="0">
              <a:lnSpc>
                <a:spcPct val="106000"/>
              </a:lnSpc>
              <a:buNone/>
            </a:pPr>
            <a:r>
              <a:rPr lang="en-US" sz="780" dirty="0">
                <a:solidFill>
                  <a:srgbClr val="A9A59C"/>
                </a:solidFill>
                <a:latin typeface="Satoshi" pitchFamily="34" charset="0"/>
                <a:ea typeface="Satoshi" pitchFamily="34" charset="-122"/>
                <a:cs typeface="Satoshi" pitchFamily="34" charset="-120"/>
              </a:rPr>
              <a:t>Name and type, services (minutes, price), team and working hours. Any appointment business.</a:t>
            </a:r>
            <a:endParaRPr lang="en-US" sz="780" dirty="0"/>
          </a:p>
        </p:txBody>
      </p:sp>
      <p:sp>
        <p:nvSpPr>
          <p:cNvPr id="13" name="Shape 11"/>
          <p:cNvSpPr/>
          <p:nvPr/>
        </p:nvSpPr>
        <p:spPr>
          <a:xfrm>
            <a:off x="4617720" y="1152144"/>
            <a:ext cx="2011680" cy="1005840"/>
          </a:xfrm>
          <a:prstGeom prst="roundRect">
            <a:avLst>
              <a:gd name="adj" fmla="val 8182"/>
            </a:avLst>
          </a:prstGeom>
          <a:solidFill>
            <a:srgbClr val="131316"/>
          </a:solidFill>
          <a:ln w="9525">
            <a:solidFill>
              <a:srgbClr val="2A2A2F"/>
            </a:solidFill>
            <a:prstDash val="solid"/>
          </a:ln>
        </p:spPr>
      </p:sp>
      <p:sp>
        <p:nvSpPr>
          <p:cNvPr id="14" name="Text 12"/>
          <p:cNvSpPr txBox="1"/>
          <p:nvPr/>
        </p:nvSpPr>
        <p:spPr>
          <a:xfrm>
            <a:off x="4745736" y="1243584"/>
            <a:ext cx="274320" cy="274320"/>
          </a:xfrm>
          <a:prstGeom prst="rect">
            <a:avLst/>
          </a:prstGeom>
          <a:noFill/>
          <a:ln/>
        </p:spPr>
        <p:txBody>
          <a:bodyPr wrap="square" lIns="0" tIns="0" rIns="0" bIns="0" rtlCol="0" anchor="t"/>
          <a:lstStyle/>
          <a:p>
            <a:pPr marL="0" indent="0">
              <a:buNone/>
            </a:pPr>
            <a:r>
              <a:rPr lang="en-US" sz="1700" dirty="0">
                <a:solidFill>
                  <a:srgbClr val="C6F24E"/>
                </a:solidFill>
                <a:latin typeface="Clash Display Semibold" pitchFamily="34" charset="0"/>
                <a:ea typeface="Clash Display Semibold" pitchFamily="34" charset="-122"/>
                <a:cs typeface="Clash Display Semibold" pitchFamily="34" charset="-120"/>
              </a:rPr>
              <a:t>3</a:t>
            </a:r>
            <a:endParaRPr lang="en-US" sz="1700" dirty="0"/>
          </a:p>
        </p:txBody>
      </p:sp>
      <p:sp>
        <p:nvSpPr>
          <p:cNvPr id="15" name="Text 13"/>
          <p:cNvSpPr txBox="1"/>
          <p:nvPr/>
        </p:nvSpPr>
        <p:spPr>
          <a:xfrm>
            <a:off x="5029200" y="1280160"/>
            <a:ext cx="1536192" cy="219456"/>
          </a:xfrm>
          <a:prstGeom prst="rect">
            <a:avLst/>
          </a:prstGeom>
          <a:noFill/>
          <a:ln/>
        </p:spPr>
        <p:txBody>
          <a:bodyPr wrap="square" lIns="0" tIns="0" rIns="0" bIns="0" rtlCol="0" anchor="ctr"/>
          <a:lstStyle/>
          <a:p>
            <a:pPr marL="0" indent="0">
              <a:buNone/>
            </a:pPr>
            <a:r>
              <a:rPr lang="en-US" sz="1050" dirty="0">
                <a:solidFill>
                  <a:srgbClr val="F4F1EA"/>
                </a:solidFill>
                <a:latin typeface="Satoshi Medium" pitchFamily="34" charset="0"/>
                <a:ea typeface="Satoshi Medium" pitchFamily="34" charset="-122"/>
                <a:cs typeface="Satoshi Medium" pitchFamily="34" charset="-120"/>
              </a:rPr>
              <a:t>Share the links</a:t>
            </a:r>
            <a:endParaRPr lang="en-US" sz="1050" dirty="0"/>
          </a:p>
        </p:txBody>
      </p:sp>
      <p:sp>
        <p:nvSpPr>
          <p:cNvPr id="16" name="Text 14"/>
          <p:cNvSpPr txBox="1"/>
          <p:nvPr/>
        </p:nvSpPr>
        <p:spPr>
          <a:xfrm>
            <a:off x="4745736" y="1554480"/>
            <a:ext cx="1783080" cy="566928"/>
          </a:xfrm>
          <a:prstGeom prst="rect">
            <a:avLst/>
          </a:prstGeom>
          <a:noFill/>
          <a:ln/>
        </p:spPr>
        <p:txBody>
          <a:bodyPr wrap="square" lIns="0" tIns="0" rIns="0" bIns="0" rtlCol="0" anchor="t"/>
          <a:lstStyle/>
          <a:p>
            <a:pPr marL="0" indent="0">
              <a:lnSpc>
                <a:spcPct val="106000"/>
              </a:lnSpc>
              <a:buNone/>
            </a:pPr>
            <a:r>
              <a:rPr lang="en-US" sz="780" dirty="0">
                <a:solidFill>
                  <a:srgbClr val="A9A59C"/>
                </a:solidFill>
                <a:latin typeface="Satoshi" pitchFamily="34" charset="0"/>
                <a:ea typeface="Satoshi" pitchFamily="34" charset="-122"/>
                <a:cs typeface="Satoshi" pitchFamily="34" charset="-120"/>
              </a:rPr>
              <a:t>Front-desk login link, a private link per staff member, the client booking page + QR (yes / no to messages, never pre-ticked).</a:t>
            </a:r>
            <a:endParaRPr lang="en-US" sz="780" dirty="0"/>
          </a:p>
        </p:txBody>
      </p:sp>
      <p:sp>
        <p:nvSpPr>
          <p:cNvPr id="17" name="Shape 15"/>
          <p:cNvSpPr/>
          <p:nvPr/>
        </p:nvSpPr>
        <p:spPr>
          <a:xfrm>
            <a:off x="6720840" y="1152144"/>
            <a:ext cx="2011680" cy="1005840"/>
          </a:xfrm>
          <a:prstGeom prst="roundRect">
            <a:avLst>
              <a:gd name="adj" fmla="val 8182"/>
            </a:avLst>
          </a:prstGeom>
          <a:solidFill>
            <a:srgbClr val="131316"/>
          </a:solidFill>
          <a:ln w="9525">
            <a:solidFill>
              <a:srgbClr val="2A2A2F"/>
            </a:solidFill>
            <a:prstDash val="solid"/>
          </a:ln>
        </p:spPr>
      </p:sp>
      <p:sp>
        <p:nvSpPr>
          <p:cNvPr id="18" name="Text 16"/>
          <p:cNvSpPr txBox="1"/>
          <p:nvPr/>
        </p:nvSpPr>
        <p:spPr>
          <a:xfrm>
            <a:off x="6848856" y="1243584"/>
            <a:ext cx="274320" cy="274320"/>
          </a:xfrm>
          <a:prstGeom prst="rect">
            <a:avLst/>
          </a:prstGeom>
          <a:noFill/>
          <a:ln/>
        </p:spPr>
        <p:txBody>
          <a:bodyPr wrap="square" lIns="0" tIns="0" rIns="0" bIns="0" rtlCol="0" anchor="t"/>
          <a:lstStyle/>
          <a:p>
            <a:pPr marL="0" indent="0">
              <a:buNone/>
            </a:pPr>
            <a:r>
              <a:rPr lang="en-US" sz="1700" dirty="0">
                <a:solidFill>
                  <a:srgbClr val="C6F24E"/>
                </a:solidFill>
                <a:latin typeface="Clash Display Semibold" pitchFamily="34" charset="0"/>
                <a:ea typeface="Clash Display Semibold" pitchFamily="34" charset="-122"/>
                <a:cs typeface="Clash Display Semibold" pitchFamily="34" charset="-120"/>
              </a:rPr>
              <a:t>4</a:t>
            </a:r>
            <a:endParaRPr lang="en-US" sz="1700" dirty="0"/>
          </a:p>
        </p:txBody>
      </p:sp>
      <p:sp>
        <p:nvSpPr>
          <p:cNvPr id="19" name="Text 17"/>
          <p:cNvSpPr txBox="1"/>
          <p:nvPr/>
        </p:nvSpPr>
        <p:spPr>
          <a:xfrm>
            <a:off x="7132320" y="1280160"/>
            <a:ext cx="1536192" cy="219456"/>
          </a:xfrm>
          <a:prstGeom prst="rect">
            <a:avLst/>
          </a:prstGeom>
          <a:noFill/>
          <a:ln/>
        </p:spPr>
        <p:txBody>
          <a:bodyPr wrap="square" lIns="0" tIns="0" rIns="0" bIns="0" rtlCol="0" anchor="ctr"/>
          <a:lstStyle/>
          <a:p>
            <a:pPr marL="0" indent="0">
              <a:buNone/>
            </a:pPr>
            <a:r>
              <a:rPr lang="en-US" sz="1050" dirty="0">
                <a:solidFill>
                  <a:srgbClr val="F4F1EA"/>
                </a:solidFill>
                <a:latin typeface="Satoshi Medium" pitchFamily="34" charset="0"/>
                <a:ea typeface="Satoshi Medium" pitchFamily="34" charset="-122"/>
                <a:cs typeface="Satoshi Medium" pitchFamily="34" charset="-120"/>
              </a:rPr>
              <a:t>Set the rules</a:t>
            </a:r>
            <a:endParaRPr lang="en-US" sz="1050" dirty="0"/>
          </a:p>
        </p:txBody>
      </p:sp>
      <p:sp>
        <p:nvSpPr>
          <p:cNvPr id="20" name="Text 18"/>
          <p:cNvSpPr txBox="1"/>
          <p:nvPr/>
        </p:nvSpPr>
        <p:spPr>
          <a:xfrm>
            <a:off x="6848856" y="1554480"/>
            <a:ext cx="1783080" cy="566928"/>
          </a:xfrm>
          <a:prstGeom prst="rect">
            <a:avLst/>
          </a:prstGeom>
          <a:noFill/>
          <a:ln/>
        </p:spPr>
        <p:txBody>
          <a:bodyPr wrap="square" lIns="0" tIns="0" rIns="0" bIns="0" rtlCol="0" anchor="t"/>
          <a:lstStyle/>
          <a:p>
            <a:pPr marL="0" indent="0">
              <a:lnSpc>
                <a:spcPct val="106000"/>
              </a:lnSpc>
              <a:buNone/>
            </a:pPr>
            <a:r>
              <a:rPr lang="en-US" sz="780" dirty="0">
                <a:solidFill>
                  <a:srgbClr val="A9A59C"/>
                </a:solidFill>
                <a:latin typeface="Satoshi" pitchFamily="34" charset="0"/>
                <a:ea typeface="Satoshi" pitchFamily="34" charset="-122"/>
                <a:cs typeface="Satoshi" pitchFamily="34" charset="-120"/>
              </a:rPr>
              <a:t>Offer hold 15 min · 3 messages per client a day · late if under 2 h · no offers inside 10 min. Owner can change all.</a:t>
            </a:r>
            <a:endParaRPr lang="en-US" sz="780" dirty="0"/>
          </a:p>
        </p:txBody>
      </p:sp>
      <p:sp>
        <p:nvSpPr>
          <p:cNvPr id="21" name="Text 19"/>
          <p:cNvSpPr txBox="1"/>
          <p:nvPr/>
        </p:nvSpPr>
        <p:spPr>
          <a:xfrm>
            <a:off x="411480" y="2331720"/>
            <a:ext cx="3657600" cy="164592"/>
          </a:xfrm>
          <a:prstGeom prst="rect">
            <a:avLst/>
          </a:prstGeom>
          <a:noFill/>
          <a:ln/>
        </p:spPr>
        <p:txBody>
          <a:bodyPr wrap="square" lIns="0" tIns="0" rIns="0" bIns="0" rtlCol="0" anchor="t"/>
          <a:lstStyle/>
          <a:p>
            <a:pPr marL="0" indent="0">
              <a:buNone/>
            </a:pPr>
            <a:r>
              <a:rPr lang="en-US" sz="750" kern="0" spc="110" dirty="0">
                <a:solidFill>
                  <a:srgbClr val="C6F24E"/>
                </a:solidFill>
                <a:latin typeface="JetBrains Mono" pitchFamily="34" charset="0"/>
                <a:ea typeface="JetBrains Mono" pitchFamily="34" charset="-122"/>
                <a:cs typeface="JetBrains Mono" pitchFamily="34" charset="-120"/>
              </a:rPr>
              <a:t>A DAY ON REFILL · FRONT DESK</a:t>
            </a:r>
            <a:endParaRPr lang="en-US" sz="750" dirty="0"/>
          </a:p>
        </p:txBody>
      </p:sp>
      <p:sp>
        <p:nvSpPr>
          <p:cNvPr id="22" name="Shape 20"/>
          <p:cNvSpPr/>
          <p:nvPr/>
        </p:nvSpPr>
        <p:spPr>
          <a:xfrm>
            <a:off x="457200" y="2670048"/>
            <a:ext cx="7187184" cy="0"/>
          </a:xfrm>
          <a:prstGeom prst="line">
            <a:avLst/>
          </a:prstGeom>
          <a:noFill/>
          <a:ln w="12700">
            <a:solidFill>
              <a:srgbClr val="35353B"/>
            </a:solidFill>
            <a:prstDash val="solid"/>
          </a:ln>
        </p:spPr>
      </p:sp>
      <p:sp>
        <p:nvSpPr>
          <p:cNvPr id="23" name="Shape 21"/>
          <p:cNvSpPr/>
          <p:nvPr/>
        </p:nvSpPr>
        <p:spPr>
          <a:xfrm>
            <a:off x="411480" y="2624328"/>
            <a:ext cx="100584" cy="100584"/>
          </a:xfrm>
          <a:prstGeom prst="ellipse">
            <a:avLst/>
          </a:prstGeom>
          <a:solidFill>
            <a:srgbClr val="A9A59C"/>
          </a:solidFill>
          <a:ln w="12700">
            <a:solidFill>
              <a:srgbClr val="A9A59C"/>
            </a:solidFill>
            <a:prstDash val="solid"/>
          </a:ln>
        </p:spPr>
      </p:sp>
      <p:sp>
        <p:nvSpPr>
          <p:cNvPr id="24" name="Text 22"/>
          <p:cNvSpPr txBox="1"/>
          <p:nvPr/>
        </p:nvSpPr>
        <p:spPr>
          <a:xfrm>
            <a:off x="411480" y="2788920"/>
            <a:ext cx="1115568" cy="201168"/>
          </a:xfrm>
          <a:prstGeom prst="rect">
            <a:avLst/>
          </a:prstGeom>
          <a:noFill/>
          <a:ln/>
        </p:spPr>
        <p:txBody>
          <a:bodyPr wrap="square" lIns="0" tIns="0" rIns="0" bIns="0" rtlCol="0" anchor="t"/>
          <a:lstStyle/>
          <a:p>
            <a:pPr marL="0" indent="0">
              <a:buNone/>
            </a:pPr>
            <a:r>
              <a:rPr lang="en-US" sz="950" dirty="0">
                <a:solidFill>
                  <a:srgbClr val="F4F1EA"/>
                </a:solidFill>
                <a:latin typeface="Satoshi Medium" pitchFamily="34" charset="0"/>
                <a:ea typeface="Satoshi Medium" pitchFamily="34" charset="-122"/>
                <a:cs typeface="Satoshi Medium" pitchFamily="34" charset="-120"/>
              </a:rPr>
              <a:t>Open Today</a:t>
            </a:r>
            <a:endParaRPr lang="en-US" sz="950" dirty="0"/>
          </a:p>
        </p:txBody>
      </p:sp>
      <p:sp>
        <p:nvSpPr>
          <p:cNvPr id="25" name="Text 23"/>
          <p:cNvSpPr txBox="1"/>
          <p:nvPr/>
        </p:nvSpPr>
        <p:spPr>
          <a:xfrm>
            <a:off x="411480" y="3017520"/>
            <a:ext cx="1097280" cy="640080"/>
          </a:xfrm>
          <a:prstGeom prst="rect">
            <a:avLst/>
          </a:prstGeom>
          <a:noFill/>
          <a:ln/>
        </p:spPr>
        <p:txBody>
          <a:bodyPr wrap="square" lIns="0" tIns="0" rIns="0" bIns="0" rtlCol="0" anchor="t"/>
          <a:lstStyle/>
          <a:p>
            <a:pPr marL="0" indent="0">
              <a:lnSpc>
                <a:spcPct val="106000"/>
              </a:lnSpc>
              <a:buNone/>
            </a:pPr>
            <a:r>
              <a:rPr lang="en-US" sz="750" dirty="0">
                <a:solidFill>
                  <a:srgbClr val="A9A59C"/>
                </a:solidFill>
                <a:latin typeface="Satoshi" pitchFamily="34" charset="0"/>
                <a:ea typeface="Satoshi" pitchFamily="34" charset="-122"/>
                <a:cs typeface="Satoshi" pitchFamily="34" charset="-120"/>
              </a:rPr>
              <a:t>The Day Dial: every staff ring, every booking; "needs you now".</a:t>
            </a:r>
            <a:endParaRPr lang="en-US" sz="750" dirty="0"/>
          </a:p>
        </p:txBody>
      </p:sp>
      <p:sp>
        <p:nvSpPr>
          <p:cNvPr id="26" name="Shape 24"/>
          <p:cNvSpPr/>
          <p:nvPr/>
        </p:nvSpPr>
        <p:spPr>
          <a:xfrm>
            <a:off x="1609344" y="2624328"/>
            <a:ext cx="100584" cy="100584"/>
          </a:xfrm>
          <a:prstGeom prst="ellipse">
            <a:avLst/>
          </a:prstGeom>
          <a:solidFill>
            <a:srgbClr val="FFB547"/>
          </a:solidFill>
          <a:ln w="12700">
            <a:solidFill>
              <a:srgbClr val="FFB547"/>
            </a:solidFill>
            <a:prstDash val="solid"/>
          </a:ln>
        </p:spPr>
      </p:sp>
      <p:sp>
        <p:nvSpPr>
          <p:cNvPr id="27" name="Text 25"/>
          <p:cNvSpPr txBox="1"/>
          <p:nvPr/>
        </p:nvSpPr>
        <p:spPr>
          <a:xfrm>
            <a:off x="1609344" y="2788920"/>
            <a:ext cx="1115568" cy="201168"/>
          </a:xfrm>
          <a:prstGeom prst="rect">
            <a:avLst/>
          </a:prstGeom>
          <a:noFill/>
          <a:ln/>
        </p:spPr>
        <p:txBody>
          <a:bodyPr wrap="square" lIns="0" tIns="0" rIns="0" bIns="0" rtlCol="0" anchor="t"/>
          <a:lstStyle/>
          <a:p>
            <a:pPr marL="0" indent="0">
              <a:buNone/>
            </a:pPr>
            <a:r>
              <a:rPr lang="en-US" sz="950" dirty="0">
                <a:solidFill>
                  <a:srgbClr val="FFB547"/>
                </a:solidFill>
                <a:latin typeface="Satoshi Medium" pitchFamily="34" charset="0"/>
                <a:ea typeface="Satoshi Medium" pitchFamily="34" charset="-122"/>
                <a:cs typeface="Satoshi Medium" pitchFamily="34" charset="-120"/>
              </a:rPr>
              <a:t>Client cancels</a:t>
            </a:r>
            <a:endParaRPr lang="en-US" sz="950" dirty="0"/>
          </a:p>
        </p:txBody>
      </p:sp>
      <p:sp>
        <p:nvSpPr>
          <p:cNvPr id="28" name="Text 26"/>
          <p:cNvSpPr txBox="1"/>
          <p:nvPr/>
        </p:nvSpPr>
        <p:spPr>
          <a:xfrm>
            <a:off x="1609344" y="3017520"/>
            <a:ext cx="1097280" cy="640080"/>
          </a:xfrm>
          <a:prstGeom prst="rect">
            <a:avLst/>
          </a:prstGeom>
          <a:noFill/>
          <a:ln/>
        </p:spPr>
        <p:txBody>
          <a:bodyPr wrap="square" lIns="0" tIns="0" rIns="0" bIns="0" rtlCol="0" anchor="t"/>
          <a:lstStyle/>
          <a:p>
            <a:pPr marL="0" indent="0">
              <a:lnSpc>
                <a:spcPct val="106000"/>
              </a:lnSpc>
              <a:buNone/>
            </a:pPr>
            <a:r>
              <a:rPr lang="en-US" sz="750" dirty="0">
                <a:solidFill>
                  <a:srgbClr val="A9A59C"/>
                </a:solidFill>
                <a:latin typeface="Satoshi" pitchFamily="34" charset="0"/>
                <a:ea typeface="Satoshi" pitchFamily="34" charset="-122"/>
                <a:cs typeface="Satoshi" pitchFamily="34" charset="-120"/>
              </a:rPr>
              <a:t>Desk records it. The gap turns amber with ₹ at stake; late if under 2 h.</a:t>
            </a:r>
            <a:endParaRPr lang="en-US" sz="750" dirty="0"/>
          </a:p>
        </p:txBody>
      </p:sp>
      <p:sp>
        <p:nvSpPr>
          <p:cNvPr id="29" name="Shape 27"/>
          <p:cNvSpPr/>
          <p:nvPr/>
        </p:nvSpPr>
        <p:spPr>
          <a:xfrm>
            <a:off x="2807208" y="2624328"/>
            <a:ext cx="100584" cy="100584"/>
          </a:xfrm>
          <a:prstGeom prst="ellipse">
            <a:avLst/>
          </a:prstGeom>
          <a:solidFill>
            <a:srgbClr val="A9A59C"/>
          </a:solidFill>
          <a:ln w="12700">
            <a:solidFill>
              <a:srgbClr val="A9A59C"/>
            </a:solidFill>
            <a:prstDash val="solid"/>
          </a:ln>
        </p:spPr>
      </p:sp>
      <p:sp>
        <p:nvSpPr>
          <p:cNvPr id="30" name="Text 28"/>
          <p:cNvSpPr txBox="1"/>
          <p:nvPr/>
        </p:nvSpPr>
        <p:spPr>
          <a:xfrm>
            <a:off x="2807208" y="2788920"/>
            <a:ext cx="1115568" cy="201168"/>
          </a:xfrm>
          <a:prstGeom prst="rect">
            <a:avLst/>
          </a:prstGeom>
          <a:noFill/>
          <a:ln/>
        </p:spPr>
        <p:txBody>
          <a:bodyPr wrap="square" lIns="0" tIns="0" rIns="0" bIns="0" rtlCol="0" anchor="t"/>
          <a:lstStyle/>
          <a:p>
            <a:pPr marL="0" indent="0">
              <a:buNone/>
            </a:pPr>
            <a:r>
              <a:rPr lang="en-US" sz="950" dirty="0">
                <a:solidFill>
                  <a:srgbClr val="F4F1EA"/>
                </a:solidFill>
                <a:latin typeface="Satoshi Medium" pitchFamily="34" charset="0"/>
                <a:ea typeface="Satoshi Medium" pitchFamily="34" charset="-122"/>
                <a:cs typeface="Satoshi Medium" pitchFamily="34" charset="-120"/>
              </a:rPr>
              <a:t>Who fits</a:t>
            </a:r>
            <a:endParaRPr lang="en-US" sz="950" dirty="0"/>
          </a:p>
        </p:txBody>
      </p:sp>
      <p:sp>
        <p:nvSpPr>
          <p:cNvPr id="31" name="Text 29"/>
          <p:cNvSpPr txBox="1"/>
          <p:nvPr/>
        </p:nvSpPr>
        <p:spPr>
          <a:xfrm>
            <a:off x="2807208" y="3017520"/>
            <a:ext cx="1097280" cy="640080"/>
          </a:xfrm>
          <a:prstGeom prst="rect">
            <a:avLst/>
          </a:prstGeom>
          <a:noFill/>
          <a:ln/>
        </p:spPr>
        <p:txBody>
          <a:bodyPr wrap="square" lIns="0" tIns="0" rIns="0" bIns="0" rtlCol="0" anchor="t"/>
          <a:lstStyle/>
          <a:p>
            <a:pPr marL="0" indent="0">
              <a:lnSpc>
                <a:spcPct val="106000"/>
              </a:lnSpc>
              <a:buNone/>
            </a:pPr>
            <a:r>
              <a:rPr lang="en-US" sz="750" dirty="0">
                <a:solidFill>
                  <a:srgbClr val="A9A59C"/>
                </a:solidFill>
                <a:latin typeface="Satoshi" pitchFamily="34" charset="0"/>
                <a:ea typeface="Satoshi" pitchFamily="34" charset="-122"/>
                <a:cs typeface="Satoshi" pitchFamily="34" charset="-120"/>
              </a:rPr>
              <a:t>Fits in queue order; every skip with its reason.</a:t>
            </a:r>
            <a:endParaRPr lang="en-US" sz="750" dirty="0"/>
          </a:p>
        </p:txBody>
      </p:sp>
      <p:sp>
        <p:nvSpPr>
          <p:cNvPr id="32" name="Shape 30"/>
          <p:cNvSpPr/>
          <p:nvPr/>
        </p:nvSpPr>
        <p:spPr>
          <a:xfrm>
            <a:off x="4005072" y="2624328"/>
            <a:ext cx="100584" cy="100584"/>
          </a:xfrm>
          <a:prstGeom prst="ellipse">
            <a:avLst/>
          </a:prstGeom>
          <a:solidFill>
            <a:srgbClr val="A9A59C"/>
          </a:solidFill>
          <a:ln w="12700">
            <a:solidFill>
              <a:srgbClr val="A9A59C"/>
            </a:solidFill>
            <a:prstDash val="solid"/>
          </a:ln>
        </p:spPr>
      </p:sp>
      <p:sp>
        <p:nvSpPr>
          <p:cNvPr id="33" name="Text 31"/>
          <p:cNvSpPr txBox="1"/>
          <p:nvPr/>
        </p:nvSpPr>
        <p:spPr>
          <a:xfrm>
            <a:off x="4005072" y="2788920"/>
            <a:ext cx="1115568" cy="201168"/>
          </a:xfrm>
          <a:prstGeom prst="rect">
            <a:avLst/>
          </a:prstGeom>
          <a:noFill/>
          <a:ln/>
        </p:spPr>
        <p:txBody>
          <a:bodyPr wrap="square" lIns="0" tIns="0" rIns="0" bIns="0" rtlCol="0" anchor="t"/>
          <a:lstStyle/>
          <a:p>
            <a:pPr marL="0" indent="0">
              <a:buNone/>
            </a:pPr>
            <a:r>
              <a:rPr lang="en-US" sz="950" dirty="0">
                <a:solidFill>
                  <a:srgbClr val="F4F1EA"/>
                </a:solidFill>
                <a:latin typeface="Satoshi Medium" pitchFamily="34" charset="0"/>
                <a:ea typeface="Satoshi Medium" pitchFamily="34" charset="-122"/>
                <a:cs typeface="Satoshi Medium" pitchFamily="34" charset="-120"/>
              </a:rPr>
              <a:t>Send offers</a:t>
            </a:r>
            <a:endParaRPr lang="en-US" sz="950" dirty="0"/>
          </a:p>
        </p:txBody>
      </p:sp>
      <p:sp>
        <p:nvSpPr>
          <p:cNvPr id="34" name="Text 32"/>
          <p:cNvSpPr txBox="1"/>
          <p:nvPr/>
        </p:nvSpPr>
        <p:spPr>
          <a:xfrm>
            <a:off x="4005072" y="3017520"/>
            <a:ext cx="1097280" cy="640080"/>
          </a:xfrm>
          <a:prstGeom prst="rect">
            <a:avLst/>
          </a:prstGeom>
          <a:noFill/>
          <a:ln/>
        </p:spPr>
        <p:txBody>
          <a:bodyPr wrap="square" lIns="0" tIns="0" rIns="0" bIns="0" rtlCol="0" anchor="t"/>
          <a:lstStyle/>
          <a:p>
            <a:pPr marL="0" indent="0">
              <a:lnSpc>
                <a:spcPct val="106000"/>
              </a:lnSpc>
              <a:buNone/>
            </a:pPr>
            <a:r>
              <a:rPr lang="en-US" sz="750" dirty="0">
                <a:solidFill>
                  <a:srgbClr val="A9A59C"/>
                </a:solidFill>
                <a:latin typeface="Satoshi" pitchFamily="34" charset="0"/>
                <a:ea typeface="Satoshi" pitchFamily="34" charset="-122"/>
                <a:cs typeface="Satoshi" pitchFamily="34" charset="-120"/>
              </a:rPr>
              <a:t>One tap. Held 15 min; max 3 a day per client.</a:t>
            </a:r>
            <a:endParaRPr lang="en-US" sz="750" dirty="0"/>
          </a:p>
        </p:txBody>
      </p:sp>
      <p:sp>
        <p:nvSpPr>
          <p:cNvPr id="35" name="Shape 33"/>
          <p:cNvSpPr/>
          <p:nvPr/>
        </p:nvSpPr>
        <p:spPr>
          <a:xfrm>
            <a:off x="5202936" y="2624328"/>
            <a:ext cx="100584" cy="100584"/>
          </a:xfrm>
          <a:prstGeom prst="ellipse">
            <a:avLst/>
          </a:prstGeom>
          <a:solidFill>
            <a:srgbClr val="A9A59C"/>
          </a:solidFill>
          <a:ln w="12700">
            <a:solidFill>
              <a:srgbClr val="A9A59C"/>
            </a:solidFill>
            <a:prstDash val="solid"/>
          </a:ln>
        </p:spPr>
      </p:sp>
      <p:sp>
        <p:nvSpPr>
          <p:cNvPr id="36" name="Text 34"/>
          <p:cNvSpPr txBox="1"/>
          <p:nvPr/>
        </p:nvSpPr>
        <p:spPr>
          <a:xfrm>
            <a:off x="5202936" y="2788920"/>
            <a:ext cx="1115568" cy="201168"/>
          </a:xfrm>
          <a:prstGeom prst="rect">
            <a:avLst/>
          </a:prstGeom>
          <a:noFill/>
          <a:ln/>
        </p:spPr>
        <p:txBody>
          <a:bodyPr wrap="square" lIns="0" tIns="0" rIns="0" bIns="0" rtlCol="0" anchor="t"/>
          <a:lstStyle/>
          <a:p>
            <a:pPr marL="0" indent="0">
              <a:buNone/>
            </a:pPr>
            <a:r>
              <a:rPr lang="en-US" sz="950" dirty="0">
                <a:solidFill>
                  <a:srgbClr val="F4F1EA"/>
                </a:solidFill>
                <a:latin typeface="Satoshi Medium" pitchFamily="34" charset="0"/>
                <a:ea typeface="Satoshi Medium" pitchFamily="34" charset="-122"/>
                <a:cs typeface="Satoshi Medium" pitchFamily="34" charset="-120"/>
              </a:rPr>
              <a:t>Client books</a:t>
            </a:r>
            <a:endParaRPr lang="en-US" sz="950" dirty="0"/>
          </a:p>
        </p:txBody>
      </p:sp>
      <p:sp>
        <p:nvSpPr>
          <p:cNvPr id="37" name="Text 35"/>
          <p:cNvSpPr txBox="1"/>
          <p:nvPr/>
        </p:nvSpPr>
        <p:spPr>
          <a:xfrm>
            <a:off x="5202936" y="3017520"/>
            <a:ext cx="1097280" cy="640080"/>
          </a:xfrm>
          <a:prstGeom prst="rect">
            <a:avLst/>
          </a:prstGeom>
          <a:noFill/>
          <a:ln/>
        </p:spPr>
        <p:txBody>
          <a:bodyPr wrap="square" lIns="0" tIns="0" rIns="0" bIns="0" rtlCol="0" anchor="t"/>
          <a:lstStyle/>
          <a:p>
            <a:pPr marL="0" indent="0">
              <a:lnSpc>
                <a:spcPct val="106000"/>
              </a:lnSpc>
              <a:buNone/>
            </a:pPr>
            <a:r>
              <a:rPr lang="en-US" sz="750" dirty="0">
                <a:solidFill>
                  <a:srgbClr val="A9A59C"/>
                </a:solidFill>
                <a:latin typeface="Satoshi" pitchFamily="34" charset="0"/>
                <a:ea typeface="Satoshi" pitchFamily="34" charset="-122"/>
                <a:cs typeface="Satoshi" pitchFamily="34" charset="-120"/>
              </a:rPr>
              <a:t>One tap on their phone. Two taps at once: one booking.</a:t>
            </a:r>
            <a:endParaRPr lang="en-US" sz="750" dirty="0"/>
          </a:p>
        </p:txBody>
      </p:sp>
      <p:sp>
        <p:nvSpPr>
          <p:cNvPr id="38" name="Shape 36"/>
          <p:cNvSpPr/>
          <p:nvPr/>
        </p:nvSpPr>
        <p:spPr>
          <a:xfrm>
            <a:off x="6400800" y="2624328"/>
            <a:ext cx="100584" cy="100584"/>
          </a:xfrm>
          <a:prstGeom prst="ellipse">
            <a:avLst/>
          </a:prstGeom>
          <a:solidFill>
            <a:srgbClr val="C6F24E"/>
          </a:solidFill>
          <a:ln w="12700">
            <a:solidFill>
              <a:srgbClr val="C6F24E"/>
            </a:solidFill>
            <a:prstDash val="solid"/>
          </a:ln>
        </p:spPr>
      </p:sp>
      <p:sp>
        <p:nvSpPr>
          <p:cNvPr id="39" name="Text 37"/>
          <p:cNvSpPr txBox="1"/>
          <p:nvPr/>
        </p:nvSpPr>
        <p:spPr>
          <a:xfrm>
            <a:off x="6400800" y="2788920"/>
            <a:ext cx="1115568" cy="201168"/>
          </a:xfrm>
          <a:prstGeom prst="rect">
            <a:avLst/>
          </a:prstGeom>
          <a:noFill/>
          <a:ln/>
        </p:spPr>
        <p:txBody>
          <a:bodyPr wrap="square" lIns="0" tIns="0" rIns="0" bIns="0" rtlCol="0" anchor="t"/>
          <a:lstStyle/>
          <a:p>
            <a:pPr marL="0" indent="0">
              <a:buNone/>
            </a:pPr>
            <a:r>
              <a:rPr lang="en-US" sz="950" dirty="0">
                <a:solidFill>
                  <a:srgbClr val="C6F24E"/>
                </a:solidFill>
                <a:latin typeface="Satoshi Medium" pitchFamily="34" charset="0"/>
                <a:ea typeface="Satoshi Medium" pitchFamily="34" charset="-122"/>
                <a:cs typeface="Satoshi Medium" pitchFamily="34" charset="-120"/>
              </a:rPr>
              <a:t>Slot refilled</a:t>
            </a:r>
            <a:endParaRPr lang="en-US" sz="950" dirty="0"/>
          </a:p>
        </p:txBody>
      </p:sp>
      <p:sp>
        <p:nvSpPr>
          <p:cNvPr id="40" name="Text 38"/>
          <p:cNvSpPr txBox="1"/>
          <p:nvPr/>
        </p:nvSpPr>
        <p:spPr>
          <a:xfrm>
            <a:off x="6400800" y="3017520"/>
            <a:ext cx="1097280" cy="640080"/>
          </a:xfrm>
          <a:prstGeom prst="rect">
            <a:avLst/>
          </a:prstGeom>
          <a:noFill/>
          <a:ln/>
        </p:spPr>
        <p:txBody>
          <a:bodyPr wrap="square" lIns="0" tIns="0" rIns="0" bIns="0" rtlCol="0" anchor="t"/>
          <a:lstStyle/>
          <a:p>
            <a:pPr marL="0" indent="0">
              <a:lnSpc>
                <a:spcPct val="106000"/>
              </a:lnSpc>
              <a:buNone/>
            </a:pPr>
            <a:r>
              <a:rPr lang="en-US" sz="750" dirty="0">
                <a:solidFill>
                  <a:srgbClr val="A9A59C"/>
                </a:solidFill>
                <a:latin typeface="Satoshi" pitchFamily="34" charset="0"/>
                <a:ea typeface="Satoshi" pitchFamily="34" charset="-122"/>
                <a:cs typeface="Satoshi" pitchFamily="34" charset="-120"/>
              </a:rPr>
              <a:t>Lime on the dial; the owner sees ₹ recovered.</a:t>
            </a:r>
            <a:endParaRPr lang="en-US" sz="750" dirty="0"/>
          </a:p>
        </p:txBody>
      </p:sp>
      <p:sp>
        <p:nvSpPr>
          <p:cNvPr id="41" name="Shape 39"/>
          <p:cNvSpPr/>
          <p:nvPr/>
        </p:nvSpPr>
        <p:spPr>
          <a:xfrm>
            <a:off x="7598664" y="2624328"/>
            <a:ext cx="100584" cy="100584"/>
          </a:xfrm>
          <a:prstGeom prst="ellipse">
            <a:avLst/>
          </a:prstGeom>
          <a:solidFill>
            <a:srgbClr val="FF5D4D"/>
          </a:solidFill>
          <a:ln w="12700">
            <a:solidFill>
              <a:srgbClr val="FF5D4D"/>
            </a:solidFill>
            <a:prstDash val="solid"/>
          </a:ln>
        </p:spPr>
      </p:sp>
      <p:sp>
        <p:nvSpPr>
          <p:cNvPr id="42" name="Text 40"/>
          <p:cNvSpPr txBox="1"/>
          <p:nvPr/>
        </p:nvSpPr>
        <p:spPr>
          <a:xfrm>
            <a:off x="7598664" y="2788920"/>
            <a:ext cx="1115568" cy="201168"/>
          </a:xfrm>
          <a:prstGeom prst="rect">
            <a:avLst/>
          </a:prstGeom>
          <a:noFill/>
          <a:ln/>
        </p:spPr>
        <p:txBody>
          <a:bodyPr wrap="square" lIns="0" tIns="0" rIns="0" bIns="0" rtlCol="0" anchor="t"/>
          <a:lstStyle/>
          <a:p>
            <a:pPr marL="0" indent="0">
              <a:buNone/>
            </a:pPr>
            <a:r>
              <a:rPr lang="en-US" sz="950" dirty="0">
                <a:solidFill>
                  <a:srgbClr val="FF5D4D"/>
                </a:solidFill>
                <a:latin typeface="Satoshi Medium" pitchFamily="34" charset="0"/>
                <a:ea typeface="Satoshi Medium" pitchFamily="34" charset="-122"/>
                <a:cs typeface="Satoshi Medium" pitchFamily="34" charset="-120"/>
              </a:rPr>
              <a:t>Staff out?</a:t>
            </a:r>
            <a:endParaRPr lang="en-US" sz="950" dirty="0"/>
          </a:p>
        </p:txBody>
      </p:sp>
      <p:sp>
        <p:nvSpPr>
          <p:cNvPr id="43" name="Text 41"/>
          <p:cNvSpPr txBox="1"/>
          <p:nvPr/>
        </p:nvSpPr>
        <p:spPr>
          <a:xfrm>
            <a:off x="7598664" y="3017520"/>
            <a:ext cx="1097280" cy="640080"/>
          </a:xfrm>
          <a:prstGeom prst="rect">
            <a:avLst/>
          </a:prstGeom>
          <a:noFill/>
          <a:ln/>
        </p:spPr>
        <p:txBody>
          <a:bodyPr wrap="square" lIns="0" tIns="0" rIns="0" bIns="0" rtlCol="0" anchor="t"/>
          <a:lstStyle/>
          <a:p>
            <a:pPr marL="0" indent="0">
              <a:lnSpc>
                <a:spcPct val="106000"/>
              </a:lnSpc>
              <a:buNone/>
            </a:pPr>
            <a:r>
              <a:rPr lang="en-US" sz="750" dirty="0">
                <a:solidFill>
                  <a:srgbClr val="A9A59C"/>
                </a:solidFill>
                <a:latin typeface="Satoshi" pitchFamily="34" charset="0"/>
                <a:ea typeface="Satoshi" pitchFamily="34" charset="-122"/>
                <a:cs typeface="Satoshi" pitchFamily="34" charset="-120"/>
              </a:rPr>
              <a:t>Their clients flagged; desk moves them or sends a link.</a:t>
            </a:r>
            <a:endParaRPr lang="en-US" sz="750" dirty="0"/>
          </a:p>
        </p:txBody>
      </p:sp>
      <p:sp>
        <p:nvSpPr>
          <p:cNvPr id="44" name="Shape 42"/>
          <p:cNvSpPr/>
          <p:nvPr/>
        </p:nvSpPr>
        <p:spPr>
          <a:xfrm>
            <a:off x="411480" y="3794760"/>
            <a:ext cx="4206240" cy="1051560"/>
          </a:xfrm>
          <a:prstGeom prst="roundRect">
            <a:avLst>
              <a:gd name="adj" fmla="val 7826"/>
            </a:avLst>
          </a:prstGeom>
          <a:solidFill>
            <a:srgbClr val="18181C"/>
          </a:solidFill>
          <a:ln w="9525">
            <a:solidFill>
              <a:srgbClr val="2A2A2F"/>
            </a:solidFill>
            <a:prstDash val="solid"/>
          </a:ln>
        </p:spPr>
      </p:sp>
      <p:sp>
        <p:nvSpPr>
          <p:cNvPr id="45" name="Text 43"/>
          <p:cNvSpPr txBox="1"/>
          <p:nvPr/>
        </p:nvSpPr>
        <p:spPr>
          <a:xfrm>
            <a:off x="566928" y="3913632"/>
            <a:ext cx="3840480" cy="164592"/>
          </a:xfrm>
          <a:prstGeom prst="rect">
            <a:avLst/>
          </a:prstGeom>
          <a:noFill/>
          <a:ln/>
        </p:spPr>
        <p:txBody>
          <a:bodyPr wrap="square" lIns="0" tIns="0" rIns="0" bIns="0" rtlCol="0" anchor="t"/>
          <a:lstStyle/>
          <a:p>
            <a:pPr marL="0" indent="0">
              <a:buNone/>
            </a:pPr>
            <a:r>
              <a:rPr lang="en-US" sz="750" kern="0" spc="110" dirty="0">
                <a:solidFill>
                  <a:srgbClr val="C6F24E"/>
                </a:solidFill>
                <a:latin typeface="JetBrains Mono" pitchFamily="34" charset="0"/>
                <a:ea typeface="JetBrains Mono" pitchFamily="34" charset="-122"/>
                <a:cs typeface="JetBrains Mono" pitchFamily="34" charset="-120"/>
              </a:rPr>
              <a:t>EVIDENCE TRAIL SAVED AT EVERY STEP</a:t>
            </a:r>
            <a:endParaRPr lang="en-US" sz="750" dirty="0"/>
          </a:p>
        </p:txBody>
      </p:sp>
      <p:sp>
        <p:nvSpPr>
          <p:cNvPr id="46" name="Text 44"/>
          <p:cNvSpPr txBox="1"/>
          <p:nvPr/>
        </p:nvSpPr>
        <p:spPr>
          <a:xfrm>
            <a:off x="566928" y="4133088"/>
            <a:ext cx="3931920" cy="658368"/>
          </a:xfrm>
          <a:prstGeom prst="rect">
            <a:avLst/>
          </a:prstGeom>
          <a:noFill/>
          <a:ln/>
        </p:spPr>
        <p:txBody>
          <a:bodyPr wrap="square" lIns="0" tIns="0" rIns="0" bIns="0" rtlCol="0" anchor="t"/>
          <a:lstStyle/>
          <a:p>
            <a:pPr marL="0" indent="0">
              <a:lnSpc>
                <a:spcPct val="108000"/>
              </a:lnSpc>
              <a:buNone/>
            </a:pPr>
            <a:r>
              <a:rPr lang="en-US" sz="830" dirty="0">
                <a:solidFill>
                  <a:srgbClr val="A9A59C"/>
                </a:solidFill>
                <a:latin typeface="Satoshi" pitchFamily="34" charset="0"/>
                <a:ea typeface="Satoshi" pitchFamily="34" charset="-122"/>
                <a:cs typeface="Satoshi" pitchFamily="34" charset="-120"/>
              </a:rPr>
              <a:t>Every cancellation, offer (sent or skipped, with its reason), booking, expiry, move and undo is logged automatically. Export as CSV or JSON for the owner; live businesses archive each day into History.</a:t>
            </a:r>
            <a:endParaRPr lang="en-US" sz="830" dirty="0"/>
          </a:p>
        </p:txBody>
      </p:sp>
      <p:pic>
        <p:nvPicPr>
          <p:cNvPr id="47" name="Image 0" descr="C:\Users\dhruv\AppData\Local\Temp\claude\Z--claude\2a3ee505-7da2-4081-9e72-585b4758f7b1\scratchpad\deck\art\film-desk_fit.jpg"/>
          <p:cNvPicPr>
            <a:picLocks noChangeAspect="1"/>
          </p:cNvPicPr>
          <p:nvPr/>
        </p:nvPicPr>
        <p:blipFill>
          <a:blip r:embed="rId3"/>
          <a:stretch>
            <a:fillRect/>
          </a:stretch>
        </p:blipFill>
        <p:spPr>
          <a:xfrm>
            <a:off x="4800600" y="3794760"/>
            <a:ext cx="1865376" cy="1051560"/>
          </a:xfrm>
          <a:prstGeom prst="rect">
            <a:avLst/>
          </a:prstGeom>
        </p:spPr>
      </p:pic>
      <p:pic>
        <p:nvPicPr>
          <p:cNvPr id="48" name="Image 1" descr="C:\Users\dhruv\AppData\Local\Temp\claude\Z--claude\2a3ee505-7da2-4081-9e72-585b4758f7b1\scratchpad\deck\art\film-client.jpg"/>
          <p:cNvPicPr>
            <a:picLocks noChangeAspect="1"/>
          </p:cNvPicPr>
          <p:nvPr/>
        </p:nvPicPr>
        <p:blipFill>
          <a:blip r:embed="rId4"/>
          <a:stretch>
            <a:fillRect/>
          </a:stretch>
        </p:blipFill>
        <p:spPr>
          <a:xfrm>
            <a:off x="6867144" y="3794760"/>
            <a:ext cx="1865376" cy="1051560"/>
          </a:xfrm>
          <a:prstGeom prst="rect">
            <a:avLst/>
          </a:prstGeom>
        </p:spPr>
      </p:pic>
      <p:sp>
        <p:nvSpPr>
          <p:cNvPr id="49" name="Text 45"/>
          <p:cNvSpPr txBox="1"/>
          <p:nvPr/>
        </p:nvSpPr>
        <p:spPr>
          <a:xfrm>
            <a:off x="4800600" y="4873752"/>
            <a:ext cx="1865376" cy="128016"/>
          </a:xfrm>
          <a:prstGeom prst="rect">
            <a:avLst/>
          </a:prstGeom>
          <a:noFill/>
          <a:ln/>
        </p:spPr>
        <p:txBody>
          <a:bodyPr wrap="square" lIns="0" tIns="0" rIns="0" bIns="0" rtlCol="0" anchor="t"/>
          <a:lstStyle/>
          <a:p>
            <a:pPr marL="0" indent="0">
              <a:buNone/>
            </a:pPr>
            <a:r>
              <a:rPr lang="en-US" sz="550" dirty="0">
                <a:solidFill>
                  <a:srgbClr val="76736C"/>
                </a:solidFill>
                <a:latin typeface="JetBrains Mono" pitchFamily="34" charset="0"/>
                <a:ea typeface="JetBrains Mono" pitchFamily="34" charset="-122"/>
                <a:cs typeface="JetBrains Mono" pitchFamily="34" charset="-120"/>
              </a:rPr>
              <a:t>FRONT DESK · WHO FITS</a:t>
            </a:r>
            <a:endParaRPr lang="en-US" sz="550" dirty="0"/>
          </a:p>
        </p:txBody>
      </p:sp>
      <p:sp>
        <p:nvSpPr>
          <p:cNvPr id="50" name="Text 46"/>
          <p:cNvSpPr txBox="1"/>
          <p:nvPr/>
        </p:nvSpPr>
        <p:spPr>
          <a:xfrm>
            <a:off x="6867144" y="4873752"/>
            <a:ext cx="1865376" cy="128016"/>
          </a:xfrm>
          <a:prstGeom prst="rect">
            <a:avLst/>
          </a:prstGeom>
          <a:noFill/>
          <a:ln/>
        </p:spPr>
        <p:txBody>
          <a:bodyPr wrap="square" lIns="0" tIns="0" rIns="0" bIns="0" rtlCol="0" anchor="t"/>
          <a:lstStyle/>
          <a:p>
            <a:pPr marL="0" indent="0">
              <a:buNone/>
            </a:pPr>
            <a:r>
              <a:rPr lang="en-US" sz="550" dirty="0">
                <a:solidFill>
                  <a:srgbClr val="76736C"/>
                </a:solidFill>
                <a:latin typeface="JetBrains Mono" pitchFamily="34" charset="0"/>
                <a:ea typeface="JetBrains Mono" pitchFamily="34" charset="-122"/>
                <a:cs typeface="JetBrains Mono" pitchFamily="34" charset="-120"/>
              </a:rPr>
              <a:t>CLIENT · ONE-TAP BOOKING</a:t>
            </a:r>
            <a:endParaRPr lang="en-US" sz="550" dirty="0"/>
          </a:p>
        </p:txBody>
      </p:sp>
      <p:sp>
        <p:nvSpPr>
          <p:cNvPr id="51" name="Slide Number Placeholder 0"/>
          <p:cNvSpPr>
            <a:spLocks noGrp="1"/>
          </p:cNvSpPr>
          <p:nvPr>
            <p:ph type="sldNum" sz="quarter" idx="4294967295"/>
          </p:nvPr>
        </p:nvSpPr>
        <p:spPr>
          <a:xfrm>
            <a:off x="8577072" y="182880"/>
            <a:ext cx="274320" cy="274320"/>
          </a:xfrm>
          <a:prstGeom prst="rect">
            <a:avLst/>
          </a:prstGeom>
          <a:extLst>
            <a:ext uri="{C572A759-6A51-4108-AA02-DFA0A04FC94B}">
              <ma14:wrappingTextBoxFlag xmlns:ma14="http://schemas.microsoft.com/office/mac/drawingml/2011/main" xmlns="" val="0"/>
            </a:ext>
          </a:extLst>
        </p:spPr>
        <p:txBody>
          <a:bodyPr/>
          <a:lstStyle>
            <a:lvl1pPr>
              <a:defRPr sz="700">
                <a:solidFill>
                  <a:srgbClr val="76736C"/>
                </a:solidFill>
                <a:latin typeface="JetBrains Mono"/>
                <a:ea typeface="JetBrains Mono"/>
                <a:cs typeface="JetBrains Mono"/>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11480" y="237744"/>
            <a:ext cx="6858000" cy="182880"/>
          </a:xfrm>
          <a:prstGeom prst="rect">
            <a:avLst/>
          </a:prstGeom>
          <a:noFill/>
          <a:ln/>
        </p:spPr>
        <p:txBody>
          <a:bodyPr wrap="square" lIns="0" tIns="0" rIns="0" bIns="0" rtlCol="0" anchor="t"/>
          <a:lstStyle/>
          <a:p>
            <a:pPr marL="0" indent="0">
              <a:buNone/>
            </a:pPr>
            <a:r>
              <a:rPr lang="en-US" sz="750" kern="0" spc="110" dirty="0">
                <a:solidFill>
                  <a:srgbClr val="C6F24E"/>
                </a:solidFill>
                <a:latin typeface="JetBrains Mono" pitchFamily="34" charset="0"/>
                <a:ea typeface="JetBrains Mono" pitchFamily="34" charset="-122"/>
                <a:cs typeface="JetBrains Mono" pitchFamily="34" charset="-120"/>
              </a:rPr>
              <a:t>05</a:t>
            </a:r>
            <a:r>
              <a:rPr lang="en-US" sz="750" kern="0" spc="110" dirty="0">
                <a:solidFill>
                  <a:srgbClr val="76736C"/>
                </a:solidFill>
                <a:latin typeface="JetBrains Mono" pitchFamily="34" charset="0"/>
                <a:ea typeface="JetBrains Mono" pitchFamily="34" charset="-122"/>
                <a:cs typeface="JetBrains Mono" pitchFamily="34" charset="-120"/>
              </a:rPr>
              <a:t>  ·  PRICING + EXPERIMENT</a:t>
            </a:r>
            <a:endParaRPr lang="en-US" sz="750" dirty="0"/>
          </a:p>
        </p:txBody>
      </p:sp>
      <p:sp>
        <p:nvSpPr>
          <p:cNvPr id="3" name="Text 1"/>
          <p:cNvSpPr txBox="1"/>
          <p:nvPr/>
        </p:nvSpPr>
        <p:spPr>
          <a:xfrm>
            <a:off x="411480" y="429768"/>
            <a:ext cx="7680960" cy="457200"/>
          </a:xfrm>
          <a:prstGeom prst="rect">
            <a:avLst/>
          </a:prstGeom>
          <a:noFill/>
          <a:ln/>
        </p:spPr>
        <p:txBody>
          <a:bodyPr wrap="square" lIns="0" tIns="0" rIns="0" bIns="0" rtlCol="0" anchor="ctr"/>
          <a:lstStyle/>
          <a:p>
            <a:pPr marL="0" indent="0">
              <a:buNone/>
            </a:pPr>
            <a:r>
              <a:rPr lang="en-US" sz="2300" dirty="0">
                <a:solidFill>
                  <a:srgbClr val="F4F1EA"/>
                </a:solidFill>
                <a:latin typeface="Clash Display Semibold" pitchFamily="34" charset="0"/>
                <a:ea typeface="Clash Display Semibold" pitchFamily="34" charset="-122"/>
                <a:cs typeface="Clash Display Semibold" pitchFamily="34" charset="-120"/>
              </a:rPr>
              <a:t>Pricing Hypothesis &amp; 30-Day Experiment</a:t>
            </a:r>
            <a:endParaRPr lang="en-US" sz="2300" dirty="0"/>
          </a:p>
        </p:txBody>
      </p:sp>
      <p:sp>
        <p:nvSpPr>
          <p:cNvPr id="4" name="Shape 2"/>
          <p:cNvSpPr/>
          <p:nvPr/>
        </p:nvSpPr>
        <p:spPr>
          <a:xfrm>
            <a:off x="411480" y="960120"/>
            <a:ext cx="1828800" cy="2148840"/>
          </a:xfrm>
          <a:prstGeom prst="roundRect">
            <a:avLst>
              <a:gd name="adj" fmla="val 4500"/>
            </a:avLst>
          </a:prstGeom>
          <a:solidFill>
            <a:srgbClr val="1C2410"/>
          </a:solidFill>
          <a:ln w="9525">
            <a:solidFill>
              <a:srgbClr val="3A4A18"/>
            </a:solidFill>
            <a:prstDash val="solid"/>
          </a:ln>
        </p:spPr>
      </p:sp>
      <p:sp>
        <p:nvSpPr>
          <p:cNvPr id="5" name="Text 3"/>
          <p:cNvSpPr txBox="1"/>
          <p:nvPr/>
        </p:nvSpPr>
        <p:spPr>
          <a:xfrm>
            <a:off x="411480" y="1069848"/>
            <a:ext cx="1828800" cy="566928"/>
          </a:xfrm>
          <a:prstGeom prst="rect">
            <a:avLst/>
          </a:prstGeom>
          <a:noFill/>
          <a:ln/>
        </p:spPr>
        <p:txBody>
          <a:bodyPr wrap="square" lIns="0" tIns="0" rIns="0" bIns="0" rtlCol="0" anchor="ctr"/>
          <a:lstStyle/>
          <a:p>
            <a:pPr marL="0" indent="0" algn="ctr">
              <a:buNone/>
            </a:pPr>
            <a:r>
              <a:rPr lang="en-US" sz="3600" dirty="0">
                <a:solidFill>
                  <a:srgbClr val="C6F24E"/>
                </a:solidFill>
                <a:latin typeface="Clash Display Semibold" pitchFamily="34" charset="0"/>
                <a:ea typeface="Clash Display Semibold" pitchFamily="34" charset="-122"/>
                <a:cs typeface="Clash Display Semibold" pitchFamily="34" charset="-120"/>
              </a:rPr>
              <a:t>₹699</a:t>
            </a:r>
            <a:endParaRPr lang="en-US" sz="3600" dirty="0"/>
          </a:p>
        </p:txBody>
      </p:sp>
      <p:sp>
        <p:nvSpPr>
          <p:cNvPr id="6" name="Text 4"/>
          <p:cNvSpPr txBox="1"/>
          <p:nvPr/>
        </p:nvSpPr>
        <p:spPr>
          <a:xfrm>
            <a:off x="411480" y="1627632"/>
            <a:ext cx="1828800" cy="182880"/>
          </a:xfrm>
          <a:prstGeom prst="rect">
            <a:avLst/>
          </a:prstGeom>
          <a:noFill/>
          <a:ln/>
        </p:spPr>
        <p:txBody>
          <a:bodyPr wrap="square" lIns="0" tIns="0" rIns="0" bIns="0" rtlCol="0" anchor="t"/>
          <a:lstStyle/>
          <a:p>
            <a:pPr marL="0" indent="0" algn="ctr">
              <a:buNone/>
            </a:pPr>
            <a:r>
              <a:rPr lang="en-US" sz="850" dirty="0">
                <a:solidFill>
                  <a:srgbClr val="A9A59C"/>
                </a:solidFill>
                <a:latin typeface="Satoshi" pitchFamily="34" charset="0"/>
                <a:ea typeface="Satoshi" pitchFamily="34" charset="-122"/>
                <a:cs typeface="Satoshi" pitchFamily="34" charset="-120"/>
              </a:rPr>
              <a:t>/location/month</a:t>
            </a:r>
            <a:endParaRPr lang="en-US" sz="850" dirty="0"/>
          </a:p>
        </p:txBody>
      </p:sp>
      <p:sp>
        <p:nvSpPr>
          <p:cNvPr id="7" name="Text 5"/>
          <p:cNvSpPr txBox="1"/>
          <p:nvPr/>
        </p:nvSpPr>
        <p:spPr>
          <a:xfrm>
            <a:off x="411480" y="1828800"/>
            <a:ext cx="1828800" cy="182880"/>
          </a:xfrm>
          <a:prstGeom prst="rect">
            <a:avLst/>
          </a:prstGeom>
          <a:noFill/>
          <a:ln/>
        </p:spPr>
        <p:txBody>
          <a:bodyPr wrap="square" lIns="0" tIns="0" rIns="0" bIns="0" rtlCol="0" anchor="t"/>
          <a:lstStyle/>
          <a:p>
            <a:pPr marL="0" indent="0" algn="ctr">
              <a:buNone/>
            </a:pPr>
            <a:r>
              <a:rPr lang="en-US" sz="800" kern="0" spc="300" dirty="0">
                <a:solidFill>
                  <a:srgbClr val="C6F24E"/>
                </a:solidFill>
                <a:latin typeface="JetBrains Mono" pitchFamily="34" charset="0"/>
                <a:ea typeface="JetBrains Mono" pitchFamily="34" charset="-122"/>
                <a:cs typeface="JetBrains Mono" pitchFamily="34" charset="-120"/>
              </a:rPr>
              <a:t>CORE</a:t>
            </a:r>
            <a:endParaRPr lang="en-US" sz="800" dirty="0"/>
          </a:p>
        </p:txBody>
      </p:sp>
      <p:sp>
        <p:nvSpPr>
          <p:cNvPr id="8" name="Text 6"/>
          <p:cNvSpPr txBox="1"/>
          <p:nvPr/>
        </p:nvSpPr>
        <p:spPr>
          <a:xfrm>
            <a:off x="566928" y="2130552"/>
            <a:ext cx="1554480" cy="566928"/>
          </a:xfrm>
          <a:prstGeom prst="rect">
            <a:avLst/>
          </a:prstGeom>
          <a:noFill/>
          <a:ln/>
        </p:spPr>
        <p:txBody>
          <a:bodyPr wrap="square" lIns="0" tIns="0" rIns="0" bIns="0" rtlCol="0" anchor="t"/>
          <a:lstStyle/>
          <a:p>
            <a:pPr marL="0" indent="0">
              <a:spcAft>
                <a:spcPts val="200"/>
              </a:spcAft>
              <a:buNone/>
            </a:pPr>
            <a:r>
              <a:rPr lang="en-US" sz="850" dirty="0">
                <a:solidFill>
                  <a:srgbClr val="F4F1EA"/>
                </a:solidFill>
                <a:latin typeface="Satoshi" pitchFamily="34" charset="0"/>
                <a:ea typeface="Satoshi" pitchFamily="34" charset="-122"/>
                <a:cs typeface="Satoshi" pitchFamily="34" charset="-120"/>
              </a:rPr>
              <a:t>Core workflow + consent log</a:t>
            </a:r>
            <a:endParaRPr lang="en-US" sz="850" dirty="0"/>
          </a:p>
          <a:p>
            <a:pPr marL="0" indent="0">
              <a:spcAft>
                <a:spcPts val="200"/>
              </a:spcAft>
              <a:buNone/>
            </a:pPr>
            <a:r>
              <a:rPr lang="en-US" sz="850" dirty="0">
                <a:solidFill>
                  <a:srgbClr val="F4F1EA"/>
                </a:solidFill>
                <a:latin typeface="Satoshi" pitchFamily="34" charset="0"/>
                <a:ea typeface="Satoshi" pitchFamily="34" charset="-122"/>
                <a:cs typeface="Satoshi" pitchFamily="34" charset="-120"/>
              </a:rPr>
              <a:t>Service/staff constraints</a:t>
            </a:r>
            <a:endParaRPr lang="en-US" sz="850" dirty="0"/>
          </a:p>
          <a:p>
            <a:pPr marL="0" indent="0">
              <a:spcAft>
                <a:spcPts val="200"/>
              </a:spcAft>
              <a:buNone/>
            </a:pPr>
            <a:r>
              <a:rPr lang="en-US" sz="850" dirty="0">
                <a:solidFill>
                  <a:srgbClr val="F4F1EA"/>
                </a:solidFill>
                <a:latin typeface="Satoshi" pitchFamily="34" charset="0"/>
                <a:ea typeface="Satoshi" pitchFamily="34" charset="-122"/>
                <a:cs typeface="Satoshi" pitchFamily="34" charset="-120"/>
              </a:rPr>
              <a:t>Duplicate protection</a:t>
            </a:r>
            <a:endParaRPr lang="en-US" sz="850" dirty="0"/>
          </a:p>
        </p:txBody>
      </p:sp>
      <p:sp>
        <p:nvSpPr>
          <p:cNvPr id="9" name="Text 7"/>
          <p:cNvSpPr txBox="1"/>
          <p:nvPr/>
        </p:nvSpPr>
        <p:spPr>
          <a:xfrm>
            <a:off x="566928" y="2788920"/>
            <a:ext cx="1554480" cy="182880"/>
          </a:xfrm>
          <a:prstGeom prst="rect">
            <a:avLst/>
          </a:prstGeom>
          <a:noFill/>
          <a:ln/>
        </p:spPr>
        <p:txBody>
          <a:bodyPr wrap="square" lIns="0" tIns="0" rIns="0" bIns="0" rtlCol="0" anchor="t"/>
          <a:lstStyle/>
          <a:p>
            <a:pPr marL="0" indent="0">
              <a:buNone/>
            </a:pPr>
            <a:r>
              <a:rPr lang="en-US" sz="650" dirty="0">
                <a:solidFill>
                  <a:srgbClr val="FFB547"/>
                </a:solidFill>
                <a:latin typeface="JetBrains Mono" pitchFamily="34" charset="0"/>
                <a:ea typeface="JetBrains Mono" pitchFamily="34" charset="-122"/>
                <a:cs typeface="JetBrains Mono" pitchFamily="34" charset="-120"/>
              </a:rPr>
              <a:t>[HYPOTHESIS] Base price</a:t>
            </a:r>
            <a:endParaRPr lang="en-US" sz="650" dirty="0"/>
          </a:p>
        </p:txBody>
      </p:sp>
      <p:sp>
        <p:nvSpPr>
          <p:cNvPr id="10" name="Text 8"/>
          <p:cNvSpPr txBox="1"/>
          <p:nvPr/>
        </p:nvSpPr>
        <p:spPr>
          <a:xfrm>
            <a:off x="2468880" y="960120"/>
            <a:ext cx="914400" cy="164592"/>
          </a:xfrm>
          <a:prstGeom prst="rect">
            <a:avLst/>
          </a:prstGeom>
          <a:noFill/>
          <a:ln/>
        </p:spPr>
        <p:txBody>
          <a:bodyPr wrap="square" lIns="0" tIns="0" rIns="0" bIns="0" rtlCol="0" anchor="t"/>
          <a:lstStyle/>
          <a:p>
            <a:pPr marL="0" indent="0">
              <a:buNone/>
            </a:pPr>
            <a:r>
              <a:rPr lang="en-US" sz="750" kern="0" spc="110" dirty="0">
                <a:solidFill>
                  <a:srgbClr val="C6F24E"/>
                </a:solidFill>
                <a:latin typeface="JetBrains Mono" pitchFamily="34" charset="0"/>
                <a:ea typeface="JetBrains Mono" pitchFamily="34" charset="-122"/>
                <a:cs typeface="JetBrains Mono" pitchFamily="34" charset="-120"/>
              </a:rPr>
              <a:t>WHY</a:t>
            </a:r>
            <a:endParaRPr lang="en-US" sz="750" dirty="0"/>
          </a:p>
        </p:txBody>
      </p:sp>
      <p:sp>
        <p:nvSpPr>
          <p:cNvPr id="11" name="Text 9"/>
          <p:cNvSpPr txBox="1"/>
          <p:nvPr/>
        </p:nvSpPr>
        <p:spPr>
          <a:xfrm>
            <a:off x="2468880" y="1188720"/>
            <a:ext cx="3246120" cy="1234440"/>
          </a:xfrm>
          <a:prstGeom prst="rect">
            <a:avLst/>
          </a:prstGeom>
          <a:noFill/>
          <a:ln/>
        </p:spPr>
        <p:txBody>
          <a:bodyPr wrap="square" lIns="0" tIns="0" rIns="0" bIns="0" rtlCol="0" anchor="t"/>
          <a:lstStyle/>
          <a:p>
            <a:pPr marL="0" indent="0">
              <a:lnSpc>
                <a:spcPct val="112000"/>
              </a:lnSpc>
              <a:spcAft>
                <a:spcPts val="600"/>
              </a:spcAft>
              <a:buNone/>
            </a:pPr>
            <a:r>
              <a:rPr lang="en-US" sz="1150" dirty="0">
                <a:solidFill>
                  <a:srgbClr val="F4F1EA"/>
                </a:solidFill>
                <a:latin typeface="Satoshi" pitchFamily="34" charset="0"/>
                <a:ea typeface="Satoshi" pitchFamily="34" charset="-122"/>
                <a:cs typeface="Satoshi" pitchFamily="34" charset="-120"/>
              </a:rPr>
              <a:t>₹699 is an </a:t>
            </a:r>
            <a:r>
              <a:rPr lang="en-US" sz="1150" dirty="0">
                <a:solidFill>
                  <a:srgbClr val="C6F24E"/>
                </a:solidFill>
                <a:latin typeface="Satoshi Medium" pitchFamily="34" charset="0"/>
                <a:ea typeface="Satoshi Medium" pitchFamily="34" charset="-122"/>
                <a:cs typeface="Satoshi Medium" pitchFamily="34" charset="-120"/>
              </a:rPr>
              <a:t>ANCHOR</a:t>
            </a:r>
            <a:r>
              <a:rPr lang="en-US" sz="1150" dirty="0">
                <a:solidFill>
                  <a:srgbClr val="F4F1EA"/>
                </a:solidFill>
                <a:latin typeface="Satoshi" pitchFamily="34" charset="0"/>
                <a:ea typeface="Satoshi" pitchFamily="34" charset="-122"/>
                <a:cs typeface="Satoshi" pitchFamily="34" charset="-120"/>
              </a:rPr>
              <a:t> for owner discovery interviews — not a final list price.</a:t>
            </a:r>
            <a:endParaRPr lang="en-US" sz="1150" dirty="0"/>
          </a:p>
          <a:p>
            <a:pPr marL="0" indent="0">
              <a:lnSpc>
                <a:spcPct val="112000"/>
              </a:lnSpc>
              <a:spcAft>
                <a:spcPts val="600"/>
              </a:spcAft>
              <a:buNone/>
            </a:pPr>
            <a:r>
              <a:rPr lang="en-US" sz="1150" dirty="0">
                <a:solidFill>
                  <a:srgbClr val="F4F1EA"/>
                </a:solidFill>
                <a:latin typeface="Satoshi" pitchFamily="34" charset="0"/>
                <a:ea typeface="Satoshi" pitchFamily="34" charset="-122"/>
                <a:cs typeface="Satoshi" pitchFamily="34" charset="-120"/>
              </a:rPr>
              <a:t>Test at ₹499, ₹699 and ₹999. Concrete paid-pilot decision is the only real validation. Stated interest ≠ willingness to pay.</a:t>
            </a:r>
            <a:endParaRPr lang="en-US" sz="1150" dirty="0"/>
          </a:p>
        </p:txBody>
      </p:sp>
      <p:sp>
        <p:nvSpPr>
          <p:cNvPr id="12" name="Shape 10"/>
          <p:cNvSpPr/>
          <p:nvPr/>
        </p:nvSpPr>
        <p:spPr>
          <a:xfrm>
            <a:off x="2468880" y="2606040"/>
            <a:ext cx="822960" cy="219456"/>
          </a:xfrm>
          <a:prstGeom prst="roundRect">
            <a:avLst>
              <a:gd name="adj" fmla="val 20833"/>
            </a:avLst>
          </a:prstGeom>
          <a:solidFill>
            <a:srgbClr val="222228"/>
          </a:solidFill>
          <a:ln w="12700">
            <a:solidFill>
              <a:srgbClr val="222228"/>
            </a:solidFill>
            <a:prstDash val="solid"/>
          </a:ln>
        </p:spPr>
      </p:sp>
      <p:sp>
        <p:nvSpPr>
          <p:cNvPr id="13" name="Text 11"/>
          <p:cNvSpPr txBox="1"/>
          <p:nvPr/>
        </p:nvSpPr>
        <p:spPr>
          <a:xfrm>
            <a:off x="2468880" y="2606040"/>
            <a:ext cx="822960" cy="219456"/>
          </a:xfrm>
          <a:prstGeom prst="rect">
            <a:avLst/>
          </a:prstGeom>
          <a:noFill/>
          <a:ln/>
        </p:spPr>
        <p:txBody>
          <a:bodyPr wrap="square" lIns="0" tIns="0" rIns="0" bIns="0" rtlCol="0" anchor="ctr"/>
          <a:lstStyle/>
          <a:p>
            <a:pPr marL="0" indent="0" algn="ctr">
              <a:buNone/>
            </a:pPr>
            <a:r>
              <a:rPr lang="en-US" sz="650" kern="0" spc="50" dirty="0">
                <a:solidFill>
                  <a:srgbClr val="A9A59C"/>
                </a:solidFill>
                <a:latin typeface="JetBrains Mono" pitchFamily="34" charset="0"/>
                <a:ea typeface="JetBrains Mono" pitchFamily="34" charset="-122"/>
                <a:cs typeface="JetBrains Mono" pitchFamily="34" charset="-120"/>
              </a:rPr>
              <a:t>₹499</a:t>
            </a:r>
            <a:endParaRPr lang="en-US" sz="650" dirty="0"/>
          </a:p>
        </p:txBody>
      </p:sp>
      <p:sp>
        <p:nvSpPr>
          <p:cNvPr id="14" name="Shape 12"/>
          <p:cNvSpPr/>
          <p:nvPr/>
        </p:nvSpPr>
        <p:spPr>
          <a:xfrm>
            <a:off x="3493008" y="2606040"/>
            <a:ext cx="950976" cy="219456"/>
          </a:xfrm>
          <a:prstGeom prst="roundRect">
            <a:avLst>
              <a:gd name="adj" fmla="val 20833"/>
            </a:avLst>
          </a:prstGeom>
          <a:solidFill>
            <a:srgbClr val="1C2410"/>
          </a:solidFill>
          <a:ln w="12700">
            <a:solidFill>
              <a:srgbClr val="1C2410"/>
            </a:solidFill>
            <a:prstDash val="solid"/>
          </a:ln>
        </p:spPr>
      </p:sp>
      <p:sp>
        <p:nvSpPr>
          <p:cNvPr id="15" name="Text 13"/>
          <p:cNvSpPr txBox="1"/>
          <p:nvPr/>
        </p:nvSpPr>
        <p:spPr>
          <a:xfrm>
            <a:off x="3493008" y="2606040"/>
            <a:ext cx="950976" cy="219456"/>
          </a:xfrm>
          <a:prstGeom prst="rect">
            <a:avLst/>
          </a:prstGeom>
          <a:noFill/>
          <a:ln/>
        </p:spPr>
        <p:txBody>
          <a:bodyPr wrap="square" lIns="0" tIns="0" rIns="0" bIns="0" rtlCol="0" anchor="ctr"/>
          <a:lstStyle/>
          <a:p>
            <a:pPr marL="0" indent="0" algn="ctr">
              <a:buNone/>
            </a:pPr>
            <a:r>
              <a:rPr lang="en-US" sz="650" kern="0" spc="50" dirty="0">
                <a:solidFill>
                  <a:srgbClr val="C6F24E"/>
                </a:solidFill>
                <a:latin typeface="JetBrains Mono" pitchFamily="34" charset="0"/>
                <a:ea typeface="JetBrains Mono" pitchFamily="34" charset="-122"/>
                <a:cs typeface="JetBrains Mono" pitchFamily="34" charset="-120"/>
              </a:rPr>
              <a:t>₹699 · ANCHOR</a:t>
            </a:r>
            <a:endParaRPr lang="en-US" sz="650" dirty="0"/>
          </a:p>
        </p:txBody>
      </p:sp>
      <p:sp>
        <p:nvSpPr>
          <p:cNvPr id="16" name="Shape 14"/>
          <p:cNvSpPr/>
          <p:nvPr/>
        </p:nvSpPr>
        <p:spPr>
          <a:xfrm>
            <a:off x="4517136" y="2606040"/>
            <a:ext cx="822960" cy="219456"/>
          </a:xfrm>
          <a:prstGeom prst="roundRect">
            <a:avLst>
              <a:gd name="adj" fmla="val 20833"/>
            </a:avLst>
          </a:prstGeom>
          <a:solidFill>
            <a:srgbClr val="222228"/>
          </a:solidFill>
          <a:ln w="12700">
            <a:solidFill>
              <a:srgbClr val="222228"/>
            </a:solidFill>
            <a:prstDash val="solid"/>
          </a:ln>
        </p:spPr>
      </p:sp>
      <p:sp>
        <p:nvSpPr>
          <p:cNvPr id="17" name="Text 15"/>
          <p:cNvSpPr txBox="1"/>
          <p:nvPr/>
        </p:nvSpPr>
        <p:spPr>
          <a:xfrm>
            <a:off x="4517136" y="2606040"/>
            <a:ext cx="822960" cy="219456"/>
          </a:xfrm>
          <a:prstGeom prst="rect">
            <a:avLst/>
          </a:prstGeom>
          <a:noFill/>
          <a:ln/>
        </p:spPr>
        <p:txBody>
          <a:bodyPr wrap="square" lIns="0" tIns="0" rIns="0" bIns="0" rtlCol="0" anchor="ctr"/>
          <a:lstStyle/>
          <a:p>
            <a:pPr marL="0" indent="0" algn="ctr">
              <a:buNone/>
            </a:pPr>
            <a:r>
              <a:rPr lang="en-US" sz="650" kern="0" spc="50" dirty="0">
                <a:solidFill>
                  <a:srgbClr val="A9A59C"/>
                </a:solidFill>
                <a:latin typeface="JetBrains Mono" pitchFamily="34" charset="0"/>
                <a:ea typeface="JetBrains Mono" pitchFamily="34" charset="-122"/>
                <a:cs typeface="JetBrains Mono" pitchFamily="34" charset="-120"/>
              </a:rPr>
              <a:t>₹999</a:t>
            </a:r>
            <a:endParaRPr lang="en-US" sz="650" dirty="0"/>
          </a:p>
        </p:txBody>
      </p:sp>
      <p:sp>
        <p:nvSpPr>
          <p:cNvPr id="18" name="Shape 16"/>
          <p:cNvSpPr/>
          <p:nvPr/>
        </p:nvSpPr>
        <p:spPr>
          <a:xfrm>
            <a:off x="411480" y="3273552"/>
            <a:ext cx="5303520" cy="566928"/>
          </a:xfrm>
          <a:prstGeom prst="roundRect">
            <a:avLst>
              <a:gd name="adj" fmla="val 14516"/>
            </a:avLst>
          </a:prstGeom>
          <a:solidFill>
            <a:srgbClr val="18181C"/>
          </a:solidFill>
          <a:ln w="9525">
            <a:solidFill>
              <a:srgbClr val="2A2A2F"/>
            </a:solidFill>
            <a:prstDash val="solid"/>
          </a:ln>
        </p:spPr>
      </p:sp>
      <p:sp>
        <p:nvSpPr>
          <p:cNvPr id="19" name="Text 17"/>
          <p:cNvSpPr txBox="1"/>
          <p:nvPr/>
        </p:nvSpPr>
        <p:spPr>
          <a:xfrm>
            <a:off x="566928" y="3310128"/>
            <a:ext cx="5029200" cy="502920"/>
          </a:xfrm>
          <a:prstGeom prst="rect">
            <a:avLst/>
          </a:prstGeom>
          <a:noFill/>
          <a:ln/>
        </p:spPr>
        <p:txBody>
          <a:bodyPr wrap="square" lIns="0" tIns="0" rIns="0" bIns="0" rtlCol="0" anchor="ctr"/>
          <a:lstStyle/>
          <a:p>
            <a:pPr marL="0" indent="0">
              <a:buNone/>
            </a:pPr>
            <a:r>
              <a:rPr lang="en-US" sz="880" i="1" dirty="0">
                <a:solidFill>
                  <a:srgbClr val="F4F1EA"/>
                </a:solidFill>
                <a:latin typeface="Satoshi" pitchFamily="34" charset="0"/>
                <a:ea typeface="Satoshi" pitchFamily="34" charset="-122"/>
                <a:cs typeface="Satoshi" pitchFamily="34" charset="-120"/>
              </a:rPr>
              <a:t>VALUE FORMULA: Monthly recovered contribution = Completed recovered appts × Contribution/appt − Incremental messaging / platform / recovery costs</a:t>
            </a:r>
            <a:endParaRPr lang="en-US" sz="880" dirty="0"/>
          </a:p>
        </p:txBody>
      </p:sp>
      <p:sp>
        <p:nvSpPr>
          <p:cNvPr id="20" name="Text 18"/>
          <p:cNvSpPr txBox="1"/>
          <p:nvPr/>
        </p:nvSpPr>
        <p:spPr>
          <a:xfrm>
            <a:off x="411480" y="3977640"/>
            <a:ext cx="5303520" cy="365760"/>
          </a:xfrm>
          <a:prstGeom prst="rect">
            <a:avLst/>
          </a:prstGeom>
          <a:noFill/>
          <a:ln/>
        </p:spPr>
        <p:txBody>
          <a:bodyPr wrap="square" lIns="0" tIns="0" rIns="0" bIns="0" rtlCol="0" anchor="t"/>
          <a:lstStyle/>
          <a:p>
            <a:pPr marL="0" indent="0">
              <a:buNone/>
            </a:pPr>
            <a:r>
              <a:rPr lang="en-US" sz="950" dirty="0">
                <a:solidFill>
                  <a:srgbClr val="A9A59C"/>
                </a:solidFill>
                <a:latin typeface="Satoshi" pitchFamily="34" charset="0"/>
                <a:ea typeface="Satoshi" pitchFamily="34" charset="-122"/>
                <a:cs typeface="Satoshi" pitchFamily="34" charset="-120"/>
              </a:rPr>
              <a:t>Example: At ₹500 contribution/service → need ~2 recovered bookings/month to justify ₹699 subscription after costs.</a:t>
            </a:r>
            <a:endParaRPr lang="en-US" sz="950" dirty="0"/>
          </a:p>
        </p:txBody>
      </p:sp>
      <p:sp>
        <p:nvSpPr>
          <p:cNvPr id="21" name="Shape 19"/>
          <p:cNvSpPr/>
          <p:nvPr/>
        </p:nvSpPr>
        <p:spPr>
          <a:xfrm>
            <a:off x="5897880" y="960120"/>
            <a:ext cx="2834640" cy="2331720"/>
          </a:xfrm>
          <a:prstGeom prst="roundRect">
            <a:avLst>
              <a:gd name="adj" fmla="val 3529"/>
            </a:avLst>
          </a:prstGeom>
          <a:solidFill>
            <a:srgbClr val="131316"/>
          </a:solidFill>
          <a:ln w="9525">
            <a:solidFill>
              <a:srgbClr val="2A2A2F"/>
            </a:solidFill>
            <a:prstDash val="solid"/>
          </a:ln>
        </p:spPr>
      </p:sp>
      <p:sp>
        <p:nvSpPr>
          <p:cNvPr id="22" name="Text 20"/>
          <p:cNvSpPr txBox="1"/>
          <p:nvPr/>
        </p:nvSpPr>
        <p:spPr>
          <a:xfrm>
            <a:off x="6035040" y="1078992"/>
            <a:ext cx="2560320" cy="164592"/>
          </a:xfrm>
          <a:prstGeom prst="rect">
            <a:avLst/>
          </a:prstGeom>
          <a:noFill/>
          <a:ln/>
        </p:spPr>
        <p:txBody>
          <a:bodyPr wrap="square" lIns="0" tIns="0" rIns="0" bIns="0" rtlCol="0" anchor="t"/>
          <a:lstStyle/>
          <a:p>
            <a:pPr marL="0" indent="0">
              <a:buNone/>
            </a:pPr>
            <a:r>
              <a:rPr lang="en-US" sz="750" kern="0" spc="110" dirty="0">
                <a:solidFill>
                  <a:srgbClr val="C6F24E"/>
                </a:solidFill>
                <a:latin typeface="JetBrains Mono" pitchFamily="34" charset="0"/>
                <a:ea typeface="JetBrains Mono" pitchFamily="34" charset="-122"/>
                <a:cs typeface="JetBrains Mono" pitchFamily="34" charset="-120"/>
              </a:rPr>
              <a:t>UNIT ECONOMICS (ILLUSTRATIVE)</a:t>
            </a:r>
            <a:endParaRPr lang="en-US" sz="750" dirty="0"/>
          </a:p>
        </p:txBody>
      </p:sp>
      <p:sp>
        <p:nvSpPr>
          <p:cNvPr id="23" name="Shape 21"/>
          <p:cNvSpPr/>
          <p:nvPr/>
        </p:nvSpPr>
        <p:spPr>
          <a:xfrm>
            <a:off x="6035040" y="1316736"/>
            <a:ext cx="2560320" cy="0"/>
          </a:xfrm>
          <a:prstGeom prst="line">
            <a:avLst/>
          </a:prstGeom>
          <a:noFill/>
          <a:ln w="9525">
            <a:solidFill>
              <a:srgbClr val="2A2A2F"/>
            </a:solidFill>
            <a:prstDash val="solid"/>
          </a:ln>
        </p:spPr>
      </p:sp>
      <p:sp>
        <p:nvSpPr>
          <p:cNvPr id="24" name="Text 22"/>
          <p:cNvSpPr txBox="1"/>
          <p:nvPr/>
        </p:nvSpPr>
        <p:spPr>
          <a:xfrm>
            <a:off x="6035040" y="1353312"/>
            <a:ext cx="1143000" cy="219456"/>
          </a:xfrm>
          <a:prstGeom prst="rect">
            <a:avLst/>
          </a:prstGeom>
          <a:noFill/>
          <a:ln/>
        </p:spPr>
        <p:txBody>
          <a:bodyPr wrap="square" lIns="0" tIns="0" rIns="0" bIns="0" rtlCol="0" anchor="ctr"/>
          <a:lstStyle/>
          <a:p>
            <a:pPr marL="0" indent="0">
              <a:buNone/>
            </a:pPr>
            <a:r>
              <a:rPr lang="en-US" sz="800" dirty="0">
                <a:solidFill>
                  <a:srgbClr val="A9A59C"/>
                </a:solidFill>
                <a:latin typeface="Satoshi" pitchFamily="34" charset="0"/>
                <a:ea typeface="Satoshi" pitchFamily="34" charset="-122"/>
                <a:cs typeface="Satoshi" pitchFamily="34" charset="-120"/>
              </a:rPr>
              <a:t>Price per location</a:t>
            </a:r>
            <a:endParaRPr lang="en-US" sz="800" dirty="0"/>
          </a:p>
        </p:txBody>
      </p:sp>
      <p:sp>
        <p:nvSpPr>
          <p:cNvPr id="25" name="Text 23"/>
          <p:cNvSpPr txBox="1"/>
          <p:nvPr/>
        </p:nvSpPr>
        <p:spPr>
          <a:xfrm>
            <a:off x="7132320" y="1353312"/>
            <a:ext cx="1481328" cy="219456"/>
          </a:xfrm>
          <a:prstGeom prst="rect">
            <a:avLst/>
          </a:prstGeom>
          <a:noFill/>
          <a:ln/>
        </p:spPr>
        <p:txBody>
          <a:bodyPr wrap="square" lIns="0" tIns="0" rIns="0" bIns="0" rtlCol="0" anchor="ctr"/>
          <a:lstStyle/>
          <a:p>
            <a:pPr marL="0" indent="0" algn="r">
              <a:buNone/>
            </a:pPr>
            <a:r>
              <a:rPr lang="en-US" sz="800" dirty="0">
                <a:solidFill>
                  <a:srgbClr val="F4F1EA"/>
                </a:solidFill>
                <a:latin typeface="Satoshi Medium" pitchFamily="34" charset="0"/>
                <a:ea typeface="Satoshi Medium" pitchFamily="34" charset="-122"/>
                <a:cs typeface="Satoshi Medium" pitchFamily="34" charset="-120"/>
              </a:rPr>
              <a:t>₹699 / month (test ₹499–₹999)</a:t>
            </a:r>
            <a:endParaRPr lang="en-US" sz="800" dirty="0"/>
          </a:p>
        </p:txBody>
      </p:sp>
      <p:sp>
        <p:nvSpPr>
          <p:cNvPr id="26" name="Shape 24"/>
          <p:cNvSpPr/>
          <p:nvPr/>
        </p:nvSpPr>
        <p:spPr>
          <a:xfrm>
            <a:off x="6035040" y="1591056"/>
            <a:ext cx="2560320" cy="0"/>
          </a:xfrm>
          <a:prstGeom prst="line">
            <a:avLst/>
          </a:prstGeom>
          <a:noFill/>
          <a:ln w="9525">
            <a:solidFill>
              <a:srgbClr val="2A2A2F"/>
            </a:solidFill>
            <a:prstDash val="solid"/>
          </a:ln>
        </p:spPr>
      </p:sp>
      <p:sp>
        <p:nvSpPr>
          <p:cNvPr id="27" name="Text 25"/>
          <p:cNvSpPr txBox="1"/>
          <p:nvPr/>
        </p:nvSpPr>
        <p:spPr>
          <a:xfrm>
            <a:off x="6035040" y="1627632"/>
            <a:ext cx="1143000" cy="219456"/>
          </a:xfrm>
          <a:prstGeom prst="rect">
            <a:avLst/>
          </a:prstGeom>
          <a:noFill/>
          <a:ln/>
        </p:spPr>
        <p:txBody>
          <a:bodyPr wrap="square" lIns="0" tIns="0" rIns="0" bIns="0" rtlCol="0" anchor="ctr"/>
          <a:lstStyle/>
          <a:p>
            <a:pPr marL="0" indent="0">
              <a:buNone/>
            </a:pPr>
            <a:r>
              <a:rPr lang="en-US" sz="800" dirty="0">
                <a:solidFill>
                  <a:srgbClr val="A9A59C"/>
                </a:solidFill>
                <a:latin typeface="Satoshi" pitchFamily="34" charset="0"/>
                <a:ea typeface="Satoshi" pitchFamily="34" charset="-122"/>
                <a:cs typeface="Satoshi" pitchFamily="34" charset="-120"/>
              </a:rPr>
              <a:t>Cost to serve</a:t>
            </a:r>
            <a:endParaRPr lang="en-US" sz="800" dirty="0"/>
          </a:p>
        </p:txBody>
      </p:sp>
      <p:sp>
        <p:nvSpPr>
          <p:cNvPr id="28" name="Text 26"/>
          <p:cNvSpPr txBox="1"/>
          <p:nvPr/>
        </p:nvSpPr>
        <p:spPr>
          <a:xfrm>
            <a:off x="7132320" y="1627632"/>
            <a:ext cx="1481328" cy="219456"/>
          </a:xfrm>
          <a:prstGeom prst="rect">
            <a:avLst/>
          </a:prstGeom>
          <a:noFill/>
          <a:ln/>
        </p:spPr>
        <p:txBody>
          <a:bodyPr wrap="square" lIns="0" tIns="0" rIns="0" bIns="0" rtlCol="0" anchor="ctr"/>
          <a:lstStyle/>
          <a:p>
            <a:pPr marL="0" indent="0" algn="r">
              <a:buNone/>
            </a:pPr>
            <a:r>
              <a:rPr lang="en-US" sz="800" dirty="0">
                <a:solidFill>
                  <a:srgbClr val="F4F1EA"/>
                </a:solidFill>
                <a:latin typeface="Satoshi Medium" pitchFamily="34" charset="0"/>
                <a:ea typeface="Satoshi Medium" pitchFamily="34" charset="-122"/>
                <a:cs typeface="Satoshi Medium" pitchFamily="34" charset="-120"/>
              </a:rPr>
              <a:t>Low: hosting + messages</a:t>
            </a:r>
            <a:endParaRPr lang="en-US" sz="800" dirty="0"/>
          </a:p>
        </p:txBody>
      </p:sp>
      <p:sp>
        <p:nvSpPr>
          <p:cNvPr id="29" name="Shape 27"/>
          <p:cNvSpPr/>
          <p:nvPr/>
        </p:nvSpPr>
        <p:spPr>
          <a:xfrm>
            <a:off x="6035040" y="1865376"/>
            <a:ext cx="2560320" cy="0"/>
          </a:xfrm>
          <a:prstGeom prst="line">
            <a:avLst/>
          </a:prstGeom>
          <a:noFill/>
          <a:ln w="9525">
            <a:solidFill>
              <a:srgbClr val="2A2A2F"/>
            </a:solidFill>
            <a:prstDash val="solid"/>
          </a:ln>
        </p:spPr>
      </p:sp>
      <p:sp>
        <p:nvSpPr>
          <p:cNvPr id="30" name="Text 28"/>
          <p:cNvSpPr txBox="1"/>
          <p:nvPr/>
        </p:nvSpPr>
        <p:spPr>
          <a:xfrm>
            <a:off x="6035040" y="1901952"/>
            <a:ext cx="1143000" cy="219456"/>
          </a:xfrm>
          <a:prstGeom prst="rect">
            <a:avLst/>
          </a:prstGeom>
          <a:noFill/>
          <a:ln/>
        </p:spPr>
        <p:txBody>
          <a:bodyPr wrap="square" lIns="0" tIns="0" rIns="0" bIns="0" rtlCol="0" anchor="ctr"/>
          <a:lstStyle/>
          <a:p>
            <a:pPr marL="0" indent="0">
              <a:buNone/>
            </a:pPr>
            <a:r>
              <a:rPr lang="en-US" sz="800" dirty="0">
                <a:solidFill>
                  <a:srgbClr val="A9A59C"/>
                </a:solidFill>
                <a:latin typeface="Satoshi" pitchFamily="34" charset="0"/>
                <a:ea typeface="Satoshi" pitchFamily="34" charset="-122"/>
                <a:cs typeface="Satoshi" pitchFamily="34" charset="-120"/>
              </a:rPr>
              <a:t>Contribution margin</a:t>
            </a:r>
            <a:endParaRPr lang="en-US" sz="800" dirty="0"/>
          </a:p>
        </p:txBody>
      </p:sp>
      <p:sp>
        <p:nvSpPr>
          <p:cNvPr id="31" name="Text 29"/>
          <p:cNvSpPr txBox="1"/>
          <p:nvPr/>
        </p:nvSpPr>
        <p:spPr>
          <a:xfrm>
            <a:off x="7132320" y="1901952"/>
            <a:ext cx="1481328" cy="219456"/>
          </a:xfrm>
          <a:prstGeom prst="rect">
            <a:avLst/>
          </a:prstGeom>
          <a:noFill/>
          <a:ln/>
        </p:spPr>
        <p:txBody>
          <a:bodyPr wrap="square" lIns="0" tIns="0" rIns="0" bIns="0" rtlCol="0" anchor="ctr"/>
          <a:lstStyle/>
          <a:p>
            <a:pPr marL="0" indent="0" algn="r">
              <a:buNone/>
            </a:pPr>
            <a:r>
              <a:rPr lang="en-US" sz="800" dirty="0">
                <a:solidFill>
                  <a:srgbClr val="F4F1EA"/>
                </a:solidFill>
                <a:latin typeface="Satoshi Medium" pitchFamily="34" charset="0"/>
                <a:ea typeface="Satoshi Medium" pitchFamily="34" charset="-122"/>
                <a:cs typeface="Satoshi Medium" pitchFamily="34" charset="-120"/>
              </a:rPr>
              <a:t>High, software-like</a:t>
            </a:r>
            <a:endParaRPr lang="en-US" sz="800" dirty="0"/>
          </a:p>
        </p:txBody>
      </p:sp>
      <p:sp>
        <p:nvSpPr>
          <p:cNvPr id="32" name="Shape 30"/>
          <p:cNvSpPr/>
          <p:nvPr/>
        </p:nvSpPr>
        <p:spPr>
          <a:xfrm>
            <a:off x="6035040" y="2139696"/>
            <a:ext cx="2560320" cy="0"/>
          </a:xfrm>
          <a:prstGeom prst="line">
            <a:avLst/>
          </a:prstGeom>
          <a:noFill/>
          <a:ln w="9525">
            <a:solidFill>
              <a:srgbClr val="2A2A2F"/>
            </a:solidFill>
            <a:prstDash val="solid"/>
          </a:ln>
        </p:spPr>
      </p:sp>
      <p:sp>
        <p:nvSpPr>
          <p:cNvPr id="33" name="Text 31"/>
          <p:cNvSpPr txBox="1"/>
          <p:nvPr/>
        </p:nvSpPr>
        <p:spPr>
          <a:xfrm>
            <a:off x="6035040" y="2176272"/>
            <a:ext cx="1143000" cy="219456"/>
          </a:xfrm>
          <a:prstGeom prst="rect">
            <a:avLst/>
          </a:prstGeom>
          <a:noFill/>
          <a:ln/>
        </p:spPr>
        <p:txBody>
          <a:bodyPr wrap="square" lIns="0" tIns="0" rIns="0" bIns="0" rtlCol="0" anchor="ctr"/>
          <a:lstStyle/>
          <a:p>
            <a:pPr marL="0" indent="0">
              <a:buNone/>
            </a:pPr>
            <a:r>
              <a:rPr lang="en-US" sz="800" dirty="0">
                <a:solidFill>
                  <a:srgbClr val="A9A59C"/>
                </a:solidFill>
                <a:latin typeface="Satoshi" pitchFamily="34" charset="0"/>
                <a:ea typeface="Satoshi" pitchFamily="34" charset="-122"/>
                <a:cs typeface="Satoshi" pitchFamily="34" charset="-120"/>
              </a:rPr>
              <a:t>Acquisition cost</a:t>
            </a:r>
            <a:endParaRPr lang="en-US" sz="800" dirty="0"/>
          </a:p>
        </p:txBody>
      </p:sp>
      <p:sp>
        <p:nvSpPr>
          <p:cNvPr id="34" name="Text 32"/>
          <p:cNvSpPr txBox="1"/>
          <p:nvPr/>
        </p:nvSpPr>
        <p:spPr>
          <a:xfrm>
            <a:off x="7132320" y="2176272"/>
            <a:ext cx="1481328" cy="219456"/>
          </a:xfrm>
          <a:prstGeom prst="rect">
            <a:avLst/>
          </a:prstGeom>
          <a:noFill/>
          <a:ln/>
        </p:spPr>
        <p:txBody>
          <a:bodyPr wrap="square" lIns="0" tIns="0" rIns="0" bIns="0" rtlCol="0" anchor="ctr"/>
          <a:lstStyle/>
          <a:p>
            <a:pPr marL="0" indent="0" algn="r">
              <a:buNone/>
            </a:pPr>
            <a:r>
              <a:rPr lang="en-US" sz="800" dirty="0">
                <a:solidFill>
                  <a:srgbClr val="F4F1EA"/>
                </a:solidFill>
                <a:latin typeface="Satoshi Medium" pitchFamily="34" charset="0"/>
                <a:ea typeface="Satoshi Medium" pitchFamily="34" charset="-122"/>
                <a:cs typeface="Satoshi Medium" pitchFamily="34" charset="-120"/>
              </a:rPr>
              <a:t>Low early: founder-led demos</a:t>
            </a:r>
            <a:endParaRPr lang="en-US" sz="800" dirty="0"/>
          </a:p>
        </p:txBody>
      </p:sp>
      <p:sp>
        <p:nvSpPr>
          <p:cNvPr id="35" name="Shape 33"/>
          <p:cNvSpPr/>
          <p:nvPr/>
        </p:nvSpPr>
        <p:spPr>
          <a:xfrm>
            <a:off x="6035040" y="2414016"/>
            <a:ext cx="2560320" cy="0"/>
          </a:xfrm>
          <a:prstGeom prst="line">
            <a:avLst/>
          </a:prstGeom>
          <a:noFill/>
          <a:ln w="9525">
            <a:solidFill>
              <a:srgbClr val="2A2A2F"/>
            </a:solidFill>
            <a:prstDash val="solid"/>
          </a:ln>
        </p:spPr>
      </p:sp>
      <p:sp>
        <p:nvSpPr>
          <p:cNvPr id="36" name="Text 34"/>
          <p:cNvSpPr txBox="1"/>
          <p:nvPr/>
        </p:nvSpPr>
        <p:spPr>
          <a:xfrm>
            <a:off x="6035040" y="2450592"/>
            <a:ext cx="1143000" cy="219456"/>
          </a:xfrm>
          <a:prstGeom prst="rect">
            <a:avLst/>
          </a:prstGeom>
          <a:noFill/>
          <a:ln/>
        </p:spPr>
        <p:txBody>
          <a:bodyPr wrap="square" lIns="0" tIns="0" rIns="0" bIns="0" rtlCol="0" anchor="ctr"/>
          <a:lstStyle/>
          <a:p>
            <a:pPr marL="0" indent="0">
              <a:buNone/>
            </a:pPr>
            <a:r>
              <a:rPr lang="en-US" sz="800" dirty="0">
                <a:solidFill>
                  <a:srgbClr val="A9A59C"/>
                </a:solidFill>
                <a:latin typeface="Satoshi" pitchFamily="34" charset="0"/>
                <a:ea typeface="Satoshi" pitchFamily="34" charset="-122"/>
                <a:cs typeface="Satoshi" pitchFamily="34" charset="-120"/>
              </a:rPr>
              <a:t>Payback</a:t>
            </a:r>
            <a:endParaRPr lang="en-US" sz="800" dirty="0"/>
          </a:p>
        </p:txBody>
      </p:sp>
      <p:sp>
        <p:nvSpPr>
          <p:cNvPr id="37" name="Text 35"/>
          <p:cNvSpPr txBox="1"/>
          <p:nvPr/>
        </p:nvSpPr>
        <p:spPr>
          <a:xfrm>
            <a:off x="7132320" y="2450592"/>
            <a:ext cx="1481328" cy="219456"/>
          </a:xfrm>
          <a:prstGeom prst="rect">
            <a:avLst/>
          </a:prstGeom>
          <a:noFill/>
          <a:ln/>
        </p:spPr>
        <p:txBody>
          <a:bodyPr wrap="square" lIns="0" tIns="0" rIns="0" bIns="0" rtlCol="0" anchor="ctr"/>
          <a:lstStyle/>
          <a:p>
            <a:pPr marL="0" indent="0" algn="r">
              <a:buNone/>
            </a:pPr>
            <a:r>
              <a:rPr lang="en-US" sz="800" dirty="0">
                <a:solidFill>
                  <a:srgbClr val="F4F1EA"/>
                </a:solidFill>
                <a:latin typeface="Satoshi Medium" pitchFamily="34" charset="0"/>
                <a:ea typeface="Satoshi Medium" pitchFamily="34" charset="-122"/>
                <a:cs typeface="Satoshi Medium" pitchFamily="34" charset="-120"/>
              </a:rPr>
              <a:t>Within the first months</a:t>
            </a:r>
            <a:endParaRPr lang="en-US" sz="800" dirty="0"/>
          </a:p>
        </p:txBody>
      </p:sp>
      <p:sp>
        <p:nvSpPr>
          <p:cNvPr id="38" name="Shape 36"/>
          <p:cNvSpPr/>
          <p:nvPr/>
        </p:nvSpPr>
        <p:spPr>
          <a:xfrm>
            <a:off x="6035040" y="2688336"/>
            <a:ext cx="2560320" cy="0"/>
          </a:xfrm>
          <a:prstGeom prst="line">
            <a:avLst/>
          </a:prstGeom>
          <a:noFill/>
          <a:ln w="9525">
            <a:solidFill>
              <a:srgbClr val="2A2A2F"/>
            </a:solidFill>
            <a:prstDash val="solid"/>
          </a:ln>
        </p:spPr>
      </p:sp>
      <p:sp>
        <p:nvSpPr>
          <p:cNvPr id="39" name="Text 37"/>
          <p:cNvSpPr txBox="1"/>
          <p:nvPr/>
        </p:nvSpPr>
        <p:spPr>
          <a:xfrm>
            <a:off x="6035040" y="2724912"/>
            <a:ext cx="1143000" cy="219456"/>
          </a:xfrm>
          <a:prstGeom prst="rect">
            <a:avLst/>
          </a:prstGeom>
          <a:noFill/>
          <a:ln/>
        </p:spPr>
        <p:txBody>
          <a:bodyPr wrap="square" lIns="0" tIns="0" rIns="0" bIns="0" rtlCol="0" anchor="ctr"/>
          <a:lstStyle/>
          <a:p>
            <a:pPr marL="0" indent="0">
              <a:buNone/>
            </a:pPr>
            <a:r>
              <a:rPr lang="en-US" sz="800" dirty="0">
                <a:solidFill>
                  <a:srgbClr val="A9A59C"/>
                </a:solidFill>
                <a:latin typeface="Satoshi" pitchFamily="34" charset="0"/>
                <a:ea typeface="Satoshi" pitchFamily="34" charset="-122"/>
                <a:cs typeface="Satoshi" pitchFamily="34" charset="-120"/>
              </a:rPr>
              <a:t>Lifetime value</a:t>
            </a:r>
            <a:endParaRPr lang="en-US" sz="800" dirty="0"/>
          </a:p>
        </p:txBody>
      </p:sp>
      <p:sp>
        <p:nvSpPr>
          <p:cNvPr id="40" name="Text 38"/>
          <p:cNvSpPr txBox="1"/>
          <p:nvPr/>
        </p:nvSpPr>
        <p:spPr>
          <a:xfrm>
            <a:off x="7132320" y="2724912"/>
            <a:ext cx="1481328" cy="219456"/>
          </a:xfrm>
          <a:prstGeom prst="rect">
            <a:avLst/>
          </a:prstGeom>
          <a:noFill/>
          <a:ln/>
        </p:spPr>
        <p:txBody>
          <a:bodyPr wrap="square" lIns="0" tIns="0" rIns="0" bIns="0" rtlCol="0" anchor="ctr"/>
          <a:lstStyle/>
          <a:p>
            <a:pPr marL="0" indent="0" algn="r">
              <a:buNone/>
            </a:pPr>
            <a:r>
              <a:rPr lang="en-US" sz="800" dirty="0">
                <a:solidFill>
                  <a:srgbClr val="F4F1EA"/>
                </a:solidFill>
                <a:latin typeface="Satoshi Medium" pitchFamily="34" charset="0"/>
                <a:ea typeface="Satoshi Medium" pitchFamily="34" charset="-122"/>
                <a:cs typeface="Satoshi Medium" pitchFamily="34" charset="-120"/>
              </a:rPr>
              <a:t>Rises with retention</a:t>
            </a:r>
            <a:endParaRPr lang="en-US" sz="800" dirty="0"/>
          </a:p>
        </p:txBody>
      </p:sp>
      <p:sp>
        <p:nvSpPr>
          <p:cNvPr id="41" name="Shape 39"/>
          <p:cNvSpPr/>
          <p:nvPr/>
        </p:nvSpPr>
        <p:spPr>
          <a:xfrm>
            <a:off x="6035040" y="2962656"/>
            <a:ext cx="2560320" cy="0"/>
          </a:xfrm>
          <a:prstGeom prst="line">
            <a:avLst/>
          </a:prstGeom>
          <a:noFill/>
          <a:ln w="9525">
            <a:solidFill>
              <a:srgbClr val="2A2A2F"/>
            </a:solidFill>
            <a:prstDash val="solid"/>
          </a:ln>
        </p:spPr>
      </p:sp>
      <p:sp>
        <p:nvSpPr>
          <p:cNvPr id="42" name="Text 40"/>
          <p:cNvSpPr txBox="1"/>
          <p:nvPr/>
        </p:nvSpPr>
        <p:spPr>
          <a:xfrm>
            <a:off x="6035040" y="2999232"/>
            <a:ext cx="1143000" cy="219456"/>
          </a:xfrm>
          <a:prstGeom prst="rect">
            <a:avLst/>
          </a:prstGeom>
          <a:noFill/>
          <a:ln/>
        </p:spPr>
        <p:txBody>
          <a:bodyPr wrap="square" lIns="0" tIns="0" rIns="0" bIns="0" rtlCol="0" anchor="ctr"/>
          <a:lstStyle/>
          <a:p>
            <a:pPr marL="0" indent="0">
              <a:buNone/>
            </a:pPr>
            <a:r>
              <a:rPr lang="en-US" sz="800" dirty="0">
                <a:solidFill>
                  <a:srgbClr val="A9A59C"/>
                </a:solidFill>
                <a:latin typeface="Satoshi" pitchFamily="34" charset="0"/>
                <a:ea typeface="Satoshi" pitchFamily="34" charset="-122"/>
                <a:cs typeface="Satoshi" pitchFamily="34" charset="-120"/>
              </a:rPr>
              <a:t>Break-even</a:t>
            </a:r>
            <a:endParaRPr lang="en-US" sz="800" dirty="0"/>
          </a:p>
        </p:txBody>
      </p:sp>
      <p:sp>
        <p:nvSpPr>
          <p:cNvPr id="43" name="Text 41"/>
          <p:cNvSpPr txBox="1"/>
          <p:nvPr/>
        </p:nvSpPr>
        <p:spPr>
          <a:xfrm>
            <a:off x="7132320" y="2999232"/>
            <a:ext cx="1481328" cy="219456"/>
          </a:xfrm>
          <a:prstGeom prst="rect">
            <a:avLst/>
          </a:prstGeom>
          <a:noFill/>
          <a:ln/>
        </p:spPr>
        <p:txBody>
          <a:bodyPr wrap="square" lIns="0" tIns="0" rIns="0" bIns="0" rtlCol="0" anchor="ctr"/>
          <a:lstStyle/>
          <a:p>
            <a:pPr marL="0" indent="0" algn="r">
              <a:buNone/>
            </a:pPr>
            <a:r>
              <a:rPr lang="en-US" sz="800" dirty="0">
                <a:solidFill>
                  <a:srgbClr val="F4F1EA"/>
                </a:solidFill>
                <a:latin typeface="Satoshi Medium" pitchFamily="34" charset="0"/>
                <a:ea typeface="Satoshi Medium" pitchFamily="34" charset="-122"/>
                <a:cs typeface="Satoshi Medium" pitchFamily="34" charset="-120"/>
              </a:rPr>
              <a:t>A few hundred active locations</a:t>
            </a:r>
            <a:endParaRPr lang="en-US" sz="800" dirty="0"/>
          </a:p>
        </p:txBody>
      </p:sp>
      <p:sp>
        <p:nvSpPr>
          <p:cNvPr id="44" name="Shape 42"/>
          <p:cNvSpPr/>
          <p:nvPr/>
        </p:nvSpPr>
        <p:spPr>
          <a:xfrm>
            <a:off x="5897880" y="3429000"/>
            <a:ext cx="2834640" cy="1024128"/>
          </a:xfrm>
          <a:prstGeom prst="roundRect">
            <a:avLst>
              <a:gd name="adj" fmla="val 8036"/>
            </a:avLst>
          </a:prstGeom>
          <a:solidFill>
            <a:srgbClr val="131316"/>
          </a:solidFill>
          <a:ln w="9525">
            <a:solidFill>
              <a:srgbClr val="2A2A2F"/>
            </a:solidFill>
            <a:prstDash val="solid"/>
          </a:ln>
        </p:spPr>
      </p:sp>
      <p:sp>
        <p:nvSpPr>
          <p:cNvPr id="45" name="Text 43"/>
          <p:cNvSpPr txBox="1"/>
          <p:nvPr/>
        </p:nvSpPr>
        <p:spPr>
          <a:xfrm>
            <a:off x="6035040" y="3547872"/>
            <a:ext cx="2560320" cy="164592"/>
          </a:xfrm>
          <a:prstGeom prst="rect">
            <a:avLst/>
          </a:prstGeom>
          <a:noFill/>
          <a:ln/>
        </p:spPr>
        <p:txBody>
          <a:bodyPr wrap="square" lIns="0" tIns="0" rIns="0" bIns="0" rtlCol="0" anchor="t"/>
          <a:lstStyle/>
          <a:p>
            <a:pPr marL="0" indent="0">
              <a:buNone/>
            </a:pPr>
            <a:r>
              <a:rPr lang="en-US" sz="750" kern="0" spc="110" dirty="0">
                <a:solidFill>
                  <a:srgbClr val="FFB547"/>
                </a:solidFill>
                <a:latin typeface="JetBrains Mono" pitchFamily="34" charset="0"/>
                <a:ea typeface="JetBrains Mono" pitchFamily="34" charset="-122"/>
                <a:cs typeface="JetBrains Mono" pitchFamily="34" charset="-120"/>
              </a:rPr>
              <a:t>VOICE OF CONSUMER</a:t>
            </a:r>
            <a:endParaRPr lang="en-US" sz="750" dirty="0"/>
          </a:p>
        </p:txBody>
      </p:sp>
      <p:sp>
        <p:nvSpPr>
          <p:cNvPr id="46" name="Text 44"/>
          <p:cNvSpPr txBox="1"/>
          <p:nvPr/>
        </p:nvSpPr>
        <p:spPr>
          <a:xfrm>
            <a:off x="6035040" y="3767328"/>
            <a:ext cx="2606040" cy="201168"/>
          </a:xfrm>
          <a:prstGeom prst="rect">
            <a:avLst/>
          </a:prstGeom>
          <a:noFill/>
          <a:ln/>
        </p:spPr>
        <p:txBody>
          <a:bodyPr wrap="square" lIns="0" tIns="0" rIns="0" bIns="0" rtlCol="0" anchor="t"/>
          <a:lstStyle/>
          <a:p>
            <a:pPr marL="0" indent="0">
              <a:buNone/>
            </a:pPr>
            <a:r>
              <a:rPr lang="en-US" sz="850" dirty="0">
                <a:solidFill>
                  <a:srgbClr val="F4F1EA"/>
                </a:solidFill>
                <a:latin typeface="Satoshi" pitchFamily="34" charset="0"/>
                <a:ea typeface="Satoshi" pitchFamily="34" charset="-122"/>
                <a:cs typeface="Satoshi" pitchFamily="34" charset="-120"/>
              </a:rPr>
              <a:t>- 5 consenting role-players · pseudonymous IDs</a:t>
            </a:r>
            <a:endParaRPr lang="en-US" sz="850" dirty="0"/>
          </a:p>
        </p:txBody>
      </p:sp>
      <p:sp>
        <p:nvSpPr>
          <p:cNvPr id="47" name="Shape 45"/>
          <p:cNvSpPr/>
          <p:nvPr/>
        </p:nvSpPr>
        <p:spPr>
          <a:xfrm>
            <a:off x="6035040" y="4114800"/>
            <a:ext cx="457200" cy="201168"/>
          </a:xfrm>
          <a:prstGeom prst="roundRect">
            <a:avLst>
              <a:gd name="adj" fmla="val 22727"/>
            </a:avLst>
          </a:prstGeom>
          <a:solidFill>
            <a:srgbClr val="222228"/>
          </a:solidFill>
          <a:ln w="12700">
            <a:solidFill>
              <a:srgbClr val="222228"/>
            </a:solidFill>
            <a:prstDash val="solid"/>
          </a:ln>
        </p:spPr>
      </p:sp>
      <p:sp>
        <p:nvSpPr>
          <p:cNvPr id="48" name="Text 46"/>
          <p:cNvSpPr txBox="1"/>
          <p:nvPr/>
        </p:nvSpPr>
        <p:spPr>
          <a:xfrm>
            <a:off x="6035040" y="4114800"/>
            <a:ext cx="457200" cy="201168"/>
          </a:xfrm>
          <a:prstGeom prst="rect">
            <a:avLst/>
          </a:prstGeom>
          <a:noFill/>
          <a:ln/>
        </p:spPr>
        <p:txBody>
          <a:bodyPr wrap="square" lIns="0" tIns="0" rIns="0" bIns="0" rtlCol="0" anchor="ctr"/>
          <a:lstStyle/>
          <a:p>
            <a:pPr marL="0" indent="0" algn="ctr">
              <a:buNone/>
            </a:pPr>
            <a:r>
              <a:rPr lang="en-US" sz="650" kern="0" spc="50" dirty="0">
                <a:solidFill>
                  <a:srgbClr val="A9A59C"/>
                </a:solidFill>
                <a:latin typeface="JetBrains Mono" pitchFamily="34" charset="0"/>
                <a:ea typeface="JetBrains Mono" pitchFamily="34" charset="-122"/>
                <a:cs typeface="JetBrains Mono" pitchFamily="34" charset="-120"/>
              </a:rPr>
              <a:t>RP-01</a:t>
            </a:r>
            <a:endParaRPr lang="en-US" sz="650" dirty="0"/>
          </a:p>
        </p:txBody>
      </p:sp>
      <p:sp>
        <p:nvSpPr>
          <p:cNvPr id="49" name="Shape 47"/>
          <p:cNvSpPr/>
          <p:nvPr/>
        </p:nvSpPr>
        <p:spPr>
          <a:xfrm>
            <a:off x="6556248" y="4114800"/>
            <a:ext cx="457200" cy="201168"/>
          </a:xfrm>
          <a:prstGeom prst="roundRect">
            <a:avLst>
              <a:gd name="adj" fmla="val 22727"/>
            </a:avLst>
          </a:prstGeom>
          <a:solidFill>
            <a:srgbClr val="222228"/>
          </a:solidFill>
          <a:ln w="12700">
            <a:solidFill>
              <a:srgbClr val="222228"/>
            </a:solidFill>
            <a:prstDash val="solid"/>
          </a:ln>
        </p:spPr>
      </p:sp>
      <p:sp>
        <p:nvSpPr>
          <p:cNvPr id="50" name="Text 48"/>
          <p:cNvSpPr txBox="1"/>
          <p:nvPr/>
        </p:nvSpPr>
        <p:spPr>
          <a:xfrm>
            <a:off x="6556248" y="4114800"/>
            <a:ext cx="457200" cy="201168"/>
          </a:xfrm>
          <a:prstGeom prst="rect">
            <a:avLst/>
          </a:prstGeom>
          <a:noFill/>
          <a:ln/>
        </p:spPr>
        <p:txBody>
          <a:bodyPr wrap="square" lIns="0" tIns="0" rIns="0" bIns="0" rtlCol="0" anchor="ctr"/>
          <a:lstStyle/>
          <a:p>
            <a:pPr marL="0" indent="0" algn="ctr">
              <a:buNone/>
            </a:pPr>
            <a:r>
              <a:rPr lang="en-US" sz="650" kern="0" spc="50" dirty="0">
                <a:solidFill>
                  <a:srgbClr val="A9A59C"/>
                </a:solidFill>
                <a:latin typeface="JetBrains Mono" pitchFamily="34" charset="0"/>
                <a:ea typeface="JetBrains Mono" pitchFamily="34" charset="-122"/>
                <a:cs typeface="JetBrains Mono" pitchFamily="34" charset="-120"/>
              </a:rPr>
              <a:t>RP-02</a:t>
            </a:r>
            <a:endParaRPr lang="en-US" sz="650" dirty="0"/>
          </a:p>
        </p:txBody>
      </p:sp>
      <p:sp>
        <p:nvSpPr>
          <p:cNvPr id="51" name="Shape 49"/>
          <p:cNvSpPr/>
          <p:nvPr/>
        </p:nvSpPr>
        <p:spPr>
          <a:xfrm>
            <a:off x="7077456" y="4114800"/>
            <a:ext cx="457200" cy="201168"/>
          </a:xfrm>
          <a:prstGeom prst="roundRect">
            <a:avLst>
              <a:gd name="adj" fmla="val 22727"/>
            </a:avLst>
          </a:prstGeom>
          <a:solidFill>
            <a:srgbClr val="222228"/>
          </a:solidFill>
          <a:ln w="12700">
            <a:solidFill>
              <a:srgbClr val="222228"/>
            </a:solidFill>
            <a:prstDash val="solid"/>
          </a:ln>
        </p:spPr>
      </p:sp>
      <p:sp>
        <p:nvSpPr>
          <p:cNvPr id="52" name="Text 50"/>
          <p:cNvSpPr txBox="1"/>
          <p:nvPr/>
        </p:nvSpPr>
        <p:spPr>
          <a:xfrm>
            <a:off x="7077456" y="4114800"/>
            <a:ext cx="457200" cy="201168"/>
          </a:xfrm>
          <a:prstGeom prst="rect">
            <a:avLst/>
          </a:prstGeom>
          <a:noFill/>
          <a:ln/>
        </p:spPr>
        <p:txBody>
          <a:bodyPr wrap="square" lIns="0" tIns="0" rIns="0" bIns="0" rtlCol="0" anchor="ctr"/>
          <a:lstStyle/>
          <a:p>
            <a:pPr marL="0" indent="0" algn="ctr">
              <a:buNone/>
            </a:pPr>
            <a:r>
              <a:rPr lang="en-US" sz="650" kern="0" spc="50" dirty="0">
                <a:solidFill>
                  <a:srgbClr val="A9A59C"/>
                </a:solidFill>
                <a:latin typeface="JetBrains Mono" pitchFamily="34" charset="0"/>
                <a:ea typeface="JetBrains Mono" pitchFamily="34" charset="-122"/>
                <a:cs typeface="JetBrains Mono" pitchFamily="34" charset="-120"/>
              </a:rPr>
              <a:t>RP-03</a:t>
            </a:r>
            <a:endParaRPr lang="en-US" sz="650" dirty="0"/>
          </a:p>
        </p:txBody>
      </p:sp>
      <p:sp>
        <p:nvSpPr>
          <p:cNvPr id="53" name="Shape 51"/>
          <p:cNvSpPr/>
          <p:nvPr/>
        </p:nvSpPr>
        <p:spPr>
          <a:xfrm>
            <a:off x="7598664" y="4114800"/>
            <a:ext cx="457200" cy="201168"/>
          </a:xfrm>
          <a:prstGeom prst="roundRect">
            <a:avLst>
              <a:gd name="adj" fmla="val 22727"/>
            </a:avLst>
          </a:prstGeom>
          <a:solidFill>
            <a:srgbClr val="222228"/>
          </a:solidFill>
          <a:ln w="12700">
            <a:solidFill>
              <a:srgbClr val="222228"/>
            </a:solidFill>
            <a:prstDash val="solid"/>
          </a:ln>
        </p:spPr>
      </p:sp>
      <p:sp>
        <p:nvSpPr>
          <p:cNvPr id="54" name="Text 52"/>
          <p:cNvSpPr txBox="1"/>
          <p:nvPr/>
        </p:nvSpPr>
        <p:spPr>
          <a:xfrm>
            <a:off x="7598664" y="4114800"/>
            <a:ext cx="457200" cy="201168"/>
          </a:xfrm>
          <a:prstGeom prst="rect">
            <a:avLst/>
          </a:prstGeom>
          <a:noFill/>
          <a:ln/>
        </p:spPr>
        <p:txBody>
          <a:bodyPr wrap="square" lIns="0" tIns="0" rIns="0" bIns="0" rtlCol="0" anchor="ctr"/>
          <a:lstStyle/>
          <a:p>
            <a:pPr marL="0" indent="0" algn="ctr">
              <a:buNone/>
            </a:pPr>
            <a:r>
              <a:rPr lang="en-US" sz="650" kern="0" spc="50" dirty="0">
                <a:solidFill>
                  <a:srgbClr val="A9A59C"/>
                </a:solidFill>
                <a:latin typeface="JetBrains Mono" pitchFamily="34" charset="0"/>
                <a:ea typeface="JetBrains Mono" pitchFamily="34" charset="-122"/>
                <a:cs typeface="JetBrains Mono" pitchFamily="34" charset="-120"/>
              </a:rPr>
              <a:t>RP-04</a:t>
            </a:r>
            <a:endParaRPr lang="en-US" sz="650" dirty="0"/>
          </a:p>
        </p:txBody>
      </p:sp>
      <p:sp>
        <p:nvSpPr>
          <p:cNvPr id="55" name="Shape 53"/>
          <p:cNvSpPr/>
          <p:nvPr/>
        </p:nvSpPr>
        <p:spPr>
          <a:xfrm>
            <a:off x="8119872" y="4114800"/>
            <a:ext cx="457200" cy="201168"/>
          </a:xfrm>
          <a:prstGeom prst="roundRect">
            <a:avLst>
              <a:gd name="adj" fmla="val 22727"/>
            </a:avLst>
          </a:prstGeom>
          <a:solidFill>
            <a:srgbClr val="222228"/>
          </a:solidFill>
          <a:ln w="12700">
            <a:solidFill>
              <a:srgbClr val="222228"/>
            </a:solidFill>
            <a:prstDash val="solid"/>
          </a:ln>
        </p:spPr>
      </p:sp>
      <p:sp>
        <p:nvSpPr>
          <p:cNvPr id="56" name="Text 54"/>
          <p:cNvSpPr txBox="1"/>
          <p:nvPr/>
        </p:nvSpPr>
        <p:spPr>
          <a:xfrm>
            <a:off x="8119872" y="4114800"/>
            <a:ext cx="457200" cy="201168"/>
          </a:xfrm>
          <a:prstGeom prst="rect">
            <a:avLst/>
          </a:prstGeom>
          <a:noFill/>
          <a:ln/>
        </p:spPr>
        <p:txBody>
          <a:bodyPr wrap="square" lIns="0" tIns="0" rIns="0" bIns="0" rtlCol="0" anchor="ctr"/>
          <a:lstStyle/>
          <a:p>
            <a:pPr marL="0" indent="0" algn="ctr">
              <a:buNone/>
            </a:pPr>
            <a:r>
              <a:rPr lang="en-US" sz="650" kern="0" spc="50" dirty="0">
                <a:solidFill>
                  <a:srgbClr val="A9A59C"/>
                </a:solidFill>
                <a:latin typeface="JetBrains Mono" pitchFamily="34" charset="0"/>
                <a:ea typeface="JetBrains Mono" pitchFamily="34" charset="-122"/>
                <a:cs typeface="JetBrains Mono" pitchFamily="34" charset="-120"/>
              </a:rPr>
              <a:t>RP-05</a:t>
            </a:r>
            <a:endParaRPr lang="en-US" sz="650" dirty="0"/>
          </a:p>
        </p:txBody>
      </p:sp>
      <p:sp>
        <p:nvSpPr>
          <p:cNvPr id="57" name="Text 55"/>
          <p:cNvSpPr txBox="1"/>
          <p:nvPr/>
        </p:nvSpPr>
        <p:spPr>
          <a:xfrm>
            <a:off x="411480" y="4791456"/>
            <a:ext cx="8321040" cy="164592"/>
          </a:xfrm>
          <a:prstGeom prst="rect">
            <a:avLst/>
          </a:prstGeom>
          <a:noFill/>
          <a:ln/>
        </p:spPr>
        <p:txBody>
          <a:bodyPr wrap="square" lIns="0" tIns="0" rIns="0" bIns="0" rtlCol="0" anchor="t"/>
          <a:lstStyle/>
          <a:p>
            <a:pPr marL="0" indent="0">
              <a:buNone/>
            </a:pPr>
            <a:r>
              <a:rPr lang="en-US" sz="650" i="1" dirty="0">
                <a:solidFill>
                  <a:srgbClr val="76736C"/>
                </a:solidFill>
                <a:latin typeface="JetBrains Mono" pitchFamily="34" charset="0"/>
                <a:ea typeface="JetBrains Mono" pitchFamily="34" charset="-122"/>
                <a:cs typeface="JetBrains Mono" pitchFamily="34" charset="-120"/>
              </a:rPr>
              <a:t>[HYPOTHESIS] Price to be tested with owners; 5 role-players ≠ market validation of WTP.</a:t>
            </a:r>
            <a:endParaRPr lang="en-US" sz="650" dirty="0"/>
          </a:p>
        </p:txBody>
      </p:sp>
      <p:sp>
        <p:nvSpPr>
          <p:cNvPr id="58" name="Slide Number Placeholder 0"/>
          <p:cNvSpPr>
            <a:spLocks noGrp="1"/>
          </p:cNvSpPr>
          <p:nvPr>
            <p:ph type="sldNum" sz="quarter" idx="4294967295"/>
          </p:nvPr>
        </p:nvSpPr>
        <p:spPr>
          <a:xfrm>
            <a:off x="8577072" y="182880"/>
            <a:ext cx="274320" cy="274320"/>
          </a:xfrm>
          <a:prstGeom prst="rect">
            <a:avLst/>
          </a:prstGeom>
          <a:extLst>
            <a:ext uri="{C572A759-6A51-4108-AA02-DFA0A04FC94B}">
              <ma14:wrappingTextBoxFlag xmlns:ma14="http://schemas.microsoft.com/office/mac/drawingml/2011/main" xmlns="" val="0"/>
            </a:ext>
          </a:extLst>
        </p:spPr>
        <p:txBody>
          <a:bodyPr/>
          <a:lstStyle>
            <a:lvl1pPr>
              <a:defRPr sz="700">
                <a:solidFill>
                  <a:srgbClr val="76736C"/>
                </a:solidFill>
                <a:latin typeface="JetBrains Mono"/>
                <a:ea typeface="JetBrains Mono"/>
                <a:cs typeface="JetBrains Mono"/>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11480" y="237744"/>
            <a:ext cx="6858000" cy="182880"/>
          </a:xfrm>
          <a:prstGeom prst="rect">
            <a:avLst/>
          </a:prstGeom>
          <a:noFill/>
          <a:ln/>
        </p:spPr>
        <p:txBody>
          <a:bodyPr wrap="square" lIns="0" tIns="0" rIns="0" bIns="0" rtlCol="0" anchor="t"/>
          <a:lstStyle/>
          <a:p>
            <a:pPr marL="0" indent="0">
              <a:buNone/>
            </a:pPr>
            <a:r>
              <a:rPr lang="en-US" sz="750" kern="0" spc="110" dirty="0">
                <a:solidFill>
                  <a:srgbClr val="C6F24E"/>
                </a:solidFill>
                <a:latin typeface="JetBrains Mono" pitchFamily="34" charset="0"/>
                <a:ea typeface="JetBrains Mono" pitchFamily="34" charset="-122"/>
                <a:cs typeface="JetBrains Mono" pitchFamily="34" charset="-120"/>
              </a:rPr>
              <a:t>06</a:t>
            </a:r>
            <a:r>
              <a:rPr lang="en-US" sz="750" kern="0" spc="110" dirty="0">
                <a:solidFill>
                  <a:srgbClr val="76736C"/>
                </a:solidFill>
                <a:latin typeface="JetBrains Mono" pitchFamily="34" charset="0"/>
                <a:ea typeface="JetBrains Mono" pitchFamily="34" charset="-122"/>
                <a:cs typeface="JetBrains Mono" pitchFamily="34" charset="-120"/>
              </a:rPr>
              <a:t>  ·  GTM + FINANCIAL PROJECTIONS</a:t>
            </a:r>
            <a:endParaRPr lang="en-US" sz="750" dirty="0"/>
          </a:p>
        </p:txBody>
      </p:sp>
      <p:sp>
        <p:nvSpPr>
          <p:cNvPr id="3" name="Text 1"/>
          <p:cNvSpPr txBox="1"/>
          <p:nvPr/>
        </p:nvSpPr>
        <p:spPr>
          <a:xfrm>
            <a:off x="411480" y="429768"/>
            <a:ext cx="7680960" cy="457200"/>
          </a:xfrm>
          <a:prstGeom prst="rect">
            <a:avLst/>
          </a:prstGeom>
          <a:noFill/>
          <a:ln/>
        </p:spPr>
        <p:txBody>
          <a:bodyPr wrap="square" lIns="0" tIns="0" rIns="0" bIns="0" rtlCol="0" anchor="ctr"/>
          <a:lstStyle/>
          <a:p>
            <a:pPr marL="0" indent="0">
              <a:buNone/>
            </a:pPr>
            <a:r>
              <a:rPr lang="en-US" sz="2300" dirty="0">
                <a:solidFill>
                  <a:srgbClr val="F4F1EA"/>
                </a:solidFill>
                <a:latin typeface="Clash Display Semibold" pitchFamily="34" charset="0"/>
                <a:ea typeface="Clash Display Semibold" pitchFamily="34" charset="-122"/>
                <a:cs typeface="Clash Display Semibold" pitchFamily="34" charset="-120"/>
              </a:rPr>
              <a:t>Go-to-Market Strategy &amp; Financial Projections</a:t>
            </a:r>
            <a:endParaRPr lang="en-US" sz="2300" dirty="0"/>
          </a:p>
        </p:txBody>
      </p:sp>
      <p:sp>
        <p:nvSpPr>
          <p:cNvPr id="4" name="Shape 2"/>
          <p:cNvSpPr/>
          <p:nvPr/>
        </p:nvSpPr>
        <p:spPr>
          <a:xfrm>
            <a:off x="411480" y="941832"/>
            <a:ext cx="2011680" cy="786384"/>
          </a:xfrm>
          <a:prstGeom prst="roundRect">
            <a:avLst>
              <a:gd name="adj" fmla="val 10465"/>
            </a:avLst>
          </a:prstGeom>
          <a:solidFill>
            <a:srgbClr val="131316"/>
          </a:solidFill>
          <a:ln w="9525">
            <a:solidFill>
              <a:srgbClr val="2A2A2F"/>
            </a:solidFill>
            <a:prstDash val="solid"/>
          </a:ln>
        </p:spPr>
      </p:sp>
      <p:sp>
        <p:nvSpPr>
          <p:cNvPr id="5" name="Text 3"/>
          <p:cNvSpPr txBox="1"/>
          <p:nvPr/>
        </p:nvSpPr>
        <p:spPr>
          <a:xfrm>
            <a:off x="521208" y="1005840"/>
            <a:ext cx="640080" cy="155448"/>
          </a:xfrm>
          <a:prstGeom prst="rect">
            <a:avLst/>
          </a:prstGeom>
          <a:noFill/>
          <a:ln/>
        </p:spPr>
        <p:txBody>
          <a:bodyPr wrap="square" lIns="0" tIns="0" rIns="0" bIns="0" rtlCol="0" anchor="t"/>
          <a:lstStyle/>
          <a:p>
            <a:pPr marL="0" indent="0">
              <a:buNone/>
            </a:pPr>
            <a:r>
              <a:rPr lang="en-US" sz="650" kern="0" spc="100" dirty="0">
                <a:solidFill>
                  <a:srgbClr val="C6F24E"/>
                </a:solidFill>
                <a:latin typeface="JetBrains Mono" pitchFamily="34" charset="0"/>
                <a:ea typeface="JetBrains Mono" pitchFamily="34" charset="-122"/>
                <a:cs typeface="JetBrains Mono" pitchFamily="34" charset="-120"/>
              </a:rPr>
              <a:t>WEEK 1</a:t>
            </a:r>
            <a:endParaRPr lang="en-US" sz="650" dirty="0"/>
          </a:p>
        </p:txBody>
      </p:sp>
      <p:sp>
        <p:nvSpPr>
          <p:cNvPr id="6" name="Text 4"/>
          <p:cNvSpPr txBox="1"/>
          <p:nvPr/>
        </p:nvSpPr>
        <p:spPr>
          <a:xfrm>
            <a:off x="1069848" y="987552"/>
            <a:ext cx="1280160" cy="182880"/>
          </a:xfrm>
          <a:prstGeom prst="rect">
            <a:avLst/>
          </a:prstGeom>
          <a:noFill/>
          <a:ln/>
        </p:spPr>
        <p:txBody>
          <a:bodyPr wrap="square" lIns="0" tIns="0" rIns="0" bIns="0" rtlCol="0" anchor="t"/>
          <a:lstStyle/>
          <a:p>
            <a:pPr marL="0" indent="0">
              <a:buNone/>
            </a:pPr>
            <a:r>
              <a:rPr lang="en-US" sz="900" dirty="0">
                <a:solidFill>
                  <a:srgbClr val="F4F1EA"/>
                </a:solidFill>
                <a:latin typeface="Satoshi Medium" pitchFamily="34" charset="0"/>
                <a:ea typeface="Satoshi Medium" pitchFamily="34" charset="-122"/>
                <a:cs typeface="Satoshi Medium" pitchFamily="34" charset="-120"/>
              </a:rPr>
              <a:t>Rule Verification</a:t>
            </a:r>
            <a:endParaRPr lang="en-US" sz="900" dirty="0"/>
          </a:p>
        </p:txBody>
      </p:sp>
      <p:sp>
        <p:nvSpPr>
          <p:cNvPr id="7" name="Text 5"/>
          <p:cNvSpPr txBox="1"/>
          <p:nvPr/>
        </p:nvSpPr>
        <p:spPr>
          <a:xfrm>
            <a:off x="521208" y="1207008"/>
            <a:ext cx="1810512" cy="493776"/>
          </a:xfrm>
          <a:prstGeom prst="rect">
            <a:avLst/>
          </a:prstGeom>
          <a:noFill/>
          <a:ln/>
        </p:spPr>
        <p:txBody>
          <a:bodyPr wrap="square" lIns="0" tIns="0" rIns="0" bIns="0" rtlCol="0" anchor="t"/>
          <a:lstStyle/>
          <a:p>
            <a:pPr marL="0" indent="0">
              <a:lnSpc>
                <a:spcPct val="104000"/>
              </a:lnSpc>
              <a:buNone/>
            </a:pPr>
            <a:r>
              <a:rPr lang="en-US" sz="700" dirty="0">
                <a:solidFill>
                  <a:srgbClr val="A9A59C"/>
                </a:solidFill>
                <a:latin typeface="Satoshi" pitchFamily="34" charset="0"/>
                <a:ea typeface="Satoshi" pitchFamily="34" charset="-122"/>
                <a:cs typeface="Satoshi" pitchFamily="34" charset="-120"/>
              </a:rPr>
              <a:t>Pass all 3 case checks. Fix duration/consent/concurrency issues. Save evidence.</a:t>
            </a:r>
            <a:endParaRPr lang="en-US" sz="700" dirty="0"/>
          </a:p>
        </p:txBody>
      </p:sp>
      <p:sp>
        <p:nvSpPr>
          <p:cNvPr id="8" name="Shape 6"/>
          <p:cNvSpPr/>
          <p:nvPr/>
        </p:nvSpPr>
        <p:spPr>
          <a:xfrm>
            <a:off x="2514600" y="941832"/>
            <a:ext cx="2011680" cy="786384"/>
          </a:xfrm>
          <a:prstGeom prst="roundRect">
            <a:avLst>
              <a:gd name="adj" fmla="val 10465"/>
            </a:avLst>
          </a:prstGeom>
          <a:solidFill>
            <a:srgbClr val="131316"/>
          </a:solidFill>
          <a:ln w="9525">
            <a:solidFill>
              <a:srgbClr val="2A2A2F"/>
            </a:solidFill>
            <a:prstDash val="solid"/>
          </a:ln>
        </p:spPr>
      </p:sp>
      <p:sp>
        <p:nvSpPr>
          <p:cNvPr id="9" name="Text 7"/>
          <p:cNvSpPr txBox="1"/>
          <p:nvPr/>
        </p:nvSpPr>
        <p:spPr>
          <a:xfrm>
            <a:off x="2624328" y="1005840"/>
            <a:ext cx="640080" cy="155448"/>
          </a:xfrm>
          <a:prstGeom prst="rect">
            <a:avLst/>
          </a:prstGeom>
          <a:noFill/>
          <a:ln/>
        </p:spPr>
        <p:txBody>
          <a:bodyPr wrap="square" lIns="0" tIns="0" rIns="0" bIns="0" rtlCol="0" anchor="t"/>
          <a:lstStyle/>
          <a:p>
            <a:pPr marL="0" indent="0">
              <a:buNone/>
            </a:pPr>
            <a:r>
              <a:rPr lang="en-US" sz="650" kern="0" spc="100" dirty="0">
                <a:solidFill>
                  <a:srgbClr val="C6F24E"/>
                </a:solidFill>
                <a:latin typeface="JetBrains Mono" pitchFamily="34" charset="0"/>
                <a:ea typeface="JetBrains Mono" pitchFamily="34" charset="-122"/>
                <a:cs typeface="JetBrains Mono" pitchFamily="34" charset="-120"/>
              </a:rPr>
              <a:t>WEEK 2</a:t>
            </a:r>
            <a:endParaRPr lang="en-US" sz="650" dirty="0"/>
          </a:p>
        </p:txBody>
      </p:sp>
      <p:sp>
        <p:nvSpPr>
          <p:cNvPr id="10" name="Text 8"/>
          <p:cNvSpPr txBox="1"/>
          <p:nvPr/>
        </p:nvSpPr>
        <p:spPr>
          <a:xfrm>
            <a:off x="3172968" y="987552"/>
            <a:ext cx="1280160" cy="182880"/>
          </a:xfrm>
          <a:prstGeom prst="rect">
            <a:avLst/>
          </a:prstGeom>
          <a:noFill/>
          <a:ln/>
        </p:spPr>
        <p:txBody>
          <a:bodyPr wrap="square" lIns="0" tIns="0" rIns="0" bIns="0" rtlCol="0" anchor="t"/>
          <a:lstStyle/>
          <a:p>
            <a:pPr marL="0" indent="0">
              <a:buNone/>
            </a:pPr>
            <a:r>
              <a:rPr lang="en-US" sz="900" dirty="0">
                <a:solidFill>
                  <a:srgbClr val="F4F1EA"/>
                </a:solidFill>
                <a:latin typeface="Satoshi Medium" pitchFamily="34" charset="0"/>
                <a:ea typeface="Satoshi Medium" pitchFamily="34" charset="-122"/>
                <a:cs typeface="Satoshi Medium" pitchFamily="34" charset="-120"/>
              </a:rPr>
              <a:t>Role-Player Test</a:t>
            </a:r>
            <a:endParaRPr lang="en-US" sz="900" dirty="0"/>
          </a:p>
        </p:txBody>
      </p:sp>
      <p:sp>
        <p:nvSpPr>
          <p:cNvPr id="11" name="Text 9"/>
          <p:cNvSpPr txBox="1"/>
          <p:nvPr/>
        </p:nvSpPr>
        <p:spPr>
          <a:xfrm>
            <a:off x="2624328" y="1207008"/>
            <a:ext cx="1810512" cy="493776"/>
          </a:xfrm>
          <a:prstGeom prst="rect">
            <a:avLst/>
          </a:prstGeom>
          <a:noFill/>
          <a:ln/>
        </p:spPr>
        <p:txBody>
          <a:bodyPr wrap="square" lIns="0" tIns="0" rIns="0" bIns="0" rtlCol="0" anchor="t"/>
          <a:lstStyle/>
          <a:p>
            <a:pPr marL="0" indent="0">
              <a:lnSpc>
                <a:spcPct val="104000"/>
              </a:lnSpc>
              <a:buNone/>
            </a:pPr>
            <a:r>
              <a:rPr lang="en-US" sz="700" dirty="0">
                <a:solidFill>
                  <a:srgbClr val="A9A59C"/>
                </a:solidFill>
                <a:latin typeface="Satoshi" pitchFamily="34" charset="0"/>
                <a:ea typeface="Satoshi" pitchFamily="34" charset="-122"/>
                <a:cs typeface="Satoshi" pitchFamily="34" charset="-120"/>
              </a:rPr>
              <a:t>5 consented participants. Record approach, response, usefulness. No market-size conclusions.</a:t>
            </a:r>
            <a:endParaRPr lang="en-US" sz="700" dirty="0"/>
          </a:p>
        </p:txBody>
      </p:sp>
      <p:sp>
        <p:nvSpPr>
          <p:cNvPr id="12" name="Shape 10"/>
          <p:cNvSpPr/>
          <p:nvPr/>
        </p:nvSpPr>
        <p:spPr>
          <a:xfrm>
            <a:off x="4617720" y="941832"/>
            <a:ext cx="2011680" cy="786384"/>
          </a:xfrm>
          <a:prstGeom prst="roundRect">
            <a:avLst>
              <a:gd name="adj" fmla="val 10465"/>
            </a:avLst>
          </a:prstGeom>
          <a:solidFill>
            <a:srgbClr val="131316"/>
          </a:solidFill>
          <a:ln w="9525">
            <a:solidFill>
              <a:srgbClr val="2A2A2F"/>
            </a:solidFill>
            <a:prstDash val="solid"/>
          </a:ln>
        </p:spPr>
      </p:sp>
      <p:sp>
        <p:nvSpPr>
          <p:cNvPr id="13" name="Text 11"/>
          <p:cNvSpPr txBox="1"/>
          <p:nvPr/>
        </p:nvSpPr>
        <p:spPr>
          <a:xfrm>
            <a:off x="4727448" y="1005840"/>
            <a:ext cx="640080" cy="155448"/>
          </a:xfrm>
          <a:prstGeom prst="rect">
            <a:avLst/>
          </a:prstGeom>
          <a:noFill/>
          <a:ln/>
        </p:spPr>
        <p:txBody>
          <a:bodyPr wrap="square" lIns="0" tIns="0" rIns="0" bIns="0" rtlCol="0" anchor="t"/>
          <a:lstStyle/>
          <a:p>
            <a:pPr marL="0" indent="0">
              <a:buNone/>
            </a:pPr>
            <a:r>
              <a:rPr lang="en-US" sz="650" kern="0" spc="100" dirty="0">
                <a:solidFill>
                  <a:srgbClr val="C6F24E"/>
                </a:solidFill>
                <a:latin typeface="JetBrains Mono" pitchFamily="34" charset="0"/>
                <a:ea typeface="JetBrains Mono" pitchFamily="34" charset="-122"/>
                <a:cs typeface="JetBrains Mono" pitchFamily="34" charset="-120"/>
              </a:rPr>
              <a:t>WEEK 3</a:t>
            </a:r>
            <a:endParaRPr lang="en-US" sz="650" dirty="0"/>
          </a:p>
        </p:txBody>
      </p:sp>
      <p:sp>
        <p:nvSpPr>
          <p:cNvPr id="14" name="Text 12"/>
          <p:cNvSpPr txBox="1"/>
          <p:nvPr/>
        </p:nvSpPr>
        <p:spPr>
          <a:xfrm>
            <a:off x="5276088" y="987552"/>
            <a:ext cx="1280160" cy="182880"/>
          </a:xfrm>
          <a:prstGeom prst="rect">
            <a:avLst/>
          </a:prstGeom>
          <a:noFill/>
          <a:ln/>
        </p:spPr>
        <p:txBody>
          <a:bodyPr wrap="square" lIns="0" tIns="0" rIns="0" bIns="0" rtlCol="0" anchor="t"/>
          <a:lstStyle/>
          <a:p>
            <a:pPr marL="0" indent="0">
              <a:buNone/>
            </a:pPr>
            <a:r>
              <a:rPr lang="en-US" sz="900" dirty="0">
                <a:solidFill>
                  <a:srgbClr val="F4F1EA"/>
                </a:solidFill>
                <a:latin typeface="Satoshi Medium" pitchFamily="34" charset="0"/>
                <a:ea typeface="Satoshi Medium" pitchFamily="34" charset="-122"/>
                <a:cs typeface="Satoshi Medium" pitchFamily="34" charset="-120"/>
              </a:rPr>
              <a:t>Owner Baseline</a:t>
            </a:r>
            <a:endParaRPr lang="en-US" sz="900" dirty="0"/>
          </a:p>
        </p:txBody>
      </p:sp>
      <p:sp>
        <p:nvSpPr>
          <p:cNvPr id="15" name="Text 13"/>
          <p:cNvSpPr txBox="1"/>
          <p:nvPr/>
        </p:nvSpPr>
        <p:spPr>
          <a:xfrm>
            <a:off x="4727448" y="1207008"/>
            <a:ext cx="1810512" cy="493776"/>
          </a:xfrm>
          <a:prstGeom prst="rect">
            <a:avLst/>
          </a:prstGeom>
          <a:noFill/>
          <a:ln/>
        </p:spPr>
        <p:txBody>
          <a:bodyPr wrap="square" lIns="0" tIns="0" rIns="0" bIns="0" rtlCol="0" anchor="t"/>
          <a:lstStyle/>
          <a:p>
            <a:pPr marL="0" indent="0">
              <a:lnSpc>
                <a:spcPct val="104000"/>
              </a:lnSpc>
              <a:buNone/>
            </a:pPr>
            <a:r>
              <a:rPr lang="en-US" sz="700" dirty="0">
                <a:solidFill>
                  <a:srgbClr val="A9A59C"/>
                </a:solidFill>
                <a:latin typeface="Satoshi" pitchFamily="34" charset="0"/>
                <a:ea typeface="Satoshi" pitchFamily="34" charset="-122"/>
                <a:cs typeface="Satoshi" pitchFamily="34" charset="-120"/>
              </a:rPr>
              <a:t>Secure one salon permission. Capture cancellation volume and manual effort baseline.</a:t>
            </a:r>
            <a:endParaRPr lang="en-US" sz="700" dirty="0"/>
          </a:p>
        </p:txBody>
      </p:sp>
      <p:sp>
        <p:nvSpPr>
          <p:cNvPr id="16" name="Shape 14"/>
          <p:cNvSpPr/>
          <p:nvPr/>
        </p:nvSpPr>
        <p:spPr>
          <a:xfrm>
            <a:off x="6720840" y="941832"/>
            <a:ext cx="2011680" cy="786384"/>
          </a:xfrm>
          <a:prstGeom prst="roundRect">
            <a:avLst>
              <a:gd name="adj" fmla="val 10465"/>
            </a:avLst>
          </a:prstGeom>
          <a:solidFill>
            <a:srgbClr val="131316"/>
          </a:solidFill>
          <a:ln w="9525">
            <a:solidFill>
              <a:srgbClr val="2A2A2F"/>
            </a:solidFill>
            <a:prstDash val="solid"/>
          </a:ln>
        </p:spPr>
      </p:sp>
      <p:sp>
        <p:nvSpPr>
          <p:cNvPr id="17" name="Text 15"/>
          <p:cNvSpPr txBox="1"/>
          <p:nvPr/>
        </p:nvSpPr>
        <p:spPr>
          <a:xfrm>
            <a:off x="6830568" y="1005840"/>
            <a:ext cx="640080" cy="155448"/>
          </a:xfrm>
          <a:prstGeom prst="rect">
            <a:avLst/>
          </a:prstGeom>
          <a:noFill/>
          <a:ln/>
        </p:spPr>
        <p:txBody>
          <a:bodyPr wrap="square" lIns="0" tIns="0" rIns="0" bIns="0" rtlCol="0" anchor="t"/>
          <a:lstStyle/>
          <a:p>
            <a:pPr marL="0" indent="0">
              <a:buNone/>
            </a:pPr>
            <a:r>
              <a:rPr lang="en-US" sz="650" kern="0" spc="100" dirty="0">
                <a:solidFill>
                  <a:srgbClr val="C6F24E"/>
                </a:solidFill>
                <a:latin typeface="JetBrains Mono" pitchFamily="34" charset="0"/>
                <a:ea typeface="JetBrains Mono" pitchFamily="34" charset="-122"/>
                <a:cs typeface="JetBrains Mono" pitchFamily="34" charset="-120"/>
              </a:rPr>
              <a:t>WEEK 4</a:t>
            </a:r>
            <a:endParaRPr lang="en-US" sz="650" dirty="0"/>
          </a:p>
        </p:txBody>
      </p:sp>
      <p:sp>
        <p:nvSpPr>
          <p:cNvPr id="18" name="Text 16"/>
          <p:cNvSpPr txBox="1"/>
          <p:nvPr/>
        </p:nvSpPr>
        <p:spPr>
          <a:xfrm>
            <a:off x="7379208" y="987552"/>
            <a:ext cx="1280160" cy="182880"/>
          </a:xfrm>
          <a:prstGeom prst="rect">
            <a:avLst/>
          </a:prstGeom>
          <a:noFill/>
          <a:ln/>
        </p:spPr>
        <p:txBody>
          <a:bodyPr wrap="square" lIns="0" tIns="0" rIns="0" bIns="0" rtlCol="0" anchor="t"/>
          <a:lstStyle/>
          <a:p>
            <a:pPr marL="0" indent="0">
              <a:buNone/>
            </a:pPr>
            <a:r>
              <a:rPr lang="en-US" sz="900" dirty="0">
                <a:solidFill>
                  <a:srgbClr val="F4F1EA"/>
                </a:solidFill>
                <a:latin typeface="Satoshi Medium" pitchFamily="34" charset="0"/>
                <a:ea typeface="Satoshi Medium" pitchFamily="34" charset="-122"/>
                <a:cs typeface="Satoshi Medium" pitchFamily="34" charset="-120"/>
              </a:rPr>
              <a:t>Pilot + Proof</a:t>
            </a:r>
            <a:endParaRPr lang="en-US" sz="900" dirty="0"/>
          </a:p>
        </p:txBody>
      </p:sp>
      <p:sp>
        <p:nvSpPr>
          <p:cNvPr id="19" name="Text 17"/>
          <p:cNvSpPr txBox="1"/>
          <p:nvPr/>
        </p:nvSpPr>
        <p:spPr>
          <a:xfrm>
            <a:off x="6830568" y="1207008"/>
            <a:ext cx="1810512" cy="493776"/>
          </a:xfrm>
          <a:prstGeom prst="rect">
            <a:avLst/>
          </a:prstGeom>
          <a:noFill/>
          <a:ln/>
        </p:spPr>
        <p:txBody>
          <a:bodyPr wrap="square" lIns="0" tIns="0" rIns="0" bIns="0" rtlCol="0" anchor="t"/>
          <a:lstStyle/>
          <a:p>
            <a:pPr marL="0" indent="0">
              <a:lnSpc>
                <a:spcPct val="104000"/>
              </a:lnSpc>
              <a:buNone/>
            </a:pPr>
            <a:r>
              <a:rPr lang="en-US" sz="700" dirty="0">
                <a:solidFill>
                  <a:srgbClr val="A9A59C"/>
                </a:solidFill>
                <a:latin typeface="Satoshi" pitchFamily="34" charset="0"/>
                <a:ea typeface="Satoshi" pitchFamily="34" charset="-122"/>
                <a:cs typeface="Satoshi" pitchFamily="34" charset="-120"/>
              </a:rPr>
              <a:t>Supervised one-calendar run. Measure fill rate, no-show, correction effort, contribution.</a:t>
            </a:r>
            <a:endParaRPr lang="en-US" sz="700" dirty="0"/>
          </a:p>
        </p:txBody>
      </p:sp>
      <p:sp>
        <p:nvSpPr>
          <p:cNvPr id="20" name="Text 18"/>
          <p:cNvSpPr txBox="1"/>
          <p:nvPr/>
        </p:nvSpPr>
        <p:spPr>
          <a:xfrm>
            <a:off x="411480" y="1856232"/>
            <a:ext cx="4206240" cy="155448"/>
          </a:xfrm>
          <a:prstGeom prst="rect">
            <a:avLst/>
          </a:prstGeom>
          <a:noFill/>
          <a:ln/>
        </p:spPr>
        <p:txBody>
          <a:bodyPr wrap="square" lIns="0" tIns="0" rIns="0" bIns="0" rtlCol="0" anchor="t"/>
          <a:lstStyle/>
          <a:p>
            <a:pPr marL="0" indent="0">
              <a:buNone/>
            </a:pPr>
            <a:r>
              <a:rPr lang="en-US" sz="680" kern="0" spc="60" dirty="0">
                <a:solidFill>
                  <a:srgbClr val="C6F24E"/>
                </a:solidFill>
                <a:latin typeface="JetBrains Mono" pitchFamily="34" charset="0"/>
                <a:ea typeface="JetBrains Mono" pitchFamily="34" charset="-122"/>
                <a:cs typeface="JetBrains Mono" pitchFamily="34" charset="-120"/>
              </a:rPr>
              <a:t>FINANCIAL PROJECTIONS</a:t>
            </a:r>
            <a:endParaRPr lang="en-US" sz="68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11480" y="2048256"/>
          <a:ext cx="420624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214884">
                <a:tc>
                  <a:txBody>
                    <a:bodyPr/>
                    <a:lstStyle/>
                    <a:p>
                      <a:pPr marL="0" indent="0" algn="l">
                        <a:buNone/>
                      </a:pPr>
                      <a:r>
                        <a:rPr lang="en-US" sz="680" dirty="0">
                          <a:solidFill>
                            <a:srgbClr val="76736C"/>
                          </a:solidFill>
                          <a:latin typeface="JetBrains Mono" pitchFamily="34" charset="0"/>
                          <a:ea typeface="JetBrains Mono" pitchFamily="34" charset="-122"/>
                          <a:cs typeface="JetBrains Mono" pitchFamily="34" charset="-120"/>
                        </a:rPr>
                        <a:t>₹ Lakh</a:t>
                      </a:r>
                      <a:endParaRPr lang="en-US" sz="680" dirty="0">
                        <a:latin typeface="JetBrains Mono" charset="0"/>
                        <a:ea typeface="JetBrains Mono" charset="0"/>
                        <a:cs typeface="JetBrains Mono" charset="0"/>
                      </a:endParaRPr>
                    </a:p>
                  </a:txBody>
                  <a:tcPr marL="54864" marR="54864" marT="0" marB="0" anchor="ctr">
                    <a:lnL w="6350" cap="flat" cmpd="sng" algn="ctr">
                      <a:solidFill>
                        <a:srgbClr val="2A2A2F"/>
                      </a:solidFill>
                      <a:prstDash val="solid"/>
                      <a:round/>
                      <a:headEnd type="none" w="med" len="med"/>
                      <a:tailEnd type="none" w="med" len="med"/>
                    </a:lnL>
                    <a:lnR w="6350" cap="flat" cmpd="sng" algn="ctr">
                      <a:solidFill>
                        <a:srgbClr val="2A2A2F"/>
                      </a:solidFill>
                      <a:prstDash val="solid"/>
                      <a:round/>
                      <a:headEnd type="none" w="med" len="med"/>
                      <a:tailEnd type="none" w="med" len="med"/>
                    </a:lnR>
                    <a:lnT w="6350" cap="flat" cmpd="sng" algn="ctr">
                      <a:solidFill>
                        <a:srgbClr val="2A2A2F"/>
                      </a:solidFill>
                      <a:prstDash val="solid"/>
                      <a:round/>
                      <a:headEnd type="none" w="med" len="med"/>
                      <a:tailEnd type="none" w="med" len="med"/>
                    </a:lnT>
                    <a:lnB w="6350" cap="flat" cmpd="sng" algn="ctr">
                      <a:solidFill>
                        <a:srgbClr val="2A2A2F"/>
                      </a:solidFill>
                      <a:prstDash val="solid"/>
                      <a:round/>
                      <a:headEnd type="none" w="med" len="med"/>
                      <a:tailEnd type="none" w="med" len="med"/>
                    </a:lnB>
                    <a:solidFill>
                      <a:srgbClr val="18181C"/>
                    </a:solidFill>
                  </a:tcPr>
                </a:tc>
                <a:tc>
                  <a:txBody>
                    <a:bodyPr/>
                    <a:lstStyle/>
                    <a:p>
                      <a:pPr marL="0" indent="0" algn="r">
                        <a:buNone/>
                      </a:pPr>
                      <a:r>
                        <a:rPr lang="en-US" sz="680" dirty="0">
                          <a:solidFill>
                            <a:srgbClr val="76736C"/>
                          </a:solidFill>
                          <a:latin typeface="JetBrains Mono" pitchFamily="34" charset="0"/>
                          <a:ea typeface="JetBrains Mono" pitchFamily="34" charset="-122"/>
                          <a:cs typeface="JetBrains Mono" pitchFamily="34" charset="-120"/>
                        </a:rPr>
                        <a:t>Year 1</a:t>
                      </a:r>
                      <a:endParaRPr lang="en-US" sz="680" dirty="0">
                        <a:latin typeface="JetBrains Mono" charset="0"/>
                        <a:ea typeface="JetBrains Mono" charset="0"/>
                        <a:cs typeface="JetBrains Mono" charset="0"/>
                      </a:endParaRPr>
                    </a:p>
                  </a:txBody>
                  <a:tcPr marL="54864" marR="54864" marT="0" marB="0" anchor="ctr">
                    <a:lnL w="6350" cap="flat" cmpd="sng" algn="ctr">
                      <a:solidFill>
                        <a:srgbClr val="2A2A2F"/>
                      </a:solidFill>
                      <a:prstDash val="solid"/>
                      <a:round/>
                      <a:headEnd type="none" w="med" len="med"/>
                      <a:tailEnd type="none" w="med" len="med"/>
                    </a:lnL>
                    <a:lnR w="6350" cap="flat" cmpd="sng" algn="ctr">
                      <a:solidFill>
                        <a:srgbClr val="2A2A2F"/>
                      </a:solidFill>
                      <a:prstDash val="solid"/>
                      <a:round/>
                      <a:headEnd type="none" w="med" len="med"/>
                      <a:tailEnd type="none" w="med" len="med"/>
                    </a:lnR>
                    <a:lnT w="6350" cap="flat" cmpd="sng" algn="ctr">
                      <a:solidFill>
                        <a:srgbClr val="2A2A2F"/>
                      </a:solidFill>
                      <a:prstDash val="solid"/>
                      <a:round/>
                      <a:headEnd type="none" w="med" len="med"/>
                      <a:tailEnd type="none" w="med" len="med"/>
                    </a:lnT>
                    <a:lnB w="6350" cap="flat" cmpd="sng" algn="ctr">
                      <a:solidFill>
                        <a:srgbClr val="2A2A2F"/>
                      </a:solidFill>
                      <a:prstDash val="solid"/>
                      <a:round/>
                      <a:headEnd type="none" w="med" len="med"/>
                      <a:tailEnd type="none" w="med" len="med"/>
                    </a:lnB>
                    <a:solidFill>
                      <a:srgbClr val="18181C"/>
                    </a:solidFill>
                  </a:tcPr>
                </a:tc>
                <a:tc>
                  <a:txBody>
                    <a:bodyPr/>
                    <a:lstStyle/>
                    <a:p>
                      <a:pPr marL="0" indent="0" algn="r">
                        <a:buNone/>
                      </a:pPr>
                      <a:r>
                        <a:rPr lang="en-US" sz="680" dirty="0">
                          <a:solidFill>
                            <a:srgbClr val="76736C"/>
                          </a:solidFill>
                          <a:latin typeface="JetBrains Mono" pitchFamily="34" charset="0"/>
                          <a:ea typeface="JetBrains Mono" pitchFamily="34" charset="-122"/>
                          <a:cs typeface="JetBrains Mono" pitchFamily="34" charset="-120"/>
                        </a:rPr>
                        <a:t>Year 2</a:t>
                      </a:r>
                      <a:endParaRPr lang="en-US" sz="680" dirty="0">
                        <a:latin typeface="JetBrains Mono" charset="0"/>
                        <a:ea typeface="JetBrains Mono" charset="0"/>
                        <a:cs typeface="JetBrains Mono" charset="0"/>
                      </a:endParaRPr>
                    </a:p>
                  </a:txBody>
                  <a:tcPr marL="54864" marR="54864" marT="0" marB="0" anchor="ctr">
                    <a:lnL w="6350" cap="flat" cmpd="sng" algn="ctr">
                      <a:solidFill>
                        <a:srgbClr val="2A2A2F"/>
                      </a:solidFill>
                      <a:prstDash val="solid"/>
                      <a:round/>
                      <a:headEnd type="none" w="med" len="med"/>
                      <a:tailEnd type="none" w="med" len="med"/>
                    </a:lnL>
                    <a:lnR w="6350" cap="flat" cmpd="sng" algn="ctr">
                      <a:solidFill>
                        <a:srgbClr val="2A2A2F"/>
                      </a:solidFill>
                      <a:prstDash val="solid"/>
                      <a:round/>
                      <a:headEnd type="none" w="med" len="med"/>
                      <a:tailEnd type="none" w="med" len="med"/>
                    </a:lnR>
                    <a:lnT w="6350" cap="flat" cmpd="sng" algn="ctr">
                      <a:solidFill>
                        <a:srgbClr val="2A2A2F"/>
                      </a:solidFill>
                      <a:prstDash val="solid"/>
                      <a:round/>
                      <a:headEnd type="none" w="med" len="med"/>
                      <a:tailEnd type="none" w="med" len="med"/>
                    </a:lnT>
                    <a:lnB w="6350" cap="flat" cmpd="sng" algn="ctr">
                      <a:solidFill>
                        <a:srgbClr val="2A2A2F"/>
                      </a:solidFill>
                      <a:prstDash val="solid"/>
                      <a:round/>
                      <a:headEnd type="none" w="med" len="med"/>
                      <a:tailEnd type="none" w="med" len="med"/>
                    </a:lnB>
                    <a:solidFill>
                      <a:srgbClr val="18181C"/>
                    </a:solidFill>
                  </a:tcPr>
                </a:tc>
                <a:tc>
                  <a:txBody>
                    <a:bodyPr/>
                    <a:lstStyle/>
                    <a:p>
                      <a:pPr marL="0" indent="0" algn="r">
                        <a:buNone/>
                      </a:pPr>
                      <a:r>
                        <a:rPr lang="en-US" sz="680" dirty="0">
                          <a:solidFill>
                            <a:srgbClr val="76736C"/>
                          </a:solidFill>
                          <a:latin typeface="JetBrains Mono" pitchFamily="34" charset="0"/>
                          <a:ea typeface="JetBrains Mono" pitchFamily="34" charset="-122"/>
                          <a:cs typeface="JetBrains Mono" pitchFamily="34" charset="-120"/>
                        </a:rPr>
                        <a:t>Year 3</a:t>
                      </a:r>
                      <a:endParaRPr lang="en-US" sz="680" dirty="0">
                        <a:latin typeface="JetBrains Mono" charset="0"/>
                        <a:ea typeface="JetBrains Mono" charset="0"/>
                        <a:cs typeface="JetBrains Mono" charset="0"/>
                      </a:endParaRPr>
                    </a:p>
                  </a:txBody>
                  <a:tcPr marL="54864" marR="54864" marT="0" marB="0" anchor="ctr">
                    <a:lnL w="6350" cap="flat" cmpd="sng" algn="ctr">
                      <a:solidFill>
                        <a:srgbClr val="2A2A2F"/>
                      </a:solidFill>
                      <a:prstDash val="solid"/>
                      <a:round/>
                      <a:headEnd type="none" w="med" len="med"/>
                      <a:tailEnd type="none" w="med" len="med"/>
                    </a:lnL>
                    <a:lnR w="6350" cap="flat" cmpd="sng" algn="ctr">
                      <a:solidFill>
                        <a:srgbClr val="2A2A2F"/>
                      </a:solidFill>
                      <a:prstDash val="solid"/>
                      <a:round/>
                      <a:headEnd type="none" w="med" len="med"/>
                      <a:tailEnd type="none" w="med" len="med"/>
                    </a:lnR>
                    <a:lnT w="6350" cap="flat" cmpd="sng" algn="ctr">
                      <a:solidFill>
                        <a:srgbClr val="2A2A2F"/>
                      </a:solidFill>
                      <a:prstDash val="solid"/>
                      <a:round/>
                      <a:headEnd type="none" w="med" len="med"/>
                      <a:tailEnd type="none" w="med" len="med"/>
                    </a:lnT>
                    <a:lnB w="6350" cap="flat" cmpd="sng" algn="ctr">
                      <a:solidFill>
                        <a:srgbClr val="2A2A2F"/>
                      </a:solidFill>
                      <a:prstDash val="solid"/>
                      <a:round/>
                      <a:headEnd type="none" w="med" len="med"/>
                      <a:tailEnd type="none" w="med" len="med"/>
                    </a:lnB>
                    <a:solidFill>
                      <a:srgbClr val="18181C"/>
                    </a:solidFill>
                  </a:tcPr>
                </a:tc>
                <a:extLst>
                  <a:ext uri="{0D108BD9-81ED-4DB2-BD59-A6C34878D82A}">
                    <a16:rowId xmlns:a16="http://schemas.microsoft.com/office/drawing/2014/main" val="10000"/>
                  </a:ext>
                </a:extLst>
              </a:tr>
              <a:tr h="214884">
                <a:tc>
                  <a:txBody>
                    <a:bodyPr/>
                    <a:lstStyle/>
                    <a:p>
                      <a:pPr marL="0" indent="0">
                        <a:buNone/>
                      </a:pPr>
                      <a:r>
                        <a:rPr lang="en-US" sz="780" dirty="0">
                          <a:solidFill>
                            <a:srgbClr val="A9A59C"/>
                          </a:solidFill>
                          <a:latin typeface="Satoshi" pitchFamily="34" charset="0"/>
                          <a:ea typeface="Satoshi" pitchFamily="34" charset="-122"/>
                          <a:cs typeface="Satoshi" pitchFamily="34" charset="-120"/>
                        </a:rPr>
                        <a:t>Avg Locations</a:t>
                      </a:r>
                      <a:endParaRPr lang="en-US" sz="780" dirty="0">
                        <a:latin typeface="Satoshi" charset="0"/>
                        <a:ea typeface="Satoshi" charset="0"/>
                        <a:cs typeface="Satoshi" charset="0"/>
                      </a:endParaRPr>
                    </a:p>
                  </a:txBody>
                  <a:tcPr marL="54864" marR="54864" marT="0" marB="0" anchor="ctr">
                    <a:lnL w="6350" cap="flat" cmpd="sng" algn="ctr">
                      <a:solidFill>
                        <a:srgbClr val="2A2A2F"/>
                      </a:solidFill>
                      <a:prstDash val="solid"/>
                      <a:round/>
                      <a:headEnd type="none" w="med" len="med"/>
                      <a:tailEnd type="none" w="med" len="med"/>
                    </a:lnL>
                    <a:lnR w="6350" cap="flat" cmpd="sng" algn="ctr">
                      <a:solidFill>
                        <a:srgbClr val="2A2A2F"/>
                      </a:solidFill>
                      <a:prstDash val="solid"/>
                      <a:round/>
                      <a:headEnd type="none" w="med" len="med"/>
                      <a:tailEnd type="none" w="med" len="med"/>
                    </a:lnR>
                    <a:lnT w="6350" cap="flat" cmpd="sng" algn="ctr">
                      <a:solidFill>
                        <a:srgbClr val="2A2A2F"/>
                      </a:solidFill>
                      <a:prstDash val="solid"/>
                      <a:round/>
                      <a:headEnd type="none" w="med" len="med"/>
                      <a:tailEnd type="none" w="med" len="med"/>
                    </a:lnT>
                    <a:lnB w="6350" cap="flat" cmpd="sng" algn="ctr">
                      <a:solidFill>
                        <a:srgbClr val="2A2A2F"/>
                      </a:solidFill>
                      <a:prstDash val="solid"/>
                      <a:round/>
                      <a:headEnd type="none" w="med" len="med"/>
                      <a:tailEnd type="none" w="med" len="med"/>
                    </a:lnB>
                    <a:solidFill>
                      <a:srgbClr val="131316"/>
                    </a:solidFill>
                  </a:tcPr>
                </a:tc>
                <a:tc>
                  <a:txBody>
                    <a:bodyPr/>
                    <a:lstStyle/>
                    <a:p>
                      <a:pPr marL="0" indent="0" algn="r">
                        <a:buNone/>
                      </a:pPr>
                      <a:r>
                        <a:rPr lang="en-US" sz="780" dirty="0">
                          <a:solidFill>
                            <a:srgbClr val="F4F1EA"/>
                          </a:solidFill>
                          <a:latin typeface="Satoshi" pitchFamily="34" charset="0"/>
                          <a:ea typeface="Satoshi" pitchFamily="34" charset="-122"/>
                          <a:cs typeface="Satoshi" pitchFamily="34" charset="-120"/>
                        </a:rPr>
                        <a:t>50</a:t>
                      </a:r>
                      <a:endParaRPr lang="en-US" sz="780" dirty="0">
                        <a:latin typeface="Satoshi" charset="0"/>
                        <a:ea typeface="Satoshi" charset="0"/>
                        <a:cs typeface="Satoshi" charset="0"/>
                      </a:endParaRPr>
                    </a:p>
                  </a:txBody>
                  <a:tcPr marL="54864" marR="54864" marT="0" marB="0" anchor="ctr">
                    <a:lnL w="6350" cap="flat" cmpd="sng" algn="ctr">
                      <a:solidFill>
                        <a:srgbClr val="2A2A2F"/>
                      </a:solidFill>
                      <a:prstDash val="solid"/>
                      <a:round/>
                      <a:headEnd type="none" w="med" len="med"/>
                      <a:tailEnd type="none" w="med" len="med"/>
                    </a:lnL>
                    <a:lnR w="6350" cap="flat" cmpd="sng" algn="ctr">
                      <a:solidFill>
                        <a:srgbClr val="2A2A2F"/>
                      </a:solidFill>
                      <a:prstDash val="solid"/>
                      <a:round/>
                      <a:headEnd type="none" w="med" len="med"/>
                      <a:tailEnd type="none" w="med" len="med"/>
                    </a:lnR>
                    <a:lnT w="6350" cap="flat" cmpd="sng" algn="ctr">
                      <a:solidFill>
                        <a:srgbClr val="2A2A2F"/>
                      </a:solidFill>
                      <a:prstDash val="solid"/>
                      <a:round/>
                      <a:headEnd type="none" w="med" len="med"/>
                      <a:tailEnd type="none" w="med" len="med"/>
                    </a:lnT>
                    <a:lnB w="6350" cap="flat" cmpd="sng" algn="ctr">
                      <a:solidFill>
                        <a:srgbClr val="2A2A2F"/>
                      </a:solidFill>
                      <a:prstDash val="solid"/>
                      <a:round/>
                      <a:headEnd type="none" w="med" len="med"/>
                      <a:tailEnd type="none" w="med" len="med"/>
                    </a:lnB>
                    <a:solidFill>
                      <a:srgbClr val="131316"/>
                    </a:solidFill>
                  </a:tcPr>
                </a:tc>
                <a:tc>
                  <a:txBody>
                    <a:bodyPr/>
                    <a:lstStyle/>
                    <a:p>
                      <a:pPr marL="0" indent="0" algn="r">
                        <a:buNone/>
                      </a:pPr>
                      <a:r>
                        <a:rPr lang="en-US" sz="780" dirty="0">
                          <a:solidFill>
                            <a:srgbClr val="F4F1EA"/>
                          </a:solidFill>
                          <a:latin typeface="Satoshi" pitchFamily="34" charset="0"/>
                          <a:ea typeface="Satoshi" pitchFamily="34" charset="-122"/>
                          <a:cs typeface="Satoshi" pitchFamily="34" charset="-120"/>
                        </a:rPr>
                        <a:t>250</a:t>
                      </a:r>
                      <a:endParaRPr lang="en-US" sz="780" dirty="0">
                        <a:latin typeface="Satoshi" charset="0"/>
                        <a:ea typeface="Satoshi" charset="0"/>
                        <a:cs typeface="Satoshi" charset="0"/>
                      </a:endParaRPr>
                    </a:p>
                  </a:txBody>
                  <a:tcPr marL="54864" marR="54864" marT="0" marB="0" anchor="ctr">
                    <a:lnL w="6350" cap="flat" cmpd="sng" algn="ctr">
                      <a:solidFill>
                        <a:srgbClr val="2A2A2F"/>
                      </a:solidFill>
                      <a:prstDash val="solid"/>
                      <a:round/>
                      <a:headEnd type="none" w="med" len="med"/>
                      <a:tailEnd type="none" w="med" len="med"/>
                    </a:lnL>
                    <a:lnR w="6350" cap="flat" cmpd="sng" algn="ctr">
                      <a:solidFill>
                        <a:srgbClr val="2A2A2F"/>
                      </a:solidFill>
                      <a:prstDash val="solid"/>
                      <a:round/>
                      <a:headEnd type="none" w="med" len="med"/>
                      <a:tailEnd type="none" w="med" len="med"/>
                    </a:lnR>
                    <a:lnT w="6350" cap="flat" cmpd="sng" algn="ctr">
                      <a:solidFill>
                        <a:srgbClr val="2A2A2F"/>
                      </a:solidFill>
                      <a:prstDash val="solid"/>
                      <a:round/>
                      <a:headEnd type="none" w="med" len="med"/>
                      <a:tailEnd type="none" w="med" len="med"/>
                    </a:lnT>
                    <a:lnB w="6350" cap="flat" cmpd="sng" algn="ctr">
                      <a:solidFill>
                        <a:srgbClr val="2A2A2F"/>
                      </a:solidFill>
                      <a:prstDash val="solid"/>
                      <a:round/>
                      <a:headEnd type="none" w="med" len="med"/>
                      <a:tailEnd type="none" w="med" len="med"/>
                    </a:lnB>
                    <a:solidFill>
                      <a:srgbClr val="131316"/>
                    </a:solidFill>
                  </a:tcPr>
                </a:tc>
                <a:tc>
                  <a:txBody>
                    <a:bodyPr/>
                    <a:lstStyle/>
                    <a:p>
                      <a:pPr marL="0" indent="0" algn="r">
                        <a:buNone/>
                      </a:pPr>
                      <a:r>
                        <a:rPr lang="en-US" sz="780" dirty="0">
                          <a:solidFill>
                            <a:srgbClr val="F4F1EA"/>
                          </a:solidFill>
                          <a:latin typeface="Satoshi" pitchFamily="34" charset="0"/>
                          <a:ea typeface="Satoshi" pitchFamily="34" charset="-122"/>
                          <a:cs typeface="Satoshi" pitchFamily="34" charset="-120"/>
                        </a:rPr>
                        <a:t>800</a:t>
                      </a:r>
                      <a:endParaRPr lang="en-US" sz="780" dirty="0">
                        <a:latin typeface="Satoshi" charset="0"/>
                        <a:ea typeface="Satoshi" charset="0"/>
                        <a:cs typeface="Satoshi" charset="0"/>
                      </a:endParaRPr>
                    </a:p>
                  </a:txBody>
                  <a:tcPr marL="54864" marR="54864" marT="0" marB="0" anchor="ctr">
                    <a:lnL w="6350" cap="flat" cmpd="sng" algn="ctr">
                      <a:solidFill>
                        <a:srgbClr val="2A2A2F"/>
                      </a:solidFill>
                      <a:prstDash val="solid"/>
                      <a:round/>
                      <a:headEnd type="none" w="med" len="med"/>
                      <a:tailEnd type="none" w="med" len="med"/>
                    </a:lnL>
                    <a:lnR w="6350" cap="flat" cmpd="sng" algn="ctr">
                      <a:solidFill>
                        <a:srgbClr val="2A2A2F"/>
                      </a:solidFill>
                      <a:prstDash val="solid"/>
                      <a:round/>
                      <a:headEnd type="none" w="med" len="med"/>
                      <a:tailEnd type="none" w="med" len="med"/>
                    </a:lnR>
                    <a:lnT w="6350" cap="flat" cmpd="sng" algn="ctr">
                      <a:solidFill>
                        <a:srgbClr val="2A2A2F"/>
                      </a:solidFill>
                      <a:prstDash val="solid"/>
                      <a:round/>
                      <a:headEnd type="none" w="med" len="med"/>
                      <a:tailEnd type="none" w="med" len="med"/>
                    </a:lnT>
                    <a:lnB w="6350" cap="flat" cmpd="sng" algn="ctr">
                      <a:solidFill>
                        <a:srgbClr val="2A2A2F"/>
                      </a:solidFill>
                      <a:prstDash val="solid"/>
                      <a:round/>
                      <a:headEnd type="none" w="med" len="med"/>
                      <a:tailEnd type="none" w="med" len="med"/>
                    </a:lnB>
                    <a:solidFill>
                      <a:srgbClr val="131316"/>
                    </a:solidFill>
                  </a:tcPr>
                </a:tc>
                <a:extLst>
                  <a:ext uri="{0D108BD9-81ED-4DB2-BD59-A6C34878D82A}">
                    <a16:rowId xmlns:a16="http://schemas.microsoft.com/office/drawing/2014/main" val="10001"/>
                  </a:ext>
                </a:extLst>
              </a:tr>
              <a:tr h="214884">
                <a:tc>
                  <a:txBody>
                    <a:bodyPr/>
                    <a:lstStyle/>
                    <a:p>
                      <a:pPr marL="0" indent="0">
                        <a:buNone/>
                      </a:pPr>
                      <a:r>
                        <a:rPr lang="en-US" sz="780" dirty="0">
                          <a:solidFill>
                            <a:srgbClr val="A9A59C"/>
                          </a:solidFill>
                          <a:latin typeface="Satoshi Medium" pitchFamily="34" charset="0"/>
                          <a:ea typeface="Satoshi Medium" pitchFamily="34" charset="-122"/>
                          <a:cs typeface="Satoshi Medium" pitchFamily="34" charset="-120"/>
                        </a:rPr>
                        <a:t>Revenue</a:t>
                      </a:r>
                      <a:endParaRPr lang="en-US" sz="780" dirty="0">
                        <a:latin typeface="Satoshi Medium" charset="0"/>
                        <a:ea typeface="Satoshi Medium" charset="0"/>
                        <a:cs typeface="Satoshi Medium" charset="0"/>
                      </a:endParaRPr>
                    </a:p>
                  </a:txBody>
                  <a:tcPr marL="54864" marR="54864" marT="0" marB="0" anchor="ctr">
                    <a:lnL w="6350" cap="flat" cmpd="sng" algn="ctr">
                      <a:solidFill>
                        <a:srgbClr val="2A2A2F"/>
                      </a:solidFill>
                      <a:prstDash val="solid"/>
                      <a:round/>
                      <a:headEnd type="none" w="med" len="med"/>
                      <a:tailEnd type="none" w="med" len="med"/>
                    </a:lnL>
                    <a:lnR w="6350" cap="flat" cmpd="sng" algn="ctr">
                      <a:solidFill>
                        <a:srgbClr val="2A2A2F"/>
                      </a:solidFill>
                      <a:prstDash val="solid"/>
                      <a:round/>
                      <a:headEnd type="none" w="med" len="med"/>
                      <a:tailEnd type="none" w="med" len="med"/>
                    </a:lnR>
                    <a:lnT w="6350" cap="flat" cmpd="sng" algn="ctr">
                      <a:solidFill>
                        <a:srgbClr val="2A2A2F"/>
                      </a:solidFill>
                      <a:prstDash val="solid"/>
                      <a:round/>
                      <a:headEnd type="none" w="med" len="med"/>
                      <a:tailEnd type="none" w="med" len="med"/>
                    </a:lnT>
                    <a:lnB w="6350" cap="flat" cmpd="sng" algn="ctr">
                      <a:solidFill>
                        <a:srgbClr val="2A2A2F"/>
                      </a:solidFill>
                      <a:prstDash val="solid"/>
                      <a:round/>
                      <a:headEnd type="none" w="med" len="med"/>
                      <a:tailEnd type="none" w="med" len="med"/>
                    </a:lnB>
                    <a:solidFill>
                      <a:srgbClr val="131316"/>
                    </a:solidFill>
                  </a:tcPr>
                </a:tc>
                <a:tc>
                  <a:txBody>
                    <a:bodyPr/>
                    <a:lstStyle/>
                    <a:p>
                      <a:pPr marL="0" indent="0" algn="r">
                        <a:buNone/>
                      </a:pPr>
                      <a:r>
                        <a:rPr lang="en-US" sz="780" dirty="0">
                          <a:solidFill>
                            <a:srgbClr val="F4F1EA"/>
                          </a:solidFill>
                          <a:latin typeface="Satoshi Medium" pitchFamily="34" charset="0"/>
                          <a:ea typeface="Satoshi Medium" pitchFamily="34" charset="-122"/>
                          <a:cs typeface="Satoshi Medium" pitchFamily="34" charset="-120"/>
                        </a:rPr>
                        <a:t>4.19</a:t>
                      </a:r>
                      <a:endParaRPr lang="en-US" sz="780" dirty="0">
                        <a:latin typeface="Satoshi Medium" charset="0"/>
                        <a:ea typeface="Satoshi Medium" charset="0"/>
                        <a:cs typeface="Satoshi Medium" charset="0"/>
                      </a:endParaRPr>
                    </a:p>
                  </a:txBody>
                  <a:tcPr marL="54864" marR="54864" marT="0" marB="0" anchor="ctr">
                    <a:lnL w="6350" cap="flat" cmpd="sng" algn="ctr">
                      <a:solidFill>
                        <a:srgbClr val="2A2A2F"/>
                      </a:solidFill>
                      <a:prstDash val="solid"/>
                      <a:round/>
                      <a:headEnd type="none" w="med" len="med"/>
                      <a:tailEnd type="none" w="med" len="med"/>
                    </a:lnL>
                    <a:lnR w="6350" cap="flat" cmpd="sng" algn="ctr">
                      <a:solidFill>
                        <a:srgbClr val="2A2A2F"/>
                      </a:solidFill>
                      <a:prstDash val="solid"/>
                      <a:round/>
                      <a:headEnd type="none" w="med" len="med"/>
                      <a:tailEnd type="none" w="med" len="med"/>
                    </a:lnR>
                    <a:lnT w="6350" cap="flat" cmpd="sng" algn="ctr">
                      <a:solidFill>
                        <a:srgbClr val="2A2A2F"/>
                      </a:solidFill>
                      <a:prstDash val="solid"/>
                      <a:round/>
                      <a:headEnd type="none" w="med" len="med"/>
                      <a:tailEnd type="none" w="med" len="med"/>
                    </a:lnT>
                    <a:lnB w="6350" cap="flat" cmpd="sng" algn="ctr">
                      <a:solidFill>
                        <a:srgbClr val="2A2A2F"/>
                      </a:solidFill>
                      <a:prstDash val="solid"/>
                      <a:round/>
                      <a:headEnd type="none" w="med" len="med"/>
                      <a:tailEnd type="none" w="med" len="med"/>
                    </a:lnB>
                    <a:solidFill>
                      <a:srgbClr val="131316"/>
                    </a:solidFill>
                  </a:tcPr>
                </a:tc>
                <a:tc>
                  <a:txBody>
                    <a:bodyPr/>
                    <a:lstStyle/>
                    <a:p>
                      <a:pPr marL="0" indent="0" algn="r">
                        <a:buNone/>
                      </a:pPr>
                      <a:r>
                        <a:rPr lang="en-US" sz="780" dirty="0">
                          <a:solidFill>
                            <a:srgbClr val="F4F1EA"/>
                          </a:solidFill>
                          <a:latin typeface="Satoshi Medium" pitchFamily="34" charset="0"/>
                          <a:ea typeface="Satoshi Medium" pitchFamily="34" charset="-122"/>
                          <a:cs typeface="Satoshi Medium" pitchFamily="34" charset="-120"/>
                        </a:rPr>
                        <a:t>20.97</a:t>
                      </a:r>
                      <a:endParaRPr lang="en-US" sz="780" dirty="0">
                        <a:latin typeface="Satoshi Medium" charset="0"/>
                        <a:ea typeface="Satoshi Medium" charset="0"/>
                        <a:cs typeface="Satoshi Medium" charset="0"/>
                      </a:endParaRPr>
                    </a:p>
                  </a:txBody>
                  <a:tcPr marL="54864" marR="54864" marT="0" marB="0" anchor="ctr">
                    <a:lnL w="6350" cap="flat" cmpd="sng" algn="ctr">
                      <a:solidFill>
                        <a:srgbClr val="2A2A2F"/>
                      </a:solidFill>
                      <a:prstDash val="solid"/>
                      <a:round/>
                      <a:headEnd type="none" w="med" len="med"/>
                      <a:tailEnd type="none" w="med" len="med"/>
                    </a:lnL>
                    <a:lnR w="6350" cap="flat" cmpd="sng" algn="ctr">
                      <a:solidFill>
                        <a:srgbClr val="2A2A2F"/>
                      </a:solidFill>
                      <a:prstDash val="solid"/>
                      <a:round/>
                      <a:headEnd type="none" w="med" len="med"/>
                      <a:tailEnd type="none" w="med" len="med"/>
                    </a:lnR>
                    <a:lnT w="6350" cap="flat" cmpd="sng" algn="ctr">
                      <a:solidFill>
                        <a:srgbClr val="2A2A2F"/>
                      </a:solidFill>
                      <a:prstDash val="solid"/>
                      <a:round/>
                      <a:headEnd type="none" w="med" len="med"/>
                      <a:tailEnd type="none" w="med" len="med"/>
                    </a:lnT>
                    <a:lnB w="6350" cap="flat" cmpd="sng" algn="ctr">
                      <a:solidFill>
                        <a:srgbClr val="2A2A2F"/>
                      </a:solidFill>
                      <a:prstDash val="solid"/>
                      <a:round/>
                      <a:headEnd type="none" w="med" len="med"/>
                      <a:tailEnd type="none" w="med" len="med"/>
                    </a:lnB>
                    <a:solidFill>
                      <a:srgbClr val="131316"/>
                    </a:solidFill>
                  </a:tcPr>
                </a:tc>
                <a:tc>
                  <a:txBody>
                    <a:bodyPr/>
                    <a:lstStyle/>
                    <a:p>
                      <a:pPr marL="0" indent="0" algn="r">
                        <a:buNone/>
                      </a:pPr>
                      <a:r>
                        <a:rPr lang="en-US" sz="780" dirty="0">
                          <a:solidFill>
                            <a:srgbClr val="F4F1EA"/>
                          </a:solidFill>
                          <a:latin typeface="Satoshi Medium" pitchFamily="34" charset="0"/>
                          <a:ea typeface="Satoshi Medium" pitchFamily="34" charset="-122"/>
                          <a:cs typeface="Satoshi Medium" pitchFamily="34" charset="-120"/>
                        </a:rPr>
                        <a:t>67.10</a:t>
                      </a:r>
                      <a:endParaRPr lang="en-US" sz="780" dirty="0">
                        <a:latin typeface="Satoshi Medium" charset="0"/>
                        <a:ea typeface="Satoshi Medium" charset="0"/>
                        <a:cs typeface="Satoshi Medium" charset="0"/>
                      </a:endParaRPr>
                    </a:p>
                  </a:txBody>
                  <a:tcPr marL="54864" marR="54864" marT="0" marB="0" anchor="ctr">
                    <a:lnL w="6350" cap="flat" cmpd="sng" algn="ctr">
                      <a:solidFill>
                        <a:srgbClr val="2A2A2F"/>
                      </a:solidFill>
                      <a:prstDash val="solid"/>
                      <a:round/>
                      <a:headEnd type="none" w="med" len="med"/>
                      <a:tailEnd type="none" w="med" len="med"/>
                    </a:lnL>
                    <a:lnR w="6350" cap="flat" cmpd="sng" algn="ctr">
                      <a:solidFill>
                        <a:srgbClr val="2A2A2F"/>
                      </a:solidFill>
                      <a:prstDash val="solid"/>
                      <a:round/>
                      <a:headEnd type="none" w="med" len="med"/>
                      <a:tailEnd type="none" w="med" len="med"/>
                    </a:lnR>
                    <a:lnT w="6350" cap="flat" cmpd="sng" algn="ctr">
                      <a:solidFill>
                        <a:srgbClr val="2A2A2F"/>
                      </a:solidFill>
                      <a:prstDash val="solid"/>
                      <a:round/>
                      <a:headEnd type="none" w="med" len="med"/>
                      <a:tailEnd type="none" w="med" len="med"/>
                    </a:lnT>
                    <a:lnB w="6350" cap="flat" cmpd="sng" algn="ctr">
                      <a:solidFill>
                        <a:srgbClr val="2A2A2F"/>
                      </a:solidFill>
                      <a:prstDash val="solid"/>
                      <a:round/>
                      <a:headEnd type="none" w="med" len="med"/>
                      <a:tailEnd type="none" w="med" len="med"/>
                    </a:lnB>
                    <a:solidFill>
                      <a:srgbClr val="131316"/>
                    </a:solidFill>
                  </a:tcPr>
                </a:tc>
                <a:extLst>
                  <a:ext uri="{0D108BD9-81ED-4DB2-BD59-A6C34878D82A}">
                    <a16:rowId xmlns:a16="http://schemas.microsoft.com/office/drawing/2014/main" val="10002"/>
                  </a:ext>
                </a:extLst>
              </a:tr>
              <a:tr h="214884">
                <a:tc>
                  <a:txBody>
                    <a:bodyPr/>
                    <a:lstStyle/>
                    <a:p>
                      <a:pPr marL="0" indent="0">
                        <a:buNone/>
                      </a:pPr>
                      <a:r>
                        <a:rPr lang="en-US" sz="780" dirty="0">
                          <a:solidFill>
                            <a:srgbClr val="A9A59C"/>
                          </a:solidFill>
                          <a:latin typeface="Satoshi" pitchFamily="34" charset="0"/>
                          <a:ea typeface="Satoshi" pitchFamily="34" charset="-122"/>
                          <a:cs typeface="Satoshi" pitchFamily="34" charset="-120"/>
                        </a:rPr>
                        <a:t>Variable COGS</a:t>
                      </a:r>
                      <a:endParaRPr lang="en-US" sz="780" dirty="0">
                        <a:latin typeface="Satoshi" charset="0"/>
                        <a:ea typeface="Satoshi" charset="0"/>
                        <a:cs typeface="Satoshi" charset="0"/>
                      </a:endParaRPr>
                    </a:p>
                  </a:txBody>
                  <a:tcPr marL="54864" marR="54864" marT="0" marB="0" anchor="ctr">
                    <a:lnL w="6350" cap="flat" cmpd="sng" algn="ctr">
                      <a:solidFill>
                        <a:srgbClr val="2A2A2F"/>
                      </a:solidFill>
                      <a:prstDash val="solid"/>
                      <a:round/>
                      <a:headEnd type="none" w="med" len="med"/>
                      <a:tailEnd type="none" w="med" len="med"/>
                    </a:lnL>
                    <a:lnR w="6350" cap="flat" cmpd="sng" algn="ctr">
                      <a:solidFill>
                        <a:srgbClr val="2A2A2F"/>
                      </a:solidFill>
                      <a:prstDash val="solid"/>
                      <a:round/>
                      <a:headEnd type="none" w="med" len="med"/>
                      <a:tailEnd type="none" w="med" len="med"/>
                    </a:lnR>
                    <a:lnT w="6350" cap="flat" cmpd="sng" algn="ctr">
                      <a:solidFill>
                        <a:srgbClr val="2A2A2F"/>
                      </a:solidFill>
                      <a:prstDash val="solid"/>
                      <a:round/>
                      <a:headEnd type="none" w="med" len="med"/>
                      <a:tailEnd type="none" w="med" len="med"/>
                    </a:lnT>
                    <a:lnB w="6350" cap="flat" cmpd="sng" algn="ctr">
                      <a:solidFill>
                        <a:srgbClr val="2A2A2F"/>
                      </a:solidFill>
                      <a:prstDash val="solid"/>
                      <a:round/>
                      <a:headEnd type="none" w="med" len="med"/>
                      <a:tailEnd type="none" w="med" len="med"/>
                    </a:lnB>
                    <a:solidFill>
                      <a:srgbClr val="131316"/>
                    </a:solidFill>
                  </a:tcPr>
                </a:tc>
                <a:tc>
                  <a:txBody>
                    <a:bodyPr/>
                    <a:lstStyle/>
                    <a:p>
                      <a:pPr marL="0" indent="0" algn="r">
                        <a:buNone/>
                      </a:pPr>
                      <a:r>
                        <a:rPr lang="en-US" sz="780" dirty="0">
                          <a:solidFill>
                            <a:srgbClr val="F4F1EA"/>
                          </a:solidFill>
                          <a:latin typeface="Satoshi" pitchFamily="34" charset="0"/>
                          <a:ea typeface="Satoshi" pitchFamily="34" charset="-122"/>
                          <a:cs typeface="Satoshi" pitchFamily="34" charset="-120"/>
                        </a:rPr>
                        <a:t>0.60</a:t>
                      </a:r>
                      <a:endParaRPr lang="en-US" sz="780" dirty="0">
                        <a:latin typeface="Satoshi" charset="0"/>
                        <a:ea typeface="Satoshi" charset="0"/>
                        <a:cs typeface="Satoshi" charset="0"/>
                      </a:endParaRPr>
                    </a:p>
                  </a:txBody>
                  <a:tcPr marL="54864" marR="54864" marT="0" marB="0" anchor="ctr">
                    <a:lnL w="6350" cap="flat" cmpd="sng" algn="ctr">
                      <a:solidFill>
                        <a:srgbClr val="2A2A2F"/>
                      </a:solidFill>
                      <a:prstDash val="solid"/>
                      <a:round/>
                      <a:headEnd type="none" w="med" len="med"/>
                      <a:tailEnd type="none" w="med" len="med"/>
                    </a:lnL>
                    <a:lnR w="6350" cap="flat" cmpd="sng" algn="ctr">
                      <a:solidFill>
                        <a:srgbClr val="2A2A2F"/>
                      </a:solidFill>
                      <a:prstDash val="solid"/>
                      <a:round/>
                      <a:headEnd type="none" w="med" len="med"/>
                      <a:tailEnd type="none" w="med" len="med"/>
                    </a:lnR>
                    <a:lnT w="6350" cap="flat" cmpd="sng" algn="ctr">
                      <a:solidFill>
                        <a:srgbClr val="2A2A2F"/>
                      </a:solidFill>
                      <a:prstDash val="solid"/>
                      <a:round/>
                      <a:headEnd type="none" w="med" len="med"/>
                      <a:tailEnd type="none" w="med" len="med"/>
                    </a:lnT>
                    <a:lnB w="6350" cap="flat" cmpd="sng" algn="ctr">
                      <a:solidFill>
                        <a:srgbClr val="2A2A2F"/>
                      </a:solidFill>
                      <a:prstDash val="solid"/>
                      <a:round/>
                      <a:headEnd type="none" w="med" len="med"/>
                      <a:tailEnd type="none" w="med" len="med"/>
                    </a:lnB>
                    <a:solidFill>
                      <a:srgbClr val="131316"/>
                    </a:solidFill>
                  </a:tcPr>
                </a:tc>
                <a:tc>
                  <a:txBody>
                    <a:bodyPr/>
                    <a:lstStyle/>
                    <a:p>
                      <a:pPr marL="0" indent="0" algn="r">
                        <a:buNone/>
                      </a:pPr>
                      <a:r>
                        <a:rPr lang="en-US" sz="780" dirty="0">
                          <a:solidFill>
                            <a:srgbClr val="F4F1EA"/>
                          </a:solidFill>
                          <a:latin typeface="Satoshi" pitchFamily="34" charset="0"/>
                          <a:ea typeface="Satoshi" pitchFamily="34" charset="-122"/>
                          <a:cs typeface="Satoshi" pitchFamily="34" charset="-120"/>
                        </a:rPr>
                        <a:t>3.00</a:t>
                      </a:r>
                      <a:endParaRPr lang="en-US" sz="780" dirty="0">
                        <a:latin typeface="Satoshi" charset="0"/>
                        <a:ea typeface="Satoshi" charset="0"/>
                        <a:cs typeface="Satoshi" charset="0"/>
                      </a:endParaRPr>
                    </a:p>
                  </a:txBody>
                  <a:tcPr marL="54864" marR="54864" marT="0" marB="0" anchor="ctr">
                    <a:lnL w="6350" cap="flat" cmpd="sng" algn="ctr">
                      <a:solidFill>
                        <a:srgbClr val="2A2A2F"/>
                      </a:solidFill>
                      <a:prstDash val="solid"/>
                      <a:round/>
                      <a:headEnd type="none" w="med" len="med"/>
                      <a:tailEnd type="none" w="med" len="med"/>
                    </a:lnL>
                    <a:lnR w="6350" cap="flat" cmpd="sng" algn="ctr">
                      <a:solidFill>
                        <a:srgbClr val="2A2A2F"/>
                      </a:solidFill>
                      <a:prstDash val="solid"/>
                      <a:round/>
                      <a:headEnd type="none" w="med" len="med"/>
                      <a:tailEnd type="none" w="med" len="med"/>
                    </a:lnR>
                    <a:lnT w="6350" cap="flat" cmpd="sng" algn="ctr">
                      <a:solidFill>
                        <a:srgbClr val="2A2A2F"/>
                      </a:solidFill>
                      <a:prstDash val="solid"/>
                      <a:round/>
                      <a:headEnd type="none" w="med" len="med"/>
                      <a:tailEnd type="none" w="med" len="med"/>
                    </a:lnT>
                    <a:lnB w="6350" cap="flat" cmpd="sng" algn="ctr">
                      <a:solidFill>
                        <a:srgbClr val="2A2A2F"/>
                      </a:solidFill>
                      <a:prstDash val="solid"/>
                      <a:round/>
                      <a:headEnd type="none" w="med" len="med"/>
                      <a:tailEnd type="none" w="med" len="med"/>
                    </a:lnB>
                    <a:solidFill>
                      <a:srgbClr val="131316"/>
                    </a:solidFill>
                  </a:tcPr>
                </a:tc>
                <a:tc>
                  <a:txBody>
                    <a:bodyPr/>
                    <a:lstStyle/>
                    <a:p>
                      <a:pPr marL="0" indent="0" algn="r">
                        <a:buNone/>
                      </a:pPr>
                      <a:r>
                        <a:rPr lang="en-US" sz="780" dirty="0">
                          <a:solidFill>
                            <a:srgbClr val="F4F1EA"/>
                          </a:solidFill>
                          <a:latin typeface="Satoshi" pitchFamily="34" charset="0"/>
                          <a:ea typeface="Satoshi" pitchFamily="34" charset="-122"/>
                          <a:cs typeface="Satoshi" pitchFamily="34" charset="-120"/>
                        </a:rPr>
                        <a:t>9.60</a:t>
                      </a:r>
                      <a:endParaRPr lang="en-US" sz="780" dirty="0">
                        <a:latin typeface="Satoshi" charset="0"/>
                        <a:ea typeface="Satoshi" charset="0"/>
                        <a:cs typeface="Satoshi" charset="0"/>
                      </a:endParaRPr>
                    </a:p>
                  </a:txBody>
                  <a:tcPr marL="54864" marR="54864" marT="0" marB="0" anchor="ctr">
                    <a:lnL w="6350" cap="flat" cmpd="sng" algn="ctr">
                      <a:solidFill>
                        <a:srgbClr val="2A2A2F"/>
                      </a:solidFill>
                      <a:prstDash val="solid"/>
                      <a:round/>
                      <a:headEnd type="none" w="med" len="med"/>
                      <a:tailEnd type="none" w="med" len="med"/>
                    </a:lnL>
                    <a:lnR w="6350" cap="flat" cmpd="sng" algn="ctr">
                      <a:solidFill>
                        <a:srgbClr val="2A2A2F"/>
                      </a:solidFill>
                      <a:prstDash val="solid"/>
                      <a:round/>
                      <a:headEnd type="none" w="med" len="med"/>
                      <a:tailEnd type="none" w="med" len="med"/>
                    </a:lnR>
                    <a:lnT w="6350" cap="flat" cmpd="sng" algn="ctr">
                      <a:solidFill>
                        <a:srgbClr val="2A2A2F"/>
                      </a:solidFill>
                      <a:prstDash val="solid"/>
                      <a:round/>
                      <a:headEnd type="none" w="med" len="med"/>
                      <a:tailEnd type="none" w="med" len="med"/>
                    </a:lnT>
                    <a:lnB w="6350" cap="flat" cmpd="sng" algn="ctr">
                      <a:solidFill>
                        <a:srgbClr val="2A2A2F"/>
                      </a:solidFill>
                      <a:prstDash val="solid"/>
                      <a:round/>
                      <a:headEnd type="none" w="med" len="med"/>
                      <a:tailEnd type="none" w="med" len="med"/>
                    </a:lnB>
                    <a:solidFill>
                      <a:srgbClr val="131316"/>
                    </a:solidFill>
                  </a:tcPr>
                </a:tc>
                <a:extLst>
                  <a:ext uri="{0D108BD9-81ED-4DB2-BD59-A6C34878D82A}">
                    <a16:rowId xmlns:a16="http://schemas.microsoft.com/office/drawing/2014/main" val="10003"/>
                  </a:ext>
                </a:extLst>
              </a:tr>
              <a:tr h="214884">
                <a:tc>
                  <a:txBody>
                    <a:bodyPr/>
                    <a:lstStyle/>
                    <a:p>
                      <a:pPr marL="0" indent="0">
                        <a:buNone/>
                      </a:pPr>
                      <a:r>
                        <a:rPr lang="en-US" sz="780" dirty="0">
                          <a:solidFill>
                            <a:srgbClr val="A9A59C"/>
                          </a:solidFill>
                          <a:latin typeface="Satoshi" pitchFamily="34" charset="0"/>
                          <a:ea typeface="Satoshi" pitchFamily="34" charset="-122"/>
                          <a:cs typeface="Satoshi" pitchFamily="34" charset="-120"/>
                        </a:rPr>
                        <a:t>Gross Profit</a:t>
                      </a:r>
                      <a:endParaRPr lang="en-US" sz="780" dirty="0">
                        <a:latin typeface="Satoshi" charset="0"/>
                        <a:ea typeface="Satoshi" charset="0"/>
                        <a:cs typeface="Satoshi" charset="0"/>
                      </a:endParaRPr>
                    </a:p>
                  </a:txBody>
                  <a:tcPr marL="54864" marR="54864" marT="0" marB="0" anchor="ctr">
                    <a:lnL w="6350" cap="flat" cmpd="sng" algn="ctr">
                      <a:solidFill>
                        <a:srgbClr val="2A2A2F"/>
                      </a:solidFill>
                      <a:prstDash val="solid"/>
                      <a:round/>
                      <a:headEnd type="none" w="med" len="med"/>
                      <a:tailEnd type="none" w="med" len="med"/>
                    </a:lnL>
                    <a:lnR w="6350" cap="flat" cmpd="sng" algn="ctr">
                      <a:solidFill>
                        <a:srgbClr val="2A2A2F"/>
                      </a:solidFill>
                      <a:prstDash val="solid"/>
                      <a:round/>
                      <a:headEnd type="none" w="med" len="med"/>
                      <a:tailEnd type="none" w="med" len="med"/>
                    </a:lnR>
                    <a:lnT w="6350" cap="flat" cmpd="sng" algn="ctr">
                      <a:solidFill>
                        <a:srgbClr val="2A2A2F"/>
                      </a:solidFill>
                      <a:prstDash val="solid"/>
                      <a:round/>
                      <a:headEnd type="none" w="med" len="med"/>
                      <a:tailEnd type="none" w="med" len="med"/>
                    </a:lnT>
                    <a:lnB w="6350" cap="flat" cmpd="sng" algn="ctr">
                      <a:solidFill>
                        <a:srgbClr val="2A2A2F"/>
                      </a:solidFill>
                      <a:prstDash val="solid"/>
                      <a:round/>
                      <a:headEnd type="none" w="med" len="med"/>
                      <a:tailEnd type="none" w="med" len="med"/>
                    </a:lnB>
                    <a:solidFill>
                      <a:srgbClr val="131316"/>
                    </a:solidFill>
                  </a:tcPr>
                </a:tc>
                <a:tc>
                  <a:txBody>
                    <a:bodyPr/>
                    <a:lstStyle/>
                    <a:p>
                      <a:pPr marL="0" indent="0" algn="r">
                        <a:buNone/>
                      </a:pPr>
                      <a:r>
                        <a:rPr lang="en-US" sz="780" dirty="0">
                          <a:solidFill>
                            <a:srgbClr val="F4F1EA"/>
                          </a:solidFill>
                          <a:latin typeface="Satoshi" pitchFamily="34" charset="0"/>
                          <a:ea typeface="Satoshi" pitchFamily="34" charset="-122"/>
                          <a:cs typeface="Satoshi" pitchFamily="34" charset="-120"/>
                        </a:rPr>
                        <a:t>3.59</a:t>
                      </a:r>
                      <a:endParaRPr lang="en-US" sz="780" dirty="0">
                        <a:latin typeface="Satoshi" charset="0"/>
                        <a:ea typeface="Satoshi" charset="0"/>
                        <a:cs typeface="Satoshi" charset="0"/>
                      </a:endParaRPr>
                    </a:p>
                  </a:txBody>
                  <a:tcPr marL="54864" marR="54864" marT="0" marB="0" anchor="ctr">
                    <a:lnL w="6350" cap="flat" cmpd="sng" algn="ctr">
                      <a:solidFill>
                        <a:srgbClr val="2A2A2F"/>
                      </a:solidFill>
                      <a:prstDash val="solid"/>
                      <a:round/>
                      <a:headEnd type="none" w="med" len="med"/>
                      <a:tailEnd type="none" w="med" len="med"/>
                    </a:lnL>
                    <a:lnR w="6350" cap="flat" cmpd="sng" algn="ctr">
                      <a:solidFill>
                        <a:srgbClr val="2A2A2F"/>
                      </a:solidFill>
                      <a:prstDash val="solid"/>
                      <a:round/>
                      <a:headEnd type="none" w="med" len="med"/>
                      <a:tailEnd type="none" w="med" len="med"/>
                    </a:lnR>
                    <a:lnT w="6350" cap="flat" cmpd="sng" algn="ctr">
                      <a:solidFill>
                        <a:srgbClr val="2A2A2F"/>
                      </a:solidFill>
                      <a:prstDash val="solid"/>
                      <a:round/>
                      <a:headEnd type="none" w="med" len="med"/>
                      <a:tailEnd type="none" w="med" len="med"/>
                    </a:lnT>
                    <a:lnB w="6350" cap="flat" cmpd="sng" algn="ctr">
                      <a:solidFill>
                        <a:srgbClr val="2A2A2F"/>
                      </a:solidFill>
                      <a:prstDash val="solid"/>
                      <a:round/>
                      <a:headEnd type="none" w="med" len="med"/>
                      <a:tailEnd type="none" w="med" len="med"/>
                    </a:lnB>
                    <a:solidFill>
                      <a:srgbClr val="131316"/>
                    </a:solidFill>
                  </a:tcPr>
                </a:tc>
                <a:tc>
                  <a:txBody>
                    <a:bodyPr/>
                    <a:lstStyle/>
                    <a:p>
                      <a:pPr marL="0" indent="0" algn="r">
                        <a:buNone/>
                      </a:pPr>
                      <a:r>
                        <a:rPr lang="en-US" sz="780" dirty="0">
                          <a:solidFill>
                            <a:srgbClr val="F4F1EA"/>
                          </a:solidFill>
                          <a:latin typeface="Satoshi" pitchFamily="34" charset="0"/>
                          <a:ea typeface="Satoshi" pitchFamily="34" charset="-122"/>
                          <a:cs typeface="Satoshi" pitchFamily="34" charset="-120"/>
                        </a:rPr>
                        <a:t>17.97</a:t>
                      </a:r>
                      <a:endParaRPr lang="en-US" sz="780" dirty="0">
                        <a:latin typeface="Satoshi" charset="0"/>
                        <a:ea typeface="Satoshi" charset="0"/>
                        <a:cs typeface="Satoshi" charset="0"/>
                      </a:endParaRPr>
                    </a:p>
                  </a:txBody>
                  <a:tcPr marL="54864" marR="54864" marT="0" marB="0" anchor="ctr">
                    <a:lnL w="6350" cap="flat" cmpd="sng" algn="ctr">
                      <a:solidFill>
                        <a:srgbClr val="2A2A2F"/>
                      </a:solidFill>
                      <a:prstDash val="solid"/>
                      <a:round/>
                      <a:headEnd type="none" w="med" len="med"/>
                      <a:tailEnd type="none" w="med" len="med"/>
                    </a:lnL>
                    <a:lnR w="6350" cap="flat" cmpd="sng" algn="ctr">
                      <a:solidFill>
                        <a:srgbClr val="2A2A2F"/>
                      </a:solidFill>
                      <a:prstDash val="solid"/>
                      <a:round/>
                      <a:headEnd type="none" w="med" len="med"/>
                      <a:tailEnd type="none" w="med" len="med"/>
                    </a:lnR>
                    <a:lnT w="6350" cap="flat" cmpd="sng" algn="ctr">
                      <a:solidFill>
                        <a:srgbClr val="2A2A2F"/>
                      </a:solidFill>
                      <a:prstDash val="solid"/>
                      <a:round/>
                      <a:headEnd type="none" w="med" len="med"/>
                      <a:tailEnd type="none" w="med" len="med"/>
                    </a:lnT>
                    <a:lnB w="6350" cap="flat" cmpd="sng" algn="ctr">
                      <a:solidFill>
                        <a:srgbClr val="2A2A2F"/>
                      </a:solidFill>
                      <a:prstDash val="solid"/>
                      <a:round/>
                      <a:headEnd type="none" w="med" len="med"/>
                      <a:tailEnd type="none" w="med" len="med"/>
                    </a:lnB>
                    <a:solidFill>
                      <a:srgbClr val="131316"/>
                    </a:solidFill>
                  </a:tcPr>
                </a:tc>
                <a:tc>
                  <a:txBody>
                    <a:bodyPr/>
                    <a:lstStyle/>
                    <a:p>
                      <a:pPr marL="0" indent="0" algn="r">
                        <a:buNone/>
                      </a:pPr>
                      <a:r>
                        <a:rPr lang="en-US" sz="780" dirty="0">
                          <a:solidFill>
                            <a:srgbClr val="F4F1EA"/>
                          </a:solidFill>
                          <a:latin typeface="Satoshi" pitchFamily="34" charset="0"/>
                          <a:ea typeface="Satoshi" pitchFamily="34" charset="-122"/>
                          <a:cs typeface="Satoshi" pitchFamily="34" charset="-120"/>
                        </a:rPr>
                        <a:t>57.50</a:t>
                      </a:r>
                      <a:endParaRPr lang="en-US" sz="780" dirty="0">
                        <a:latin typeface="Satoshi" charset="0"/>
                        <a:ea typeface="Satoshi" charset="0"/>
                        <a:cs typeface="Satoshi" charset="0"/>
                      </a:endParaRPr>
                    </a:p>
                  </a:txBody>
                  <a:tcPr marL="54864" marR="54864" marT="0" marB="0" anchor="ctr">
                    <a:lnL w="6350" cap="flat" cmpd="sng" algn="ctr">
                      <a:solidFill>
                        <a:srgbClr val="2A2A2F"/>
                      </a:solidFill>
                      <a:prstDash val="solid"/>
                      <a:round/>
                      <a:headEnd type="none" w="med" len="med"/>
                      <a:tailEnd type="none" w="med" len="med"/>
                    </a:lnL>
                    <a:lnR w="6350" cap="flat" cmpd="sng" algn="ctr">
                      <a:solidFill>
                        <a:srgbClr val="2A2A2F"/>
                      </a:solidFill>
                      <a:prstDash val="solid"/>
                      <a:round/>
                      <a:headEnd type="none" w="med" len="med"/>
                      <a:tailEnd type="none" w="med" len="med"/>
                    </a:lnR>
                    <a:lnT w="6350" cap="flat" cmpd="sng" algn="ctr">
                      <a:solidFill>
                        <a:srgbClr val="2A2A2F"/>
                      </a:solidFill>
                      <a:prstDash val="solid"/>
                      <a:round/>
                      <a:headEnd type="none" w="med" len="med"/>
                      <a:tailEnd type="none" w="med" len="med"/>
                    </a:lnT>
                    <a:lnB w="6350" cap="flat" cmpd="sng" algn="ctr">
                      <a:solidFill>
                        <a:srgbClr val="2A2A2F"/>
                      </a:solidFill>
                      <a:prstDash val="solid"/>
                      <a:round/>
                      <a:headEnd type="none" w="med" len="med"/>
                      <a:tailEnd type="none" w="med" len="med"/>
                    </a:lnB>
                    <a:solidFill>
                      <a:srgbClr val="131316"/>
                    </a:solidFill>
                  </a:tcPr>
                </a:tc>
                <a:extLst>
                  <a:ext uri="{0D108BD9-81ED-4DB2-BD59-A6C34878D82A}">
                    <a16:rowId xmlns:a16="http://schemas.microsoft.com/office/drawing/2014/main" val="10004"/>
                  </a:ext>
                </a:extLst>
              </a:tr>
              <a:tr h="214884">
                <a:tc>
                  <a:txBody>
                    <a:bodyPr/>
                    <a:lstStyle/>
                    <a:p>
                      <a:pPr marL="0" indent="0">
                        <a:buNone/>
                      </a:pPr>
                      <a:r>
                        <a:rPr lang="en-US" sz="780" dirty="0">
                          <a:solidFill>
                            <a:srgbClr val="A9A59C"/>
                          </a:solidFill>
                          <a:latin typeface="Satoshi" pitchFamily="34" charset="0"/>
                          <a:ea typeface="Satoshi" pitchFamily="34" charset="-122"/>
                          <a:cs typeface="Satoshi" pitchFamily="34" charset="-120"/>
                        </a:rPr>
                        <a:t>Total OpEx (revised)</a:t>
                      </a:r>
                      <a:endParaRPr lang="en-US" sz="780" dirty="0">
                        <a:latin typeface="Satoshi" charset="0"/>
                        <a:ea typeface="Satoshi" charset="0"/>
                        <a:cs typeface="Satoshi" charset="0"/>
                      </a:endParaRPr>
                    </a:p>
                  </a:txBody>
                  <a:tcPr marL="54864" marR="54864" marT="0" marB="0" anchor="ctr">
                    <a:lnL w="6350" cap="flat" cmpd="sng" algn="ctr">
                      <a:solidFill>
                        <a:srgbClr val="2A2A2F"/>
                      </a:solidFill>
                      <a:prstDash val="solid"/>
                      <a:round/>
                      <a:headEnd type="none" w="med" len="med"/>
                      <a:tailEnd type="none" w="med" len="med"/>
                    </a:lnL>
                    <a:lnR w="6350" cap="flat" cmpd="sng" algn="ctr">
                      <a:solidFill>
                        <a:srgbClr val="2A2A2F"/>
                      </a:solidFill>
                      <a:prstDash val="solid"/>
                      <a:round/>
                      <a:headEnd type="none" w="med" len="med"/>
                      <a:tailEnd type="none" w="med" len="med"/>
                    </a:lnR>
                    <a:lnT w="6350" cap="flat" cmpd="sng" algn="ctr">
                      <a:solidFill>
                        <a:srgbClr val="2A2A2F"/>
                      </a:solidFill>
                      <a:prstDash val="solid"/>
                      <a:round/>
                      <a:headEnd type="none" w="med" len="med"/>
                      <a:tailEnd type="none" w="med" len="med"/>
                    </a:lnT>
                    <a:lnB w="6350" cap="flat" cmpd="sng" algn="ctr">
                      <a:solidFill>
                        <a:srgbClr val="2A2A2F"/>
                      </a:solidFill>
                      <a:prstDash val="solid"/>
                      <a:round/>
                      <a:headEnd type="none" w="med" len="med"/>
                      <a:tailEnd type="none" w="med" len="med"/>
                    </a:lnB>
                    <a:solidFill>
                      <a:srgbClr val="131316"/>
                    </a:solidFill>
                  </a:tcPr>
                </a:tc>
                <a:tc>
                  <a:txBody>
                    <a:bodyPr/>
                    <a:lstStyle/>
                    <a:p>
                      <a:pPr marL="0" indent="0" algn="r">
                        <a:buNone/>
                      </a:pPr>
                      <a:r>
                        <a:rPr lang="en-US" sz="780" dirty="0">
                          <a:solidFill>
                            <a:srgbClr val="F4F1EA"/>
                          </a:solidFill>
                          <a:latin typeface="Satoshi" pitchFamily="34" charset="0"/>
                          <a:ea typeface="Satoshi" pitchFamily="34" charset="-122"/>
                          <a:cs typeface="Satoshi" pitchFamily="34" charset="-120"/>
                        </a:rPr>
                        <a:t>15.00</a:t>
                      </a:r>
                      <a:endParaRPr lang="en-US" sz="780" dirty="0">
                        <a:latin typeface="Satoshi" charset="0"/>
                        <a:ea typeface="Satoshi" charset="0"/>
                        <a:cs typeface="Satoshi" charset="0"/>
                      </a:endParaRPr>
                    </a:p>
                  </a:txBody>
                  <a:tcPr marL="54864" marR="54864" marT="0" marB="0" anchor="ctr">
                    <a:lnL w="6350" cap="flat" cmpd="sng" algn="ctr">
                      <a:solidFill>
                        <a:srgbClr val="2A2A2F"/>
                      </a:solidFill>
                      <a:prstDash val="solid"/>
                      <a:round/>
                      <a:headEnd type="none" w="med" len="med"/>
                      <a:tailEnd type="none" w="med" len="med"/>
                    </a:lnL>
                    <a:lnR w="6350" cap="flat" cmpd="sng" algn="ctr">
                      <a:solidFill>
                        <a:srgbClr val="2A2A2F"/>
                      </a:solidFill>
                      <a:prstDash val="solid"/>
                      <a:round/>
                      <a:headEnd type="none" w="med" len="med"/>
                      <a:tailEnd type="none" w="med" len="med"/>
                    </a:lnR>
                    <a:lnT w="6350" cap="flat" cmpd="sng" algn="ctr">
                      <a:solidFill>
                        <a:srgbClr val="2A2A2F"/>
                      </a:solidFill>
                      <a:prstDash val="solid"/>
                      <a:round/>
                      <a:headEnd type="none" w="med" len="med"/>
                      <a:tailEnd type="none" w="med" len="med"/>
                    </a:lnT>
                    <a:lnB w="6350" cap="flat" cmpd="sng" algn="ctr">
                      <a:solidFill>
                        <a:srgbClr val="2A2A2F"/>
                      </a:solidFill>
                      <a:prstDash val="solid"/>
                      <a:round/>
                      <a:headEnd type="none" w="med" len="med"/>
                      <a:tailEnd type="none" w="med" len="med"/>
                    </a:lnB>
                    <a:solidFill>
                      <a:srgbClr val="131316"/>
                    </a:solidFill>
                  </a:tcPr>
                </a:tc>
                <a:tc>
                  <a:txBody>
                    <a:bodyPr/>
                    <a:lstStyle/>
                    <a:p>
                      <a:pPr marL="0" indent="0" algn="r">
                        <a:buNone/>
                      </a:pPr>
                      <a:r>
                        <a:rPr lang="en-US" sz="780" dirty="0">
                          <a:solidFill>
                            <a:srgbClr val="F4F1EA"/>
                          </a:solidFill>
                          <a:latin typeface="Satoshi" pitchFamily="34" charset="0"/>
                          <a:ea typeface="Satoshi" pitchFamily="34" charset="-122"/>
                          <a:cs typeface="Satoshi" pitchFamily="34" charset="-120"/>
                        </a:rPr>
                        <a:t>27.00</a:t>
                      </a:r>
                      <a:endParaRPr lang="en-US" sz="780" dirty="0">
                        <a:latin typeface="Satoshi" charset="0"/>
                        <a:ea typeface="Satoshi" charset="0"/>
                        <a:cs typeface="Satoshi" charset="0"/>
                      </a:endParaRPr>
                    </a:p>
                  </a:txBody>
                  <a:tcPr marL="54864" marR="54864" marT="0" marB="0" anchor="ctr">
                    <a:lnL w="6350" cap="flat" cmpd="sng" algn="ctr">
                      <a:solidFill>
                        <a:srgbClr val="2A2A2F"/>
                      </a:solidFill>
                      <a:prstDash val="solid"/>
                      <a:round/>
                      <a:headEnd type="none" w="med" len="med"/>
                      <a:tailEnd type="none" w="med" len="med"/>
                    </a:lnL>
                    <a:lnR w="6350" cap="flat" cmpd="sng" algn="ctr">
                      <a:solidFill>
                        <a:srgbClr val="2A2A2F"/>
                      </a:solidFill>
                      <a:prstDash val="solid"/>
                      <a:round/>
                      <a:headEnd type="none" w="med" len="med"/>
                      <a:tailEnd type="none" w="med" len="med"/>
                    </a:lnR>
                    <a:lnT w="6350" cap="flat" cmpd="sng" algn="ctr">
                      <a:solidFill>
                        <a:srgbClr val="2A2A2F"/>
                      </a:solidFill>
                      <a:prstDash val="solid"/>
                      <a:round/>
                      <a:headEnd type="none" w="med" len="med"/>
                      <a:tailEnd type="none" w="med" len="med"/>
                    </a:lnT>
                    <a:lnB w="6350" cap="flat" cmpd="sng" algn="ctr">
                      <a:solidFill>
                        <a:srgbClr val="2A2A2F"/>
                      </a:solidFill>
                      <a:prstDash val="solid"/>
                      <a:round/>
                      <a:headEnd type="none" w="med" len="med"/>
                      <a:tailEnd type="none" w="med" len="med"/>
                    </a:lnB>
                    <a:solidFill>
                      <a:srgbClr val="131316"/>
                    </a:solidFill>
                  </a:tcPr>
                </a:tc>
                <a:tc>
                  <a:txBody>
                    <a:bodyPr/>
                    <a:lstStyle/>
                    <a:p>
                      <a:pPr marL="0" indent="0" algn="r">
                        <a:buNone/>
                      </a:pPr>
                      <a:r>
                        <a:rPr lang="en-US" sz="780" dirty="0">
                          <a:solidFill>
                            <a:srgbClr val="F4F1EA"/>
                          </a:solidFill>
                          <a:latin typeface="Satoshi" pitchFamily="34" charset="0"/>
                          <a:ea typeface="Satoshi" pitchFamily="34" charset="-122"/>
                          <a:cs typeface="Satoshi" pitchFamily="34" charset="-120"/>
                        </a:rPr>
                        <a:t>49.00</a:t>
                      </a:r>
                      <a:endParaRPr lang="en-US" sz="780" dirty="0">
                        <a:latin typeface="Satoshi" charset="0"/>
                        <a:ea typeface="Satoshi" charset="0"/>
                        <a:cs typeface="Satoshi" charset="0"/>
                      </a:endParaRPr>
                    </a:p>
                  </a:txBody>
                  <a:tcPr marL="54864" marR="54864" marT="0" marB="0" anchor="ctr">
                    <a:lnL w="6350" cap="flat" cmpd="sng" algn="ctr">
                      <a:solidFill>
                        <a:srgbClr val="2A2A2F"/>
                      </a:solidFill>
                      <a:prstDash val="solid"/>
                      <a:round/>
                      <a:headEnd type="none" w="med" len="med"/>
                      <a:tailEnd type="none" w="med" len="med"/>
                    </a:lnL>
                    <a:lnR w="6350" cap="flat" cmpd="sng" algn="ctr">
                      <a:solidFill>
                        <a:srgbClr val="2A2A2F"/>
                      </a:solidFill>
                      <a:prstDash val="solid"/>
                      <a:round/>
                      <a:headEnd type="none" w="med" len="med"/>
                      <a:tailEnd type="none" w="med" len="med"/>
                    </a:lnR>
                    <a:lnT w="6350" cap="flat" cmpd="sng" algn="ctr">
                      <a:solidFill>
                        <a:srgbClr val="2A2A2F"/>
                      </a:solidFill>
                      <a:prstDash val="solid"/>
                      <a:round/>
                      <a:headEnd type="none" w="med" len="med"/>
                      <a:tailEnd type="none" w="med" len="med"/>
                    </a:lnT>
                    <a:lnB w="6350" cap="flat" cmpd="sng" algn="ctr">
                      <a:solidFill>
                        <a:srgbClr val="2A2A2F"/>
                      </a:solidFill>
                      <a:prstDash val="solid"/>
                      <a:round/>
                      <a:headEnd type="none" w="med" len="med"/>
                      <a:tailEnd type="none" w="med" len="med"/>
                    </a:lnB>
                    <a:solidFill>
                      <a:srgbClr val="131316"/>
                    </a:solidFill>
                  </a:tcPr>
                </a:tc>
                <a:extLst>
                  <a:ext uri="{0D108BD9-81ED-4DB2-BD59-A6C34878D82A}">
                    <a16:rowId xmlns:a16="http://schemas.microsoft.com/office/drawing/2014/main" val="10005"/>
                  </a:ext>
                </a:extLst>
              </a:tr>
              <a:tr h="214884">
                <a:tc>
                  <a:txBody>
                    <a:bodyPr/>
                    <a:lstStyle/>
                    <a:p>
                      <a:pPr marL="0" indent="0">
                        <a:buNone/>
                      </a:pPr>
                      <a:r>
                        <a:rPr lang="en-US" sz="780" dirty="0">
                          <a:solidFill>
                            <a:srgbClr val="F4F1EA"/>
                          </a:solidFill>
                          <a:latin typeface="Satoshi Medium" pitchFamily="34" charset="0"/>
                          <a:ea typeface="Satoshi Medium" pitchFamily="34" charset="-122"/>
                          <a:cs typeface="Satoshi Medium" pitchFamily="34" charset="-120"/>
                        </a:rPr>
                        <a:t>EBITDA</a:t>
                      </a:r>
                      <a:endParaRPr lang="en-US" sz="780" dirty="0">
                        <a:latin typeface="Satoshi Medium" charset="0"/>
                        <a:ea typeface="Satoshi Medium" charset="0"/>
                        <a:cs typeface="Satoshi Medium" charset="0"/>
                      </a:endParaRPr>
                    </a:p>
                  </a:txBody>
                  <a:tcPr marL="54864" marR="54864" marT="0" marB="0" anchor="ctr">
                    <a:lnL w="6350" cap="flat" cmpd="sng" algn="ctr">
                      <a:solidFill>
                        <a:srgbClr val="2A2A2F"/>
                      </a:solidFill>
                      <a:prstDash val="solid"/>
                      <a:round/>
                      <a:headEnd type="none" w="med" len="med"/>
                      <a:tailEnd type="none" w="med" len="med"/>
                    </a:lnL>
                    <a:lnR w="6350" cap="flat" cmpd="sng" algn="ctr">
                      <a:solidFill>
                        <a:srgbClr val="2A2A2F"/>
                      </a:solidFill>
                      <a:prstDash val="solid"/>
                      <a:round/>
                      <a:headEnd type="none" w="med" len="med"/>
                      <a:tailEnd type="none" w="med" len="med"/>
                    </a:lnR>
                    <a:lnT w="6350" cap="flat" cmpd="sng" algn="ctr">
                      <a:solidFill>
                        <a:srgbClr val="2A2A2F"/>
                      </a:solidFill>
                      <a:prstDash val="solid"/>
                      <a:round/>
                      <a:headEnd type="none" w="med" len="med"/>
                      <a:tailEnd type="none" w="med" len="med"/>
                    </a:lnT>
                    <a:lnB w="6350" cap="flat" cmpd="sng" algn="ctr">
                      <a:solidFill>
                        <a:srgbClr val="2A2A2F"/>
                      </a:solidFill>
                      <a:prstDash val="solid"/>
                      <a:round/>
                      <a:headEnd type="none" w="med" len="med"/>
                      <a:tailEnd type="none" w="med" len="med"/>
                    </a:lnB>
                    <a:solidFill>
                      <a:srgbClr val="131316"/>
                    </a:solidFill>
                  </a:tcPr>
                </a:tc>
                <a:tc>
                  <a:txBody>
                    <a:bodyPr/>
                    <a:lstStyle/>
                    <a:p>
                      <a:pPr marL="0" indent="0" algn="r">
                        <a:buNone/>
                      </a:pPr>
                      <a:r>
                        <a:rPr lang="en-US" sz="780" dirty="0">
                          <a:solidFill>
                            <a:srgbClr val="FF5D4D"/>
                          </a:solidFill>
                          <a:latin typeface="Satoshi Medium" pitchFamily="34" charset="0"/>
                          <a:ea typeface="Satoshi Medium" pitchFamily="34" charset="-122"/>
                          <a:cs typeface="Satoshi Medium" pitchFamily="34" charset="-120"/>
                        </a:rPr>
                        <a:t>-11.41</a:t>
                      </a:r>
                      <a:endParaRPr lang="en-US" sz="780" dirty="0">
                        <a:latin typeface="Satoshi Medium" charset="0"/>
                        <a:ea typeface="Satoshi Medium" charset="0"/>
                        <a:cs typeface="Satoshi Medium" charset="0"/>
                      </a:endParaRPr>
                    </a:p>
                  </a:txBody>
                  <a:tcPr marL="54864" marR="54864" marT="0" marB="0" anchor="ctr">
                    <a:lnL w="6350" cap="flat" cmpd="sng" algn="ctr">
                      <a:solidFill>
                        <a:srgbClr val="2A2A2F"/>
                      </a:solidFill>
                      <a:prstDash val="solid"/>
                      <a:round/>
                      <a:headEnd type="none" w="med" len="med"/>
                      <a:tailEnd type="none" w="med" len="med"/>
                    </a:lnL>
                    <a:lnR w="6350" cap="flat" cmpd="sng" algn="ctr">
                      <a:solidFill>
                        <a:srgbClr val="2A2A2F"/>
                      </a:solidFill>
                      <a:prstDash val="solid"/>
                      <a:round/>
                      <a:headEnd type="none" w="med" len="med"/>
                      <a:tailEnd type="none" w="med" len="med"/>
                    </a:lnR>
                    <a:lnT w="6350" cap="flat" cmpd="sng" algn="ctr">
                      <a:solidFill>
                        <a:srgbClr val="2A2A2F"/>
                      </a:solidFill>
                      <a:prstDash val="solid"/>
                      <a:round/>
                      <a:headEnd type="none" w="med" len="med"/>
                      <a:tailEnd type="none" w="med" len="med"/>
                    </a:lnT>
                    <a:lnB w="6350" cap="flat" cmpd="sng" algn="ctr">
                      <a:solidFill>
                        <a:srgbClr val="2A2A2F"/>
                      </a:solidFill>
                      <a:prstDash val="solid"/>
                      <a:round/>
                      <a:headEnd type="none" w="med" len="med"/>
                      <a:tailEnd type="none" w="med" len="med"/>
                    </a:lnB>
                    <a:solidFill>
                      <a:srgbClr val="131316"/>
                    </a:solidFill>
                  </a:tcPr>
                </a:tc>
                <a:tc>
                  <a:txBody>
                    <a:bodyPr/>
                    <a:lstStyle/>
                    <a:p>
                      <a:pPr marL="0" indent="0" algn="r">
                        <a:buNone/>
                      </a:pPr>
                      <a:r>
                        <a:rPr lang="en-US" sz="780" dirty="0">
                          <a:solidFill>
                            <a:srgbClr val="FF5D4D"/>
                          </a:solidFill>
                          <a:latin typeface="Satoshi Medium" pitchFamily="34" charset="0"/>
                          <a:ea typeface="Satoshi Medium" pitchFamily="34" charset="-122"/>
                          <a:cs typeface="Satoshi Medium" pitchFamily="34" charset="-120"/>
                        </a:rPr>
                        <a:t>-9.03</a:t>
                      </a:r>
                      <a:endParaRPr lang="en-US" sz="780" dirty="0">
                        <a:latin typeface="Satoshi Medium" charset="0"/>
                        <a:ea typeface="Satoshi Medium" charset="0"/>
                        <a:cs typeface="Satoshi Medium" charset="0"/>
                      </a:endParaRPr>
                    </a:p>
                  </a:txBody>
                  <a:tcPr marL="54864" marR="54864" marT="0" marB="0" anchor="ctr">
                    <a:lnL w="6350" cap="flat" cmpd="sng" algn="ctr">
                      <a:solidFill>
                        <a:srgbClr val="2A2A2F"/>
                      </a:solidFill>
                      <a:prstDash val="solid"/>
                      <a:round/>
                      <a:headEnd type="none" w="med" len="med"/>
                      <a:tailEnd type="none" w="med" len="med"/>
                    </a:lnL>
                    <a:lnR w="6350" cap="flat" cmpd="sng" algn="ctr">
                      <a:solidFill>
                        <a:srgbClr val="2A2A2F"/>
                      </a:solidFill>
                      <a:prstDash val="solid"/>
                      <a:round/>
                      <a:headEnd type="none" w="med" len="med"/>
                      <a:tailEnd type="none" w="med" len="med"/>
                    </a:lnR>
                    <a:lnT w="6350" cap="flat" cmpd="sng" algn="ctr">
                      <a:solidFill>
                        <a:srgbClr val="2A2A2F"/>
                      </a:solidFill>
                      <a:prstDash val="solid"/>
                      <a:round/>
                      <a:headEnd type="none" w="med" len="med"/>
                      <a:tailEnd type="none" w="med" len="med"/>
                    </a:lnT>
                    <a:lnB w="6350" cap="flat" cmpd="sng" algn="ctr">
                      <a:solidFill>
                        <a:srgbClr val="2A2A2F"/>
                      </a:solidFill>
                      <a:prstDash val="solid"/>
                      <a:round/>
                      <a:headEnd type="none" w="med" len="med"/>
                      <a:tailEnd type="none" w="med" len="med"/>
                    </a:lnB>
                    <a:solidFill>
                      <a:srgbClr val="131316"/>
                    </a:solidFill>
                  </a:tcPr>
                </a:tc>
                <a:tc>
                  <a:txBody>
                    <a:bodyPr/>
                    <a:lstStyle/>
                    <a:p>
                      <a:pPr marL="0" indent="0" algn="r">
                        <a:buNone/>
                      </a:pPr>
                      <a:r>
                        <a:rPr lang="en-US" sz="780" dirty="0">
                          <a:solidFill>
                            <a:srgbClr val="C6F24E"/>
                          </a:solidFill>
                          <a:latin typeface="Satoshi Medium" pitchFamily="34" charset="0"/>
                          <a:ea typeface="Satoshi Medium" pitchFamily="34" charset="-122"/>
                          <a:cs typeface="Satoshi Medium" pitchFamily="34" charset="-120"/>
                        </a:rPr>
                        <a:t>+8.50</a:t>
                      </a:r>
                      <a:endParaRPr lang="en-US" sz="780" dirty="0">
                        <a:latin typeface="Satoshi Medium" charset="0"/>
                        <a:ea typeface="Satoshi Medium" charset="0"/>
                        <a:cs typeface="Satoshi Medium" charset="0"/>
                      </a:endParaRPr>
                    </a:p>
                  </a:txBody>
                  <a:tcPr marL="54864" marR="54864" marT="0" marB="0" anchor="ctr">
                    <a:lnL w="6350" cap="flat" cmpd="sng" algn="ctr">
                      <a:solidFill>
                        <a:srgbClr val="2A2A2F"/>
                      </a:solidFill>
                      <a:prstDash val="solid"/>
                      <a:round/>
                      <a:headEnd type="none" w="med" len="med"/>
                      <a:tailEnd type="none" w="med" len="med"/>
                    </a:lnL>
                    <a:lnR w="6350" cap="flat" cmpd="sng" algn="ctr">
                      <a:solidFill>
                        <a:srgbClr val="2A2A2F"/>
                      </a:solidFill>
                      <a:prstDash val="solid"/>
                      <a:round/>
                      <a:headEnd type="none" w="med" len="med"/>
                      <a:tailEnd type="none" w="med" len="med"/>
                    </a:lnR>
                    <a:lnT w="6350" cap="flat" cmpd="sng" algn="ctr">
                      <a:solidFill>
                        <a:srgbClr val="2A2A2F"/>
                      </a:solidFill>
                      <a:prstDash val="solid"/>
                      <a:round/>
                      <a:headEnd type="none" w="med" len="med"/>
                      <a:tailEnd type="none" w="med" len="med"/>
                    </a:lnT>
                    <a:lnB w="6350" cap="flat" cmpd="sng" algn="ctr">
                      <a:solidFill>
                        <a:srgbClr val="2A2A2F"/>
                      </a:solidFill>
                      <a:prstDash val="solid"/>
                      <a:round/>
                      <a:headEnd type="none" w="med" len="med"/>
                      <a:tailEnd type="none" w="med" len="med"/>
                    </a:lnB>
                    <a:solidFill>
                      <a:srgbClr val="131316"/>
                    </a:solidFill>
                  </a:tcPr>
                </a:tc>
                <a:extLst>
                  <a:ext uri="{0D108BD9-81ED-4DB2-BD59-A6C34878D82A}">
                    <a16:rowId xmlns:a16="http://schemas.microsoft.com/office/drawing/2014/main" val="10006"/>
                  </a:ext>
                </a:extLst>
              </a:tr>
            </a:tbl>
          </a:graphicData>
        </a:graphic>
      </p:graphicFrame>
      <p:sp>
        <p:nvSpPr>
          <p:cNvPr id="22" name="Text 19"/>
          <p:cNvSpPr txBox="1"/>
          <p:nvPr/>
        </p:nvSpPr>
        <p:spPr>
          <a:xfrm>
            <a:off x="411480" y="3602736"/>
            <a:ext cx="4206240" cy="146304"/>
          </a:xfrm>
          <a:prstGeom prst="rect">
            <a:avLst/>
          </a:prstGeom>
          <a:noFill/>
          <a:ln/>
        </p:spPr>
        <p:txBody>
          <a:bodyPr wrap="square" lIns="0" tIns="0" rIns="0" bIns="0" rtlCol="0" anchor="t"/>
          <a:lstStyle/>
          <a:p>
            <a:pPr marL="0" indent="0">
              <a:buNone/>
            </a:pPr>
            <a:r>
              <a:rPr lang="en-US" sz="580" dirty="0">
                <a:solidFill>
                  <a:srgbClr val="76736C"/>
                </a:solidFill>
                <a:latin typeface="JetBrains Mono" pitchFamily="34" charset="0"/>
                <a:ea typeface="JetBrains Mono" pitchFamily="34" charset="-122"/>
                <a:cs typeface="JetBrains Mono" pitchFamily="34" charset="-120"/>
              </a:rPr>
              <a:t>Revenue = avg locations × ₹699 × 12 · COGS ₹100 / location / month</a:t>
            </a:r>
            <a:endParaRPr lang="en-US" sz="580" dirty="0"/>
          </a:p>
        </p:txBody>
      </p:sp>
      <p:sp>
        <p:nvSpPr>
          <p:cNvPr id="23" name="Text 20"/>
          <p:cNvSpPr txBox="1"/>
          <p:nvPr/>
        </p:nvSpPr>
        <p:spPr>
          <a:xfrm>
            <a:off x="4846320" y="1856232"/>
            <a:ext cx="3840480" cy="155448"/>
          </a:xfrm>
          <a:prstGeom prst="rect">
            <a:avLst/>
          </a:prstGeom>
          <a:noFill/>
          <a:ln/>
        </p:spPr>
        <p:txBody>
          <a:bodyPr wrap="square" lIns="0" tIns="0" rIns="0" bIns="0" rtlCol="0" anchor="t"/>
          <a:lstStyle/>
          <a:p>
            <a:pPr marL="0" indent="0">
              <a:buNone/>
            </a:pPr>
            <a:r>
              <a:rPr lang="en-US" sz="680" kern="0" spc="60" dirty="0">
                <a:solidFill>
                  <a:srgbClr val="FFB547"/>
                </a:solidFill>
                <a:latin typeface="JetBrains Mono" pitchFamily="34" charset="0"/>
                <a:ea typeface="JetBrains Mono" pitchFamily="34" charset="-122"/>
                <a:cs typeface="JetBrains Mono" pitchFamily="34" charset="-120"/>
              </a:rPr>
              <a:t>RISK MITIGATION · THE THREE STAR FEATURES</a:t>
            </a:r>
            <a:endParaRPr lang="en-US" sz="680" dirty="0"/>
          </a:p>
        </p:txBody>
      </p:sp>
      <p:sp>
        <p:nvSpPr>
          <p:cNvPr id="24" name="Shape 21"/>
          <p:cNvSpPr/>
          <p:nvPr/>
        </p:nvSpPr>
        <p:spPr>
          <a:xfrm>
            <a:off x="4846320" y="2048256"/>
            <a:ext cx="3886200" cy="475488"/>
          </a:xfrm>
          <a:prstGeom prst="roundRect">
            <a:avLst>
              <a:gd name="adj" fmla="val 17308"/>
            </a:avLst>
          </a:prstGeom>
          <a:solidFill>
            <a:srgbClr val="131316"/>
          </a:solidFill>
          <a:ln w="9525">
            <a:solidFill>
              <a:srgbClr val="2A2A2F"/>
            </a:solidFill>
            <a:prstDash val="solid"/>
          </a:ln>
        </p:spPr>
      </p:sp>
      <p:sp>
        <p:nvSpPr>
          <p:cNvPr id="25" name="Text 22"/>
          <p:cNvSpPr txBox="1"/>
          <p:nvPr/>
        </p:nvSpPr>
        <p:spPr>
          <a:xfrm>
            <a:off x="4956048" y="2103120"/>
            <a:ext cx="960120" cy="365760"/>
          </a:xfrm>
          <a:prstGeom prst="rect">
            <a:avLst/>
          </a:prstGeom>
          <a:noFill/>
          <a:ln/>
        </p:spPr>
        <p:txBody>
          <a:bodyPr wrap="square" lIns="0" tIns="0" rIns="0" bIns="0" rtlCol="0" anchor="ctr"/>
          <a:lstStyle/>
          <a:p>
            <a:pPr marL="0" indent="0">
              <a:buNone/>
            </a:pPr>
            <a:r>
              <a:rPr lang="en-US" sz="780" dirty="0">
                <a:solidFill>
                  <a:srgbClr val="F4F1EA"/>
                </a:solidFill>
                <a:latin typeface="Satoshi Medium" pitchFamily="34" charset="0"/>
                <a:ea typeface="Satoshi Medium" pitchFamily="34" charset="-122"/>
                <a:cs typeface="Satoshi Medium" pitchFamily="34" charset="-120"/>
              </a:rPr>
              <a:t>Duration &amp; staff fit</a:t>
            </a:r>
            <a:endParaRPr lang="en-US" sz="780" dirty="0"/>
          </a:p>
        </p:txBody>
      </p:sp>
      <p:sp>
        <p:nvSpPr>
          <p:cNvPr id="26" name="Text 23"/>
          <p:cNvSpPr txBox="1"/>
          <p:nvPr/>
        </p:nvSpPr>
        <p:spPr>
          <a:xfrm>
            <a:off x="5943600" y="2093976"/>
            <a:ext cx="2724912" cy="164592"/>
          </a:xfrm>
          <a:prstGeom prst="rect">
            <a:avLst/>
          </a:prstGeom>
          <a:noFill/>
          <a:ln/>
        </p:spPr>
        <p:txBody>
          <a:bodyPr wrap="square" lIns="0" tIns="0" rIns="0" bIns="0" rtlCol="0" anchor="t"/>
          <a:lstStyle/>
          <a:p>
            <a:pPr marL="0" indent="0">
              <a:buNone/>
            </a:pPr>
            <a:r>
              <a:rPr lang="en-US" sz="580" dirty="0">
                <a:solidFill>
                  <a:srgbClr val="FF5D4D"/>
                </a:solidFill>
                <a:latin typeface="JetBrains Mono" pitchFamily="34" charset="0"/>
                <a:ea typeface="JetBrains Mono" pitchFamily="34" charset="-122"/>
                <a:cs typeface="JetBrains Mono" pitchFamily="34" charset="-120"/>
              </a:rPr>
              <a:t>Risk  </a:t>
            </a:r>
            <a:r>
              <a:rPr lang="en-US" sz="660" dirty="0">
                <a:solidFill>
                  <a:srgbClr val="A9A59C"/>
                </a:solidFill>
                <a:latin typeface="Satoshi" pitchFamily="34" charset="0"/>
                <a:ea typeface="Satoshi" pitchFamily="34" charset="-122"/>
                <a:cs typeface="Satoshi" pitchFamily="34" charset="-120"/>
              </a:rPr>
              <a:t>Wrong durations or skills entered at setup lead to wrong offers.</a:t>
            </a:r>
            <a:endParaRPr lang="en-US" sz="660" dirty="0"/>
          </a:p>
        </p:txBody>
      </p:sp>
      <p:sp>
        <p:nvSpPr>
          <p:cNvPr id="27" name="Text 24"/>
          <p:cNvSpPr txBox="1"/>
          <p:nvPr/>
        </p:nvSpPr>
        <p:spPr>
          <a:xfrm>
            <a:off x="5943600" y="2249424"/>
            <a:ext cx="2724912" cy="256032"/>
          </a:xfrm>
          <a:prstGeom prst="rect">
            <a:avLst/>
          </a:prstGeom>
          <a:noFill/>
          <a:ln/>
        </p:spPr>
        <p:txBody>
          <a:bodyPr wrap="square" lIns="0" tIns="0" rIns="0" bIns="0" rtlCol="0" anchor="t"/>
          <a:lstStyle/>
          <a:p>
            <a:pPr marL="0" indent="0">
              <a:lnSpc>
                <a:spcPct val="100000"/>
              </a:lnSpc>
              <a:buNone/>
            </a:pPr>
            <a:r>
              <a:rPr lang="en-US" sz="580" dirty="0">
                <a:solidFill>
                  <a:srgbClr val="C6F24E"/>
                </a:solidFill>
                <a:latin typeface="JetBrains Mono" pitchFamily="34" charset="0"/>
                <a:ea typeface="JetBrains Mono" pitchFamily="34" charset="-122"/>
                <a:cs typeface="JetBrains Mono" pitchFamily="34" charset="-120"/>
              </a:rPr>
              <a:t>Fix  </a:t>
            </a:r>
            <a:r>
              <a:rPr lang="en-US" sz="660" dirty="0">
                <a:solidFill>
                  <a:srgbClr val="F4F1EA"/>
                </a:solidFill>
                <a:latin typeface="Satoshi" pitchFamily="34" charset="0"/>
                <a:ea typeface="Satoshi" pitchFamily="34" charset="-122"/>
                <a:cs typeface="Satoshi" pitchFamily="34" charset="-120"/>
              </a:rPr>
              <a:t>Owner sets minutes per service; database re-checks fit at send and at booking; every skip shows its reason.</a:t>
            </a:r>
            <a:endParaRPr lang="en-US" sz="660" dirty="0"/>
          </a:p>
        </p:txBody>
      </p:sp>
      <p:sp>
        <p:nvSpPr>
          <p:cNvPr id="28" name="Shape 25"/>
          <p:cNvSpPr/>
          <p:nvPr/>
        </p:nvSpPr>
        <p:spPr>
          <a:xfrm>
            <a:off x="4846320" y="2578608"/>
            <a:ext cx="3886200" cy="475488"/>
          </a:xfrm>
          <a:prstGeom prst="roundRect">
            <a:avLst>
              <a:gd name="adj" fmla="val 17308"/>
            </a:avLst>
          </a:prstGeom>
          <a:solidFill>
            <a:srgbClr val="131316"/>
          </a:solidFill>
          <a:ln w="9525">
            <a:solidFill>
              <a:srgbClr val="2A2A2F"/>
            </a:solidFill>
            <a:prstDash val="solid"/>
          </a:ln>
        </p:spPr>
      </p:sp>
      <p:sp>
        <p:nvSpPr>
          <p:cNvPr id="29" name="Text 26"/>
          <p:cNvSpPr txBox="1"/>
          <p:nvPr/>
        </p:nvSpPr>
        <p:spPr>
          <a:xfrm>
            <a:off x="4956048" y="2633472"/>
            <a:ext cx="960120" cy="365760"/>
          </a:xfrm>
          <a:prstGeom prst="rect">
            <a:avLst/>
          </a:prstGeom>
          <a:noFill/>
          <a:ln/>
        </p:spPr>
        <p:txBody>
          <a:bodyPr wrap="square" lIns="0" tIns="0" rIns="0" bIns="0" rtlCol="0" anchor="ctr"/>
          <a:lstStyle/>
          <a:p>
            <a:pPr marL="0" indent="0">
              <a:buNone/>
            </a:pPr>
            <a:r>
              <a:rPr lang="en-US" sz="780" dirty="0">
                <a:solidFill>
                  <a:srgbClr val="F4F1EA"/>
                </a:solidFill>
                <a:latin typeface="Satoshi Medium" pitchFamily="34" charset="0"/>
                <a:ea typeface="Satoshi Medium" pitchFamily="34" charset="-122"/>
                <a:cs typeface="Satoshi Medium" pitchFamily="34" charset="-120"/>
              </a:rPr>
              <a:t>One slot, one booking</a:t>
            </a:r>
            <a:endParaRPr lang="en-US" sz="780" dirty="0"/>
          </a:p>
        </p:txBody>
      </p:sp>
      <p:sp>
        <p:nvSpPr>
          <p:cNvPr id="30" name="Text 27"/>
          <p:cNvSpPr txBox="1"/>
          <p:nvPr/>
        </p:nvSpPr>
        <p:spPr>
          <a:xfrm>
            <a:off x="5943600" y="2624328"/>
            <a:ext cx="2724912" cy="164592"/>
          </a:xfrm>
          <a:prstGeom prst="rect">
            <a:avLst/>
          </a:prstGeom>
          <a:noFill/>
          <a:ln/>
        </p:spPr>
        <p:txBody>
          <a:bodyPr wrap="square" lIns="0" tIns="0" rIns="0" bIns="0" rtlCol="0" anchor="t"/>
          <a:lstStyle/>
          <a:p>
            <a:pPr marL="0" indent="0">
              <a:buNone/>
            </a:pPr>
            <a:r>
              <a:rPr lang="en-US" sz="580" dirty="0">
                <a:solidFill>
                  <a:srgbClr val="FF5D4D"/>
                </a:solidFill>
                <a:latin typeface="JetBrains Mono" pitchFamily="34" charset="0"/>
                <a:ea typeface="JetBrains Mono" pitchFamily="34" charset="-122"/>
                <a:cs typeface="JetBrains Mono" pitchFamily="34" charset="-120"/>
              </a:rPr>
              <a:t>Risk  </a:t>
            </a:r>
            <a:r>
              <a:rPr lang="en-US" sz="660" dirty="0">
                <a:solidFill>
                  <a:srgbClr val="A9A59C"/>
                </a:solidFill>
                <a:latin typeface="Satoshi" pitchFamily="34" charset="0"/>
                <a:ea typeface="Satoshi" pitchFamily="34" charset="-122"/>
                <a:cs typeface="Satoshi" pitchFamily="34" charset="-120"/>
              </a:rPr>
              <a:t>A phone or walk-in booking outside Refill collides.</a:t>
            </a:r>
            <a:endParaRPr lang="en-US" sz="660" dirty="0"/>
          </a:p>
        </p:txBody>
      </p:sp>
      <p:sp>
        <p:nvSpPr>
          <p:cNvPr id="31" name="Text 28"/>
          <p:cNvSpPr txBox="1"/>
          <p:nvPr/>
        </p:nvSpPr>
        <p:spPr>
          <a:xfrm>
            <a:off x="5943600" y="2779776"/>
            <a:ext cx="2724912" cy="256032"/>
          </a:xfrm>
          <a:prstGeom prst="rect">
            <a:avLst/>
          </a:prstGeom>
          <a:noFill/>
          <a:ln/>
        </p:spPr>
        <p:txBody>
          <a:bodyPr wrap="square" lIns="0" tIns="0" rIns="0" bIns="0" rtlCol="0" anchor="t"/>
          <a:lstStyle/>
          <a:p>
            <a:pPr marL="0" indent="0">
              <a:lnSpc>
                <a:spcPct val="100000"/>
              </a:lnSpc>
              <a:buNone/>
            </a:pPr>
            <a:r>
              <a:rPr lang="en-US" sz="580" dirty="0">
                <a:solidFill>
                  <a:srgbClr val="C6F24E"/>
                </a:solidFill>
                <a:latin typeface="JetBrains Mono" pitchFamily="34" charset="0"/>
                <a:ea typeface="JetBrains Mono" pitchFamily="34" charset="-122"/>
                <a:cs typeface="JetBrains Mono" pitchFamily="34" charset="-120"/>
              </a:rPr>
              <a:t>Fix  </a:t>
            </a:r>
            <a:r>
              <a:rPr lang="en-US" sz="660" dirty="0">
                <a:solidFill>
                  <a:srgbClr val="F4F1EA"/>
                </a:solidFill>
                <a:latin typeface="Satoshi" pitchFamily="34" charset="0"/>
                <a:ea typeface="Satoshi" pitchFamily="34" charset="-122"/>
                <a:cs typeface="Satoshi" pitchFamily="34" charset="-120"/>
              </a:rPr>
              <a:t>Desk adds every booking in Refill; slot lock + unique index; daily log export to reconcile.</a:t>
            </a:r>
            <a:endParaRPr lang="en-US" sz="660" dirty="0"/>
          </a:p>
        </p:txBody>
      </p:sp>
      <p:sp>
        <p:nvSpPr>
          <p:cNvPr id="32" name="Shape 29"/>
          <p:cNvSpPr/>
          <p:nvPr/>
        </p:nvSpPr>
        <p:spPr>
          <a:xfrm>
            <a:off x="4846320" y="3108960"/>
            <a:ext cx="3886200" cy="475488"/>
          </a:xfrm>
          <a:prstGeom prst="roundRect">
            <a:avLst>
              <a:gd name="adj" fmla="val 17308"/>
            </a:avLst>
          </a:prstGeom>
          <a:solidFill>
            <a:srgbClr val="131316"/>
          </a:solidFill>
          <a:ln w="9525">
            <a:solidFill>
              <a:srgbClr val="2A2A2F"/>
            </a:solidFill>
            <a:prstDash val="solid"/>
          </a:ln>
        </p:spPr>
      </p:sp>
      <p:sp>
        <p:nvSpPr>
          <p:cNvPr id="33" name="Text 30"/>
          <p:cNvSpPr txBox="1"/>
          <p:nvPr/>
        </p:nvSpPr>
        <p:spPr>
          <a:xfrm>
            <a:off x="4956048" y="3163824"/>
            <a:ext cx="960120" cy="365760"/>
          </a:xfrm>
          <a:prstGeom prst="rect">
            <a:avLst/>
          </a:prstGeom>
          <a:noFill/>
          <a:ln/>
        </p:spPr>
        <p:txBody>
          <a:bodyPr wrap="square" lIns="0" tIns="0" rIns="0" bIns="0" rtlCol="0" anchor="ctr"/>
          <a:lstStyle/>
          <a:p>
            <a:pPr marL="0" indent="0">
              <a:buNone/>
            </a:pPr>
            <a:r>
              <a:rPr lang="en-US" sz="780" dirty="0">
                <a:solidFill>
                  <a:srgbClr val="F4F1EA"/>
                </a:solidFill>
                <a:latin typeface="Satoshi Medium" pitchFamily="34" charset="0"/>
                <a:ea typeface="Satoshi Medium" pitchFamily="34" charset="-122"/>
                <a:cs typeface="Satoshi Medium" pitchFamily="34" charset="-120"/>
              </a:rPr>
              <a:t>Consent</a:t>
            </a:r>
            <a:endParaRPr lang="en-US" sz="780" dirty="0"/>
          </a:p>
        </p:txBody>
      </p:sp>
      <p:sp>
        <p:nvSpPr>
          <p:cNvPr id="34" name="Text 31"/>
          <p:cNvSpPr txBox="1"/>
          <p:nvPr/>
        </p:nvSpPr>
        <p:spPr>
          <a:xfrm>
            <a:off x="5943600" y="3154680"/>
            <a:ext cx="2724912" cy="164592"/>
          </a:xfrm>
          <a:prstGeom prst="rect">
            <a:avLst/>
          </a:prstGeom>
          <a:noFill/>
          <a:ln/>
        </p:spPr>
        <p:txBody>
          <a:bodyPr wrap="square" lIns="0" tIns="0" rIns="0" bIns="0" rtlCol="0" anchor="t"/>
          <a:lstStyle/>
          <a:p>
            <a:pPr marL="0" indent="0">
              <a:buNone/>
            </a:pPr>
            <a:r>
              <a:rPr lang="en-US" sz="580" dirty="0">
                <a:solidFill>
                  <a:srgbClr val="FF5D4D"/>
                </a:solidFill>
                <a:latin typeface="JetBrains Mono" pitchFamily="34" charset="0"/>
                <a:ea typeface="JetBrains Mono" pitchFamily="34" charset="-122"/>
                <a:cs typeface="JetBrains Mono" pitchFamily="34" charset="-120"/>
              </a:rPr>
              <a:t>Risk  </a:t>
            </a:r>
            <a:r>
              <a:rPr lang="en-US" sz="660" dirty="0">
                <a:solidFill>
                  <a:srgbClr val="A9A59C"/>
                </a:solidFill>
                <a:latin typeface="Satoshi" pitchFamily="34" charset="0"/>
                <a:ea typeface="Satoshi" pitchFamily="34" charset="-122"/>
                <a:cs typeface="Satoshi" pitchFamily="34" charset="-120"/>
              </a:rPr>
              <a:t>A client withdraws consent through another channel.</a:t>
            </a:r>
            <a:endParaRPr lang="en-US" sz="660" dirty="0"/>
          </a:p>
        </p:txBody>
      </p:sp>
      <p:sp>
        <p:nvSpPr>
          <p:cNvPr id="35" name="Text 32"/>
          <p:cNvSpPr txBox="1"/>
          <p:nvPr/>
        </p:nvSpPr>
        <p:spPr>
          <a:xfrm>
            <a:off x="5943600" y="3310128"/>
            <a:ext cx="2724912" cy="256032"/>
          </a:xfrm>
          <a:prstGeom prst="rect">
            <a:avLst/>
          </a:prstGeom>
          <a:noFill/>
          <a:ln/>
        </p:spPr>
        <p:txBody>
          <a:bodyPr wrap="square" lIns="0" tIns="0" rIns="0" bIns="0" rtlCol="0" anchor="t"/>
          <a:lstStyle/>
          <a:p>
            <a:pPr marL="0" indent="0">
              <a:lnSpc>
                <a:spcPct val="100000"/>
              </a:lnSpc>
              <a:buNone/>
            </a:pPr>
            <a:r>
              <a:rPr lang="en-US" sz="580" dirty="0">
                <a:solidFill>
                  <a:srgbClr val="C6F24E"/>
                </a:solidFill>
                <a:latin typeface="JetBrains Mono" pitchFamily="34" charset="0"/>
                <a:ea typeface="JetBrains Mono" pitchFamily="34" charset="-122"/>
                <a:cs typeface="JetBrains Mono" pitchFamily="34" charset="-120"/>
              </a:rPr>
              <a:t>Fix  </a:t>
            </a:r>
            <a:r>
              <a:rPr lang="en-US" sz="660" dirty="0">
                <a:solidFill>
                  <a:srgbClr val="F4F1EA"/>
                </a:solidFill>
                <a:latin typeface="Satoshi" pitchFamily="34" charset="0"/>
                <a:ea typeface="Satoshi" pitchFamily="34" charset="-122"/>
                <a:cs typeface="Satoshi" pitchFamily="34" charset="-120"/>
              </a:rPr>
              <a:t>Client sets yes / no themselves (never pre-ticked); STOP withdraws all offers at once; consent time and source logged; 3-a-day cap.</a:t>
            </a:r>
            <a:endParaRPr lang="en-US" sz="660" dirty="0"/>
          </a:p>
        </p:txBody>
      </p:sp>
      <p:sp>
        <p:nvSpPr>
          <p:cNvPr id="36" name="Text 33"/>
          <p:cNvSpPr txBox="1"/>
          <p:nvPr/>
        </p:nvSpPr>
        <p:spPr>
          <a:xfrm>
            <a:off x="411480" y="3822192"/>
            <a:ext cx="2743200" cy="155448"/>
          </a:xfrm>
          <a:prstGeom prst="rect">
            <a:avLst/>
          </a:prstGeom>
          <a:noFill/>
          <a:ln/>
        </p:spPr>
        <p:txBody>
          <a:bodyPr wrap="square" lIns="0" tIns="0" rIns="0" bIns="0" rtlCol="0" anchor="t"/>
          <a:lstStyle/>
          <a:p>
            <a:pPr marL="0" indent="0">
              <a:buNone/>
            </a:pPr>
            <a:r>
              <a:rPr lang="en-US" sz="750" kern="0" spc="110" dirty="0">
                <a:solidFill>
                  <a:srgbClr val="C6F24E"/>
                </a:solidFill>
                <a:latin typeface="JetBrains Mono" pitchFamily="34" charset="0"/>
                <a:ea typeface="JetBrains Mono" pitchFamily="34" charset="-122"/>
                <a:cs typeface="JetBrains Mono" pitchFamily="34" charset="-120"/>
              </a:rPr>
              <a:t>NORTH-STAR KPIS</a:t>
            </a:r>
            <a:endParaRPr lang="en-US" sz="750" dirty="0"/>
          </a:p>
        </p:txBody>
      </p:sp>
      <p:sp>
        <p:nvSpPr>
          <p:cNvPr id="37" name="Text 34"/>
          <p:cNvSpPr txBox="1"/>
          <p:nvPr/>
        </p:nvSpPr>
        <p:spPr>
          <a:xfrm>
            <a:off x="411480" y="4014216"/>
            <a:ext cx="1325880" cy="365760"/>
          </a:xfrm>
          <a:prstGeom prst="rect">
            <a:avLst/>
          </a:prstGeom>
          <a:noFill/>
          <a:ln/>
        </p:spPr>
        <p:txBody>
          <a:bodyPr wrap="square" lIns="0" tIns="0" rIns="0" bIns="0" rtlCol="0" anchor="t"/>
          <a:lstStyle/>
          <a:p>
            <a:pPr marL="0" indent="0">
              <a:buNone/>
            </a:pPr>
            <a:r>
              <a:rPr lang="en-US" sz="780" dirty="0">
                <a:solidFill>
                  <a:srgbClr val="F4F1EA"/>
                </a:solidFill>
                <a:latin typeface="Satoshi Medium" pitchFamily="34" charset="0"/>
                <a:ea typeface="Satoshi Medium" pitchFamily="34" charset="-122"/>
                <a:cs typeface="Satoshi Medium" pitchFamily="34" charset="-120"/>
              </a:rPr>
              <a:t>Fill rate</a:t>
            </a:r>
            <a:endParaRPr lang="en-US" sz="780" dirty="0"/>
          </a:p>
          <a:p>
            <a:pPr marL="0" indent="0">
              <a:buNone/>
            </a:pPr>
            <a:r>
              <a:rPr lang="en-US" sz="660" dirty="0">
                <a:solidFill>
                  <a:srgbClr val="A9A59C"/>
                </a:solidFill>
                <a:latin typeface="Satoshi" pitchFamily="34" charset="0"/>
                <a:ea typeface="Satoshi" pitchFamily="34" charset="-122"/>
                <a:cs typeface="Satoshi" pitchFamily="34" charset="-120"/>
              </a:rPr>
              <a:t>Recovered ÷ eligible cancellations</a:t>
            </a:r>
            <a:endParaRPr lang="en-US" sz="780" dirty="0"/>
          </a:p>
        </p:txBody>
      </p:sp>
      <p:sp>
        <p:nvSpPr>
          <p:cNvPr id="38" name="Text 35"/>
          <p:cNvSpPr txBox="1"/>
          <p:nvPr/>
        </p:nvSpPr>
        <p:spPr>
          <a:xfrm>
            <a:off x="1801368" y="4014216"/>
            <a:ext cx="1325880" cy="365760"/>
          </a:xfrm>
          <a:prstGeom prst="rect">
            <a:avLst/>
          </a:prstGeom>
          <a:noFill/>
          <a:ln/>
        </p:spPr>
        <p:txBody>
          <a:bodyPr wrap="square" lIns="0" tIns="0" rIns="0" bIns="0" rtlCol="0" anchor="t"/>
          <a:lstStyle/>
          <a:p>
            <a:pPr marL="0" indent="0">
              <a:buNone/>
            </a:pPr>
            <a:r>
              <a:rPr lang="en-US" sz="780" dirty="0">
                <a:solidFill>
                  <a:srgbClr val="F4F1EA"/>
                </a:solidFill>
                <a:latin typeface="Satoshi Medium" pitchFamily="34" charset="0"/>
                <a:ea typeface="Satoshi Medium" pitchFamily="34" charset="-122"/>
                <a:cs typeface="Satoshi Medium" pitchFamily="34" charset="-120"/>
              </a:rPr>
              <a:t>Duplicates</a:t>
            </a:r>
            <a:endParaRPr lang="en-US" sz="780" dirty="0"/>
          </a:p>
          <a:p>
            <a:pPr marL="0" indent="0">
              <a:buNone/>
            </a:pPr>
            <a:r>
              <a:rPr lang="en-US" sz="660" dirty="0">
                <a:solidFill>
                  <a:srgbClr val="A9A59C"/>
                </a:solidFill>
                <a:latin typeface="Satoshi" pitchFamily="34" charset="0"/>
                <a:ea typeface="Satoshi" pitchFamily="34" charset="-122"/>
                <a:cs typeface="Satoshi" pitchFamily="34" charset="-120"/>
              </a:rPr>
              <a:t>Zero, tested + pilot</a:t>
            </a:r>
            <a:endParaRPr lang="en-US" sz="780" dirty="0"/>
          </a:p>
        </p:txBody>
      </p:sp>
      <p:sp>
        <p:nvSpPr>
          <p:cNvPr id="39" name="Text 36"/>
          <p:cNvSpPr txBox="1"/>
          <p:nvPr/>
        </p:nvSpPr>
        <p:spPr>
          <a:xfrm>
            <a:off x="3191256" y="4014216"/>
            <a:ext cx="1325880" cy="365760"/>
          </a:xfrm>
          <a:prstGeom prst="rect">
            <a:avLst/>
          </a:prstGeom>
          <a:noFill/>
          <a:ln/>
        </p:spPr>
        <p:txBody>
          <a:bodyPr wrap="square" lIns="0" tIns="0" rIns="0" bIns="0" rtlCol="0" anchor="t"/>
          <a:lstStyle/>
          <a:p>
            <a:pPr marL="0" indent="0">
              <a:buNone/>
            </a:pPr>
            <a:r>
              <a:rPr lang="en-US" sz="780" dirty="0">
                <a:solidFill>
                  <a:srgbClr val="F4F1EA"/>
                </a:solidFill>
                <a:latin typeface="Satoshi Medium" pitchFamily="34" charset="0"/>
                <a:ea typeface="Satoshi Medium" pitchFamily="34" charset="-122"/>
                <a:cs typeface="Satoshi Medium" pitchFamily="34" charset="-120"/>
              </a:rPr>
              <a:t>Consent</a:t>
            </a:r>
            <a:endParaRPr lang="en-US" sz="780" dirty="0"/>
          </a:p>
          <a:p>
            <a:pPr marL="0" indent="0">
              <a:buNone/>
            </a:pPr>
            <a:r>
              <a:rPr lang="en-US" sz="660" dirty="0">
                <a:solidFill>
                  <a:srgbClr val="A9A59C"/>
                </a:solidFill>
                <a:latin typeface="Satoshi" pitchFamily="34" charset="0"/>
                <a:ea typeface="Satoshi" pitchFamily="34" charset="-122"/>
                <a:cs typeface="Satoshi" pitchFamily="34" charset="-120"/>
              </a:rPr>
              <a:t>100%, zero post-withdrawal</a:t>
            </a:r>
            <a:endParaRPr lang="en-US" sz="780" dirty="0"/>
          </a:p>
        </p:txBody>
      </p:sp>
      <p:sp>
        <p:nvSpPr>
          <p:cNvPr id="40" name="Text 37"/>
          <p:cNvSpPr txBox="1"/>
          <p:nvPr/>
        </p:nvSpPr>
        <p:spPr>
          <a:xfrm>
            <a:off x="4581144" y="4014216"/>
            <a:ext cx="1325880" cy="365760"/>
          </a:xfrm>
          <a:prstGeom prst="rect">
            <a:avLst/>
          </a:prstGeom>
          <a:noFill/>
          <a:ln/>
        </p:spPr>
        <p:txBody>
          <a:bodyPr wrap="square" lIns="0" tIns="0" rIns="0" bIns="0" rtlCol="0" anchor="t"/>
          <a:lstStyle/>
          <a:p>
            <a:pPr marL="0" indent="0">
              <a:buNone/>
            </a:pPr>
            <a:r>
              <a:rPr lang="en-US" sz="780" dirty="0">
                <a:solidFill>
                  <a:srgbClr val="F4F1EA"/>
                </a:solidFill>
                <a:latin typeface="Satoshi Medium" pitchFamily="34" charset="0"/>
                <a:ea typeface="Satoshi Medium" pitchFamily="34" charset="-122"/>
                <a:cs typeface="Satoshi Medium" pitchFamily="34" charset="-120"/>
              </a:rPr>
              <a:t>Time-to-fill</a:t>
            </a:r>
            <a:endParaRPr lang="en-US" sz="780" dirty="0"/>
          </a:p>
          <a:p>
            <a:pPr marL="0" indent="0">
              <a:buNone/>
            </a:pPr>
            <a:r>
              <a:rPr lang="en-US" sz="660" dirty="0">
                <a:solidFill>
                  <a:srgbClr val="A9A59C"/>
                </a:solidFill>
                <a:latin typeface="Satoshi" pitchFamily="34" charset="0"/>
                <a:ea typeface="Satoshi" pitchFamily="34" charset="-122"/>
                <a:cs typeface="Satoshi" pitchFamily="34" charset="-120"/>
              </a:rPr>
              <a:t>Cancel → confirmed</a:t>
            </a:r>
            <a:endParaRPr lang="en-US" sz="780" dirty="0"/>
          </a:p>
        </p:txBody>
      </p:sp>
      <p:sp>
        <p:nvSpPr>
          <p:cNvPr id="41" name="Text 38"/>
          <p:cNvSpPr txBox="1"/>
          <p:nvPr/>
        </p:nvSpPr>
        <p:spPr>
          <a:xfrm>
            <a:off x="5971032" y="4014216"/>
            <a:ext cx="1325880" cy="365760"/>
          </a:xfrm>
          <a:prstGeom prst="rect">
            <a:avLst/>
          </a:prstGeom>
          <a:noFill/>
          <a:ln/>
        </p:spPr>
        <p:txBody>
          <a:bodyPr wrap="square" lIns="0" tIns="0" rIns="0" bIns="0" rtlCol="0" anchor="t"/>
          <a:lstStyle/>
          <a:p>
            <a:pPr marL="0" indent="0">
              <a:buNone/>
            </a:pPr>
            <a:r>
              <a:rPr lang="en-US" sz="780" dirty="0">
                <a:solidFill>
                  <a:srgbClr val="F4F1EA"/>
                </a:solidFill>
                <a:latin typeface="Satoshi Medium" pitchFamily="34" charset="0"/>
                <a:ea typeface="Satoshi Medium" pitchFamily="34" charset="-122"/>
                <a:cs typeface="Satoshi Medium" pitchFamily="34" charset="-120"/>
              </a:rPr>
              <a:t>Staff effort</a:t>
            </a:r>
            <a:endParaRPr lang="en-US" sz="780" dirty="0"/>
          </a:p>
          <a:p>
            <a:pPr marL="0" indent="0">
              <a:buNone/>
            </a:pPr>
            <a:r>
              <a:rPr lang="en-US" sz="660" dirty="0">
                <a:solidFill>
                  <a:srgbClr val="A9A59C"/>
                </a:solidFill>
                <a:latin typeface="Satoshi" pitchFamily="34" charset="0"/>
                <a:ea typeface="Satoshi" pitchFamily="34" charset="-122"/>
                <a:cs typeface="Satoshi" pitchFamily="34" charset="-120"/>
              </a:rPr>
              <a:t>Correction mins ↓ vs baseline</a:t>
            </a:r>
            <a:endParaRPr lang="en-US" sz="780" dirty="0"/>
          </a:p>
        </p:txBody>
      </p:sp>
      <p:sp>
        <p:nvSpPr>
          <p:cNvPr id="42" name="Text 39"/>
          <p:cNvSpPr txBox="1"/>
          <p:nvPr/>
        </p:nvSpPr>
        <p:spPr>
          <a:xfrm>
            <a:off x="7360920" y="4014216"/>
            <a:ext cx="1325880" cy="365760"/>
          </a:xfrm>
          <a:prstGeom prst="rect">
            <a:avLst/>
          </a:prstGeom>
          <a:noFill/>
          <a:ln/>
        </p:spPr>
        <p:txBody>
          <a:bodyPr wrap="square" lIns="0" tIns="0" rIns="0" bIns="0" rtlCol="0" anchor="t"/>
          <a:lstStyle/>
          <a:p>
            <a:pPr marL="0" indent="0">
              <a:buNone/>
            </a:pPr>
            <a:r>
              <a:rPr lang="en-US" sz="780" dirty="0">
                <a:solidFill>
                  <a:srgbClr val="F4F1EA"/>
                </a:solidFill>
                <a:latin typeface="Satoshi Medium" pitchFamily="34" charset="0"/>
                <a:ea typeface="Satoshi Medium" pitchFamily="34" charset="-122"/>
                <a:cs typeface="Satoshi Medium" pitchFamily="34" charset="-120"/>
              </a:rPr>
              <a:t>WTP signal</a:t>
            </a:r>
            <a:endParaRPr lang="en-US" sz="780" dirty="0"/>
          </a:p>
          <a:p>
            <a:pPr marL="0" indent="0">
              <a:buNone/>
            </a:pPr>
            <a:r>
              <a:rPr lang="en-US" sz="660" dirty="0">
                <a:solidFill>
                  <a:srgbClr val="A9A59C"/>
                </a:solidFill>
                <a:latin typeface="Satoshi" pitchFamily="34" charset="0"/>
                <a:ea typeface="Satoshi" pitchFamily="34" charset="-122"/>
                <a:cs typeface="Satoshi" pitchFamily="34" charset="-120"/>
              </a:rPr>
              <a:t>Paid-pilot commitment</a:t>
            </a:r>
            <a:endParaRPr lang="en-US" sz="780" dirty="0"/>
          </a:p>
        </p:txBody>
      </p:sp>
      <p:sp>
        <p:nvSpPr>
          <p:cNvPr id="43" name="Shape 40"/>
          <p:cNvSpPr/>
          <p:nvPr/>
        </p:nvSpPr>
        <p:spPr>
          <a:xfrm>
            <a:off x="411480" y="4498848"/>
            <a:ext cx="8321040" cy="329184"/>
          </a:xfrm>
          <a:prstGeom prst="roundRect">
            <a:avLst>
              <a:gd name="adj" fmla="val 25000"/>
            </a:avLst>
          </a:prstGeom>
          <a:solidFill>
            <a:srgbClr val="1C2410"/>
          </a:solidFill>
          <a:ln w="9525">
            <a:solidFill>
              <a:srgbClr val="3A4A18"/>
            </a:solidFill>
            <a:prstDash val="solid"/>
          </a:ln>
        </p:spPr>
      </p:sp>
      <p:sp>
        <p:nvSpPr>
          <p:cNvPr id="44" name="Text 41"/>
          <p:cNvSpPr txBox="1"/>
          <p:nvPr/>
        </p:nvSpPr>
        <p:spPr>
          <a:xfrm>
            <a:off x="548640" y="4498848"/>
            <a:ext cx="8092440" cy="329184"/>
          </a:xfrm>
          <a:prstGeom prst="rect">
            <a:avLst/>
          </a:prstGeom>
          <a:noFill/>
          <a:ln/>
        </p:spPr>
        <p:txBody>
          <a:bodyPr wrap="square" lIns="0" tIns="0" rIns="0" bIns="0" rtlCol="0" anchor="ctr"/>
          <a:lstStyle/>
          <a:p>
            <a:pPr marL="0" indent="0">
              <a:buNone/>
            </a:pPr>
            <a:r>
              <a:rPr lang="en-US" sz="680" dirty="0">
                <a:solidFill>
                  <a:srgbClr val="C6F24E"/>
                </a:solidFill>
                <a:latin typeface="JetBrains Mono" pitchFamily="34" charset="0"/>
                <a:ea typeface="JetBrains Mono" pitchFamily="34" charset="-122"/>
                <a:cs typeface="JetBrains Mono" pitchFamily="34" charset="-120"/>
              </a:rPr>
              <a:t>SCALE ONLY WHEN: </a:t>
            </a:r>
            <a:r>
              <a:rPr lang="en-US" sz="800" dirty="0">
                <a:solidFill>
                  <a:srgbClr val="F4F1EA"/>
                </a:solidFill>
                <a:latin typeface="Satoshi" pitchFamily="34" charset="0"/>
                <a:ea typeface="Satoshi" pitchFamily="34" charset="-122"/>
                <a:cs typeface="Satoshi" pitchFamily="34" charset="-120"/>
              </a:rPr>
              <a:t>Zero critical safety failures · Measured fill rate + contribution · Concrete WTP decision · Repeatable at ≥ 2 locations</a:t>
            </a:r>
            <a:endParaRPr lang="en-US" sz="800" dirty="0"/>
          </a:p>
        </p:txBody>
      </p:sp>
      <p:sp>
        <p:nvSpPr>
          <p:cNvPr id="45" name="Slide Number Placeholder 0"/>
          <p:cNvSpPr>
            <a:spLocks noGrp="1"/>
          </p:cNvSpPr>
          <p:nvPr>
            <p:ph type="sldNum" sz="quarter" idx="4294967295"/>
          </p:nvPr>
        </p:nvSpPr>
        <p:spPr>
          <a:xfrm>
            <a:off x="8577072" y="182880"/>
            <a:ext cx="274320" cy="274320"/>
          </a:xfrm>
          <a:prstGeom prst="rect">
            <a:avLst/>
          </a:prstGeom>
          <a:extLst>
            <a:ext uri="{C572A759-6A51-4108-AA02-DFA0A04FC94B}">
              <ma14:wrappingTextBoxFlag xmlns:ma14="http://schemas.microsoft.com/office/mac/drawingml/2011/main" xmlns="" val="0"/>
            </a:ext>
          </a:extLst>
        </p:spPr>
        <p:txBody>
          <a:bodyPr/>
          <a:lstStyle>
            <a:lvl1pPr>
              <a:defRPr sz="700">
                <a:solidFill>
                  <a:srgbClr val="76736C"/>
                </a:solidFill>
                <a:latin typeface="JetBrains Mono"/>
                <a:ea typeface="JetBrains Mono"/>
                <a:cs typeface="JetBrains Mono"/>
              </a:defRPr>
            </a:lvl1pPr>
          </a:lstStyle>
          <a:p>
            <a:pPr algn="r"/>
            <a:fld id="{F7021451-1387-4CA6-816F-3879F97B5CBC}" type="slidenum">
              <a:rPr lang="en-US" b="0"/>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lash Display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atosh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2683</Words>
  <Application>Microsoft Office PowerPoint</Application>
  <PresentationFormat>On-screen Show (16:9)</PresentationFormat>
  <Paragraphs>284</Paragraphs>
  <Slides>7</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Clash Display Medium</vt:lpstr>
      <vt:lpstr>Arial</vt:lpstr>
      <vt:lpstr>Satoshi</vt:lpstr>
      <vt:lpstr>JetBrains Mono</vt:lpstr>
      <vt:lpstr>Clash Display Semibold</vt:lpstr>
      <vt:lpstr>Satoshi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Team C29 · Fynd x NMIMS Hyderabad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Refill · Appointment Recovery Desk</dc:title>
  <dc:subject>PptxGenJS Presentation</dc:subject>
  <dc:creator>Team C29</dc:creator>
  <cp:lastModifiedBy>Dhruv Sonar</cp:lastModifiedBy>
  <cp:revision>2</cp:revision>
  <dcterms:created xsi:type="dcterms:W3CDTF">2026-10-18T07:39:13Z</dcterms:created>
  <dcterms:modified xsi:type="dcterms:W3CDTF">2026-10-18T07:39:21Z</dcterms:modified>
</cp:coreProperties>
</file>